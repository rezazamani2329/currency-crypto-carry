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0:20]</a:t>
            </a:r>
          </a:p>
          <a:p>
            <a:r>
              <a:t>• Good morning. Our project asks one question: do carry trades crash when they are crowded?</a:t>
            </a:r>
          </a:p>
          <a:p>
            <a:r>
              <a:t>• We test it in two markets with the same economics: G10 currencies and crypto.</a:t>
            </a:r>
          </a:p>
          <a:p>
            <a:r>
              <a:t>• Strategy A is G10 FX carry with a crowding filter; Strategy C is crypto funding carry.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Carry means borrowing in a low-yield asset and holding a high-yield one.</a:t>
            </a:r>
          </a:p>
          <a:p>
            <a:r>
              <a:t>• Uncovered interest parity says this should earn nothing, but in the data it earns a premium.</a:t>
            </a:r>
          </a:p>
          <a:p>
            <a:r>
              <a:t>• The catch is crash risk: carry goes up the stairs and down the elevator.</a:t>
            </a:r>
          </a:p>
          <a:p>
            <a:r>
              <a:t>• Brunnermeier, Nagel and Pedersen show crashes are worst when speculators are crowded into the trade.</a:t>
            </a:r>
          </a:p>
          <a:p>
            <a:r>
              <a:t>• In FX the yield is the interest differential and we measure crowding with CFTC positions.</a:t>
            </a:r>
          </a:p>
          <a:p>
            <a:r>
              <a:t>• In crypto the yield is the perpetual funding rate, which itself measures leveraged demand.</a:t>
            </a:r>
          </a:p>
          <a:p>
            <a:r>
              <a:t>• We wrote the hypotheses and all parameters down before running any backtest.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All data are public: FRED for FX and rates, CFTC for positions, Binance for crypto.</a:t>
            </a:r>
          </a:p>
          <a:p>
            <a:r>
              <a:t>• One data fix worth mentioning: before 2000 the CFTC lists currency futures under a different exchange name; matching both names gave us positioning back to 1986.</a:t>
            </a:r>
          </a:p>
          <a:p>
            <a:r>
              <a:t>• Every parameter was fixed in advance, and we hold out an out-of-sample period: 2011 on for FX, 2024 on for crypto.</a:t>
            </a:r>
          </a:p>
          <a:p>
            <a:r>
              <a:t>• Returns are net of costs, there is no look-ahead, and we keep the coins that died, LUNA and FTT.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Each month we rank seven currencies by their interest rate against the dollar.</a:t>
            </a:r>
          </a:p>
          <a:p>
            <a:r>
              <a:t>• We buy the two highest and sell the two lowest, so the portfolio has no net dollar bet.</a:t>
            </a:r>
          </a:p>
          <a:p>
            <a:r>
              <a:t>• For crowding we take speculators' net futures position and z-score it over 36 months.</a:t>
            </a:r>
          </a:p>
          <a:p>
            <a:r>
              <a:t>• Crowding is high when speculators are unusually long what we hold and short what we sell.</a:t>
            </a:r>
          </a:p>
          <a:p>
            <a:r>
              <a:t>• Above one, we halve the position. This happened in 33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Plain carry earns about 3.3% a year after costs, a net Sharpe of 0.37.</a:t>
            </a:r>
          </a:p>
          <a:p>
            <a:r>
              <a:t>• Our carry has a 0.82 correlation with the published Lustig–Roussanov–Verdelhan factor, which validates the code and data.</a:t>
            </a:r>
          </a:p>
          <a:p>
            <a:r>
              <a:t>• After crowded months, next-month carry averages only 0.02% versus 0.30% otherwise, with more negative skew.</a:t>
            </a:r>
          </a:p>
          <a:p>
            <a:r>
              <a:t>• Out of sample the filter lifts the Sharpe from 0.27 to 0.32, and every variant in our robustness grid also beats 0.27.</a:t>
            </a:r>
          </a:p>
          <a:p>
            <a:r>
              <a:t>• But it did not avoid 2008: the crash started from a non-crowded reading, so the max drawdown is -37% either way.</a:t>
            </a:r>
          </a:p>
          <a:p>
            <a:r>
              <a:t>• Caveat: only 33 crowded months, so the effect is not precisely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When does it lose? We regress monthly carry on the dollar factor and on equity-volatility shocks.</a:t>
            </a:r>
          </a:p>
          <a:p>
            <a:r>
              <a:t>• The volatility beta is -1.55 with a t-stat of -3.7: carry loses when volatility jumps.</a:t>
            </a:r>
          </a:p>
          <a:p>
            <a:r>
              <a:t>• Once we control for these factors the alpha is not significant, so carry is pay for risk, not a free lunch.</a:t>
            </a:r>
          </a:p>
          <a:p>
            <a:r>
              <a:t>• From July 2008 to March 2009 the strategy lost 20.5% as the funding currencies, yen and Swiss franc, rallied.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Crypto perpetual futures have their own interest rate, the funding rate, paid every 8 hours between longs and shorts.</a:t>
            </a:r>
          </a:p>
          <a:p>
            <a:r>
              <a:t>• High funding means many leveraged longs, so it is both a carry signal and a crowding signal.</a:t>
            </a:r>
          </a:p>
          <a:p>
            <a:r>
              <a:t>• Each Sunday we short the third of coins with the highest funding and buy the third with the lowest.</a:t>
            </a:r>
          </a:p>
          <a:p>
            <a:r>
              <a:t>• We keep LUNA and FTT, which collapsed in 2022, to avoid survivorship bias.</a:t>
            </a:r>
          </a:p>
          <a:p>
            <a:r>
              <a:t>• Net Sharpe is 0.14 over the full sample: -0.07 in 2020 to 2023 and 0.81 since 2024.</a:t>
            </a:r>
          </a:p>
          <a:p>
            <a:r>
              <a:t>• The worst week was the LUNA collapse, -27.3%: traders were shorting LUNA, its funding turned negative, so our rule held it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1:10]</a:t>
            </a:r>
          </a:p>
          <a:p>
            <a:r>
              <a:t>• We split the return into funding and price. Funding adds about 8.5% a year, steadily.</a:t>
            </a:r>
          </a:p>
          <a:p>
            <a:r>
              <a:t>• But price moves dominate: in 2020 to 2023 the coins we shorted, like DOGE and XRP, kept rallying and wiped out the funding.</a:t>
            </a:r>
          </a:p>
          <a:p>
            <a:r>
              <a:t>• Since 2024 most of the gain came from price, so we read the strong out-of-sample number with caution.</a:t>
            </a:r>
          </a:p>
          <a:p>
            <a:r>
              <a:t>• The strategy has no market exposure; its losses come from single coins, LUNA alone -87 percentage points.</a:t>
            </a:r>
          </a:p>
          <a:p>
            <a:r>
              <a:t>• A risk control we fixed in advance made things worse, Sharpe -0.16: the cap halved exposure and the filter missed LUNA's timing.</a:t>
            </a:r>
          </a:p>
          <a:p>
            <a:r>
              <a:t>• So crypto carry crashes in the mirror image of FX: it ends up long whatever traders short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Finally, we scale both strategies to 10% volatility and combine them 50/50.</a:t>
            </a:r>
          </a:p>
          <a:p>
            <a:r>
              <a:t>• Their correlation is only 0.11: FX and crypto carry crash at different times.</a:t>
            </a:r>
          </a:p>
          <a:p>
            <a:r>
              <a:t>• The mix has 7.0% volatility and a Sharpe of 0.51, with a smaller worst month than either part.</a:t>
            </a:r>
          </a:p>
          <a:p>
            <a:r>
              <a:t>• It does not beat FX alone on Sharpe because crypto carry was weak in this window, but the diversification is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To conclude: in both markets carry looks like compensation for crash risk.</a:t>
            </a:r>
          </a:p>
          <a:p>
            <a:r>
              <a:t>• In FX, crowding measured from CFTC positions is a cheap and modestly useful warning sign.</a:t>
            </a:r>
          </a:p>
          <a:p>
            <a:r>
              <a:t>• In crypto, sorting on funding alone exposes you to single-coin collapses like LUNA and FTX.</a:t>
            </a:r>
          </a:p>
          <a:p>
            <a:r>
              <a:t>• Because the two crash at different times, they diversify each other.</a:t>
            </a:r>
          </a:p>
          <a:p>
            <a:r>
              <a:t>• Main limitations: a short crypto sample, few crowded FX months, and simple cost estimates.</a:t>
            </a:r>
          </a:p>
          <a:p>
            <a:r>
              <a:t>• Thank you,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Carry: borrow the low-yield asset, hold the high-yield one.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UIP says this earns nothing; in the data it earns a premium, with rare large crashes.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Crashes are worst when the trade is crowded and everyone unwinds at once (Brunnermeier, Nagel &amp; Pedersen 2008).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Hypotheses, fixed before testing: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A: carry earns a premium; crowded months are followed by weaker carry; it loses in volatility spikes.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C: funding carry earns a premium with little BTC exposure; its crashes are coin-specific.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7700C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Monthly, 1999–2026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Weekly, 2020–2026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Public data; a research design chosen to keep the tests honest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FX spot, 7 currencies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FRED (Fed H.10)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3-month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Speculator positions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1986–2026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Crypto price, volume, funding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2020–2026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Carry factor (validation)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Parameters fixed before the first backtest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Out-of-sample: A from 2011, C from 2024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Costs: 3 bp per unit traded in FX, 5 bp in crypto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No look-ahead: weights at t earn t+1; CFTC used after its Friday release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No survivorship bias: LUNA and FTT kept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B1F27"/>
                </a:solidFill>
                <a:latin typeface="Calibri"/>
              </a:rPr>
              <a:t>•  Robustness grids reported, never used for 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</a:rPr>
              <a:t>Data fix: before Aug 2000 CFTC lists the same currency futures under 'International Monetary Market'. Matching both names extended positioning back to 1986.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as a 36-month z-score.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If crowding &gt; 1, cut all positions to half for the next month.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328, 1999–2026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 SD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Threshold for 'crowded': one standard deviation above normal positioning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28016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4475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140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4320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0779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8444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37083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04748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with the academic LRV carry factor (1999–2021)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40680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Full sample, net: Sharpe 0.37 carry, 0.38 filtered; max drawdown -37% either 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on risk factors, Newey-West t-stats,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perpetuals incl. LUNA and FTT, weekly, 2020–2026</a:t>
            </a:r>
          </a:p>
        </p:txBody>
      </p:sp>
      <p:pic>
        <p:nvPicPr>
          <p:cNvPr id="4" name="Picture 3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72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931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Funding is paid every 8 hours; positive funding means longs pay shorts.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Each Sunday: short the third of coins with the highest 7-day funding, long the lowest third.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Dollar-neutral, 5 bp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full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2024–26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5120640"/>
            <a:ext cx="388620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429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96188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week: LUNA collapse, May 2022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Where the return comes from, and what drives the losses</a:t>
            </a:r>
          </a:p>
        </p:txBody>
      </p:sp>
      <p:pic>
        <p:nvPicPr>
          <p:cNvPr id="4" name="Picture 3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69164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309360" y="3246120"/>
            <a:ext cx="5394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Beta to BTC ≈ -0.02 (t = -0.75): market-neutral.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Losses are coin-specific: LUNA -87, XRP -58, DOGE -43 % pts.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Pre-set risk control (1/6 cap, no longs below −50% funding): Sharpe 0.14 → -0.16. It did not help.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"/>
                <a:gridCol w="7315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