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firstSlideNum="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0:20]</a:t>
            </a:r>
          </a:p>
          <a:p>
            <a:r>
              <a:t>• Our project asks one question: do carry trades crash when they are crowded?</a:t>
            </a:r>
          </a:p>
          <a:p>
            <a:r>
              <a:t>• We test it in two markets with the same economics: G10 currencies and crypto.</a:t>
            </a:r>
          </a:p>
          <a:p>
            <a:r>
              <a:t>• Strategy A is carry in seven G10 currencies against the US dollar, with a crowding filter built from CFTC data.</a:t>
            </a:r>
          </a:p>
          <a:p>
            <a:r>
              <a:t>• Strategy C is funding carry in twelve crypto perpetual futures on Binance, including the coins that collapsed, Terra and FTX Token.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Carry means borrowing in a low-yield asset and holding a high-yield one.</a:t>
            </a:r>
          </a:p>
          <a:p>
            <a:r>
              <a:t>• Uncovered interest parity says this should earn nothing, but in the data it earns a premium.</a:t>
            </a:r>
          </a:p>
          <a:p>
            <a:r>
              <a:t>• The catch is crash risk: carry goes up the stairs and down the elevator.</a:t>
            </a:r>
          </a:p>
          <a:p>
            <a:r>
              <a:t>• Brunnermeier, Nagel and Pedersen show crashes are worst when speculators are crowded into the trade.</a:t>
            </a:r>
          </a:p>
          <a:p>
            <a:r>
              <a:t>• In FX the yield is the interest-rate differential, and we measure crowding with CFTC speculator positions.</a:t>
            </a:r>
          </a:p>
          <a:p>
            <a:r>
              <a:t>• Our FX universe is the yen, euro, British pound, Swiss franc, Canadian dollar, Australian dollar and New Zealand dollar, all against the US dollar.</a:t>
            </a:r>
          </a:p>
          <a:p>
            <a:r>
              <a:t>• In crypto the yield is the perpetual funding rate, which also measures leveraged demand.</a:t>
            </a:r>
          </a:p>
          <a:p>
            <a:r>
              <a:t>• Our coins are Bitcoin, Ethereum, BNB, XRP, Cardano, Dogecoin, Solana, Litecoin, Chainlink, Avalanche, Terra and FTX Token.</a:t>
            </a:r>
          </a:p>
          <a:p>
            <a:r>
              <a:t>• We wrote the hypotheses and all parameters down before running any backtest.</a:t>
            </a:r>
          </a:p>
          <a:p>
            <a:r>
              <a:t>• Uncovered interest parity (UIP) says a high-rate currency should fall by exactly the rate gap, so carry would earn zero; in practice high-rate currencies tend not to fall that much, which is the forward premium puzzle.</a:t>
            </a:r>
          </a:p>
          <a:p>
            <a:r>
              <a:t>• 'Up the stairs and down the elevator' means carry earns small steady gains most of the time and then loses a lot in a few weeks, so its returns have negative skew.</a:t>
            </a:r>
          </a:p>
          <a:p>
            <a:r>
              <a:t>• Crowding matters because when many speculators hold the same trade, a shock forces them all to unwind together, which makes the crash larger.</a:t>
            </a:r>
          </a:p>
          <a:p>
            <a:r>
              <a:t>• Hypothesis A says three things: carry earns a premium, crowded months are followed by weaker carry, and carry loses when volatility spikes.</a:t>
            </a:r>
          </a:p>
          <a:p>
            <a:r>
              <a:t>• Hypothesis C says crypto funding carry earns a premium with little exposure to Bitcoin, and that its crashes come from single coins.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0:40]</a:t>
            </a:r>
          </a:p>
          <a:p>
            <a:r>
              <a:t>• Here is how each strategy trades, step by step.</a:t>
            </a:r>
          </a:p>
          <a:p>
            <a:r>
              <a:t>• Strategy A trades once a month: at each month-end we rank the seven currencies by their interest rate against the US dollar, buy the top two and sell the bottom two.</a:t>
            </a:r>
          </a:p>
          <a:p>
            <a:r>
              <a:t>• Before trading we check crowding from CFTC data, which we use only after its Friday release; if crowding is above one, we halve the positions.</a:t>
            </a:r>
          </a:p>
          <a:p>
            <a:r>
              <a:t>• We hold for one month and then rank again.</a:t>
            </a:r>
          </a:p>
          <a:p>
            <a:r>
              <a:t>• Strategy C trades every Sunday: we rank the coins that are trading by their average funding over the past week, short the third with the highest funding and buy the third with the lowest, which is usually three coins on each side.</a:t>
            </a:r>
          </a:p>
          <a:p>
            <a:r>
              <a:t>• We hold for seven days, collecting funding on the shorts, and then rank again.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All data are public: FRED for FX and rates, CFTC for positions, Binance for crypto.</a:t>
            </a:r>
          </a:p>
          <a:p>
            <a:r>
              <a:t>• One data fix worth mentioning: before 2000 the CFTC lists currency futures under a different exchange name; matching both names gave us positioning back to 1986.</a:t>
            </a:r>
          </a:p>
          <a:p>
            <a:r>
              <a:t>• Every parameter was fixed in advance, and our out-of-sample period starts in 2011 for FX and in 2024 for crypto.</a:t>
            </a:r>
          </a:p>
          <a:p>
            <a:r>
              <a:t>• Returns are net of costs, there is no look-ahead, and we keep the two coins that died, Terra (LUNA) and FTX Token (FTT).</a:t>
            </a:r>
          </a:p>
          <a:p>
            <a:r>
              <a:t>• Out-of-sample means the later years that we did not look at while designing the strategy; if a rule still works there, it is less likely to be a result of data mining.</a:t>
            </a:r>
          </a:p>
          <a:p>
            <a:r>
              <a:t>• Look-ahead bias means using information that was not public at the time of the trade; we avoid it because weights set at t earn the return of t+1, and CFTC positions measured on Tuesday are used only after their Friday release.</a:t>
            </a:r>
          </a:p>
          <a:p>
            <a:r>
              <a:t>• Survivorship bias means testing only on assets that still exist today; we avoid it by keeping Terra and FTX Token, which together cost the crypto strategy about 100 percentage points of P&amp;L.</a:t>
            </a:r>
          </a:p>
          <a:p>
            <a:r>
              <a:t>• A basis point (bp) is 0.01%, so a cost of 3 bp means we lose 0.03% of every dollar we trade.</a:t>
            </a:r>
          </a:p>
          <a:p>
            <a:r>
              <a:t>• The Lustig–Roussanov–Verdelhan (LRV) factor is the published academic carry factor, built by buying high-rate and selling low-rate currency portfolios; we use it only to check our own carry series.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Each month we rank the seven currencies by their three-month interest rate.</a:t>
            </a:r>
          </a:p>
          <a:p>
            <a:r>
              <a:t>• We buy the two highest and sell the two lowest, so the portfolio has no net dollar bet.</a:t>
            </a:r>
          </a:p>
          <a:p>
            <a:r>
              <a:t>• In practice we are almost always long the New Zealand and Australian dollars and short the Swiss franc, often with the yen or the euro.</a:t>
            </a:r>
          </a:p>
          <a:p>
            <a:r>
              <a:t>• For crowding we take speculators' net futures position and z-score it over 36 months.</a:t>
            </a:r>
          </a:p>
          <a:p>
            <a:r>
              <a:t>• Crowding is high when speculators are unusually long what we hold and short what we sell.</a:t>
            </a:r>
          </a:p>
          <a:p>
            <a:r>
              <a:t>• When this score is above one standard deviation, we halve the position, which happened in 33 months.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1:20]</a:t>
            </a:r>
          </a:p>
          <a:p>
            <a:r>
              <a:t>• Plain carry earns about 3.3% a year after costs with 8.9% volatility, a net Sharpe of 0.37.</a:t>
            </a:r>
          </a:p>
          <a:p>
            <a:r>
              <a:t>• Our carry has a 0.82 correlation with the published Lustig–Roussanov–Verdelhan factor, which validates the code and data.</a:t>
            </a:r>
          </a:p>
          <a:p>
            <a:r>
              <a:t>• After crowded months, next-month carry averages only 0.02% versus 0.30% otherwise, with more negative skew.</a:t>
            </a:r>
          </a:p>
          <a:p>
            <a:r>
              <a:t>• Out of sample the filter lifts the Sharpe from 0.27 to 0.32, and every variant in our robustness grid also beats 0.27.</a:t>
            </a:r>
          </a:p>
          <a:p>
            <a:r>
              <a:t>• But it did not avoid 2008: the crash started from a non-crowded reading, so the max drawdown is -37% either way.</a:t>
            </a:r>
          </a:p>
          <a:p>
            <a:r>
              <a:t>• One caveat is that there are only 33 crowded months, so the effect is not precisely estimated.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To see when it loses, we regress monthly carry on the dollar factor and on equity-volatility shocks.</a:t>
            </a:r>
          </a:p>
          <a:p>
            <a:r>
              <a:t>• The volatility beta is -1.55 with a t-stat of -3.7: carry loses when volatility jumps.</a:t>
            </a:r>
          </a:p>
          <a:p>
            <a:r>
              <a:t>• Once we control for these factors the alpha is not significant, so carry is pay for risk, not a free lunch.</a:t>
            </a:r>
          </a:p>
          <a:p>
            <a:r>
              <a:t>• From July 2008 to March 2009 the strategy lost 20.5% as the funding currencies, the Japanese yen and the Swiss franc, rallied against the Australian and New Zealand dollars.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1:20]</a:t>
            </a:r>
          </a:p>
          <a:p>
            <a:r>
              <a:t>• Crypto perpetual futures have their own interest rate, the funding rate, paid every 8 hours between longs and shorts.</a:t>
            </a:r>
          </a:p>
          <a:p>
            <a:r>
              <a:t>• High funding means many leveraged longs, so it is both a carry signal and a crowding signal.</a:t>
            </a:r>
          </a:p>
          <a:p>
            <a:r>
              <a:t>• Each Sunday we short the third of coins with the highest funding and buy the third with the lowest.</a:t>
            </a:r>
          </a:p>
          <a:p>
            <a:r>
              <a:t>• The twelve coins are Bitcoin, Ethereum, BNB, XRP, Cardano, Dogecoin, Solana, Litecoin, Chainlink, Avalanche, Terra and FTX Token.</a:t>
            </a:r>
          </a:p>
          <a:p>
            <a:r>
              <a:t>• We keep Terra (LUNA) and FTX Token (FTT), which both collapsed in 2022, to avoid survivorship bias.</a:t>
            </a:r>
          </a:p>
          <a:p>
            <a:r>
              <a:t>• Net Sharpe is 0.14 over the full sample: -0.07 in 2020 to 2023 and 0.81 since 2024.</a:t>
            </a:r>
          </a:p>
          <a:p>
            <a:r>
              <a:t>• After costs it earns 4.1% a year with 30% volatility, and its maximum drawdown is -67%, much deeper than FX carry.</a:t>
            </a:r>
          </a:p>
          <a:p>
            <a:r>
              <a:t>• The worst week was the Terra (LUNA) collapse in May 2022, -27.3%: traders were shorting Terra, its funding turned negative, and so our rule held it long.</a:t>
            </a:r>
          </a:p>
          <a:p>
            <a:r>
              <a:t>• A perpetual future has no expiry date, so the exchange uses the funding payment to keep its price close to the spot price.</a:t>
            </a:r>
          </a:p>
          <a:p>
            <a:r>
              <a:t>• For example, if funding is +0.01% every 8 hours, longs pay shorts about 0.03% a day, which is roughly 11% a year.</a:t>
            </a:r>
          </a:p>
          <a:p>
            <a:r>
              <a:t>• So shorting a coin with high funding earns that payment, just as selling a low-rate currency and buying a high-rate one earns the interest gap in FX.</a:t>
            </a:r>
          </a:p>
          <a:p>
            <a:r>
              <a:t>• The book is dollar-neutral, which means the long and short sides have the same size, so a move of the whole crypto market should roughly cancel out.</a:t>
            </a:r>
          </a:p>
          <a:p>
            <a:r>
              <a:t>• The out-of-sample Sharpe since 2024 is strong, but it comes from less than three years of data, so we treat it with caution.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1:10]</a:t>
            </a:r>
          </a:p>
          <a:p>
            <a:r>
              <a:t>• We split the return into funding and price. Funding adds about 8.5% a year, steadily.</a:t>
            </a:r>
          </a:p>
          <a:p>
            <a:r>
              <a:t>• But price moves dominate: in 2020 to 2023 the coins we shorted, like Dogecoin and XRP, kept rallying and wiped out the funding.</a:t>
            </a:r>
          </a:p>
          <a:p>
            <a:r>
              <a:t>• Since 2024 most of the gain came from price, so we read the strong out-of-sample number with caution.</a:t>
            </a:r>
          </a:p>
          <a:p>
            <a:r>
              <a:t>• The beta to Bitcoin is about zero, so the strategy has no market exposure.</a:t>
            </a:r>
          </a:p>
          <a:p>
            <a:r>
              <a:t>• Its losses come from single coins: Terra alone cost 87 percentage points, XRP 58 and Dogecoin 43, while Solana and BNB were the biggest winners.</a:t>
            </a:r>
          </a:p>
          <a:p>
            <a:r>
              <a:t>• A risk control we fixed in advance made things worse and lowered the Sharpe to -0.16: the cap halved exposure and the filter missed the timing of Terra's collapse.</a:t>
            </a:r>
          </a:p>
          <a:p>
            <a:r>
              <a:t>• Our takeaway is that crypto carry crashes in the mirror image of FX: it ends up long whatever traders short hardest.</a:t>
            </a:r>
          </a:p>
          <a:p>
            <a:r>
              <a:t>• As a robustness check we tried 6 lookback and rebalancing settings; all have a positive out-of-sample Sharpe, and the setting we fixed in advance is in the bottom half, so we did not pick the best one after the fact.</a:t>
            </a:r>
          </a:p>
          <a:p>
            <a:r>
              <a:t>• The table adds up: over the full sample, funding of +8.5%, price of -2.2% and costs of -2.2% give a net return of +4.1% a year.</a:t>
            </a:r>
          </a:p>
          <a:p>
            <a:r>
              <a:t>• In 2020 to 2023 funding paid 12.3% a year, but price moves took away 12.5%, so the strategy lost money.</a:t>
            </a:r>
          </a:p>
          <a:p>
            <a:r>
              <a:t>• Since 2024 funding paid only 3.1%, and price moves added 13.0%, which is luck rather than carry.</a:t>
            </a:r>
          </a:p>
          <a:p>
            <a:r>
              <a:t>• The risk control capped each coin at one sixth of its side of the book and refused to buy coins with 7-day funding below minus 50% a year.</a:t>
            </a:r>
          </a:p>
          <a:p>
            <a:r>
              <a:t>• It failed because the cap left part of the book in cash and halved the funding income, and on the Sunday before Terra collapsed its 7-day funding was only about minus 20% a year, so the filter did not remove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0:50]</a:t>
            </a:r>
          </a:p>
          <a:p>
            <a:r>
              <a:t>• Finally, we scale both strategies to 10% volatility and combine them 50/50.</a:t>
            </a:r>
          </a:p>
          <a:p>
            <a:r>
              <a:t>• Their correlation is only 0.11: FX and crypto carry crash at different times.</a:t>
            </a:r>
          </a:p>
          <a:p>
            <a:r>
              <a:t>• The mix has 7.0% volatility and a Sharpe of 0.51, and its worst month, -5.9%, is smaller than either part's.</a:t>
            </a:r>
          </a:p>
          <a:p>
            <a:r>
              <a:t>• It does not beat FX alone on Sharpe, because crypto carry was weak in this window.</a:t>
            </a:r>
          </a:p>
          <a:p>
            <a:r>
              <a:t>• Our takeaway is that the benefit of combining them is lower risk, not a higher return.</a:t>
            </a:r>
          </a:p>
          <a:p>
            <a:r>
              <a:t>• We scale each strategy to 10% volatility so that neither one dominates the mix just because it is more volatile; crypto carry is about three times as volatile as FX carry before scaling.</a:t>
            </a:r>
          </a:p>
          <a:p>
            <a:r>
              <a:t>• The scaling uses past volatility only, so there is no look-ahead in the combined portfolio.</a:t>
            </a:r>
          </a:p>
          <a:p>
            <a:r>
              <a:t>• A correlation of 0.11 is close to zero, which means a bad month in one strategy says very little about the other.</a:t>
            </a:r>
          </a:p>
          <a:p>
            <a:r>
              <a:t>• The window starts in 2021 because that is when both strategies have enough history for the volatility estimate.</a:t>
            </a:r>
          </a:p>
          <a:p>
            <a:r>
              <a:t>• With only 67 months of overlap, these combined numbers are indicative rather than precise.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1:00]</a:t>
            </a:r>
          </a:p>
          <a:p>
            <a:r>
              <a:t>• Our short answer is partly yes: crowding makes carry weaker, but it doesn't predict the biggest crashes.</a:t>
            </a:r>
          </a:p>
          <a:p>
            <a:r>
              <a:t>• In FX, carry crashes are compensation for risk, and crowding is a modest warning sign, not a reliable crash predictor.</a:t>
            </a:r>
          </a:p>
          <a:p>
            <a:r>
              <a:t>• In crypto, carry also earns a premium and also crashes, but the crashes come from single coins, mostly being long a coin that traders are crowding to short, so crowding tells you where the danger is rather than when it will hit.</a:t>
            </a:r>
          </a:p>
          <a:p>
            <a:r>
              <a:t>• The table sums up our hypotheses: four are supported, crowding in FX leans yes, crypto funding carry is mixed, and our pre-set risk control did not work.</a:t>
            </a:r>
          </a:p>
          <a:p>
            <a:r>
              <a:t>• In both markets, carry looks like compensation for crash risk.</a:t>
            </a:r>
          </a:p>
          <a:p>
            <a:r>
              <a:t>• In FX, crowding measured from CFTC positions is a cheap and modestly useful warning sign.</a:t>
            </a:r>
          </a:p>
          <a:p>
            <a:r>
              <a:t>• In crypto, sorting on funding alone exposes you to single-coin collapses like Terra and FTX Token.</a:t>
            </a:r>
          </a:p>
          <a:p>
            <a:r>
              <a:t>• Because the two crash at different times, they diversify each other.</a:t>
            </a:r>
          </a:p>
          <a:p>
            <a:r>
              <a:t>• What is new in our work is using CFTC positioning as a crowding filter on carry, and treating crypto funding as both the crypto interest-rate gap and a crowding signal, tested with the coins that died.</a:t>
            </a:r>
          </a:p>
          <a:p>
            <a:r>
              <a:t>• The main limitations are a short crypto sample, few crowded FX months, and simple cost estimates.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731520" y="1325880"/>
            <a:ext cx="10789920" cy="914400"/>
          </a:xfrm>
          <a:prstGeom prst="rect">
            <a:avLst/>
          </a:prstGeom>
          <a:noFill/>
        </p:spPr>
        <p:txBody>
          <a:bodyPr wrap="square" anchor="t" lIns="0" rIns="0" tIns="0" bIns="0">
            <a:spAutoFit/>
          </a:bodyPr>
          <a:lstStyle/>
          <a:p>
            <a:pPr algn="l">
              <a:spcAft>
                <a:spcPts val="600"/>
              </a:spcAft>
            </a:pPr>
            <a:r>
              <a:rPr sz="4600" b="1" i="0">
                <a:solidFill>
                  <a:srgbClr val="FFFFFF"/>
                </a:solidFill>
                <a:latin typeface="Cambria"/>
              </a:rPr>
              <a:t>Crowded Carry in G10 FX and Crypto</a:t>
            </a:r>
          </a:p>
        </p:txBody>
      </p:sp>
      <p:sp>
        <p:nvSpPr>
          <p:cNvPr id="3" name="TextBox 2"/>
          <p:cNvSpPr txBox="1"/>
          <p:nvPr/>
        </p:nvSpPr>
        <p:spPr>
          <a:xfrm>
            <a:off x="731520" y="2377440"/>
            <a:ext cx="10515600" cy="640080"/>
          </a:xfrm>
          <a:prstGeom prst="rect">
            <a:avLst/>
          </a:prstGeom>
          <a:noFill/>
        </p:spPr>
        <p:txBody>
          <a:bodyPr wrap="square" anchor="t" lIns="0" rIns="0" tIns="0" bIns="0">
            <a:spAutoFit/>
          </a:bodyPr>
          <a:lstStyle/>
          <a:p>
            <a:pPr algn="l">
              <a:spcAft>
                <a:spcPts val="600"/>
              </a:spcAft>
            </a:pPr>
            <a:r>
              <a:rPr sz="2400" b="0" i="0">
                <a:solidFill>
                  <a:srgbClr val="C9D1E0"/>
                </a:solidFill>
                <a:latin typeface="Calibri"/>
              </a:rPr>
              <a:t>Crash risk in FX and crypto carry trades</a:t>
            </a:r>
          </a:p>
        </p:txBody>
      </p:sp>
      <p:sp>
        <p:nvSpPr>
          <p:cNvPr id="4" name="TextBox 3"/>
          <p:cNvSpPr txBox="1"/>
          <p:nvPr/>
        </p:nvSpPr>
        <p:spPr>
          <a:xfrm>
            <a:off x="731520" y="3931920"/>
            <a:ext cx="5029200" cy="365760"/>
          </a:xfrm>
          <a:prstGeom prst="rect">
            <a:avLst/>
          </a:prstGeom>
          <a:noFill/>
        </p:spPr>
        <p:txBody>
          <a:bodyPr wrap="square" anchor="t" lIns="0" rIns="0" tIns="0" bIns="0">
            <a:spAutoFit/>
          </a:bodyPr>
          <a:lstStyle/>
          <a:p>
            <a:pPr algn="l">
              <a:spcAft>
                <a:spcPts val="600"/>
              </a:spcAft>
            </a:pPr>
            <a:r>
              <a:rPr sz="1200" b="1" i="0">
                <a:solidFill>
                  <a:srgbClr val="8E9AB5"/>
                </a:solidFill>
                <a:latin typeface="Calibri"/>
              </a:rPr>
              <a:t>STUDENTS</a:t>
            </a:r>
          </a:p>
        </p:txBody>
      </p:sp>
      <p:sp>
        <p:nvSpPr>
          <p:cNvPr id="5" name="TextBox 4"/>
          <p:cNvSpPr txBox="1"/>
          <p:nvPr/>
        </p:nvSpPr>
        <p:spPr>
          <a:xfrm>
            <a:off x="731520" y="4297680"/>
            <a:ext cx="5303520" cy="457200"/>
          </a:xfrm>
          <a:prstGeom prst="rect">
            <a:avLst/>
          </a:prstGeom>
          <a:noFill/>
        </p:spPr>
        <p:txBody>
          <a:bodyPr wrap="square" anchor="t" lIns="0" rIns="0" tIns="0" bIns="0">
            <a:spAutoFit/>
          </a:bodyPr>
          <a:lstStyle/>
          <a:p>
            <a:pPr algn="l">
              <a:spcAft>
                <a:spcPts val="600"/>
              </a:spcAft>
            </a:pPr>
            <a:r>
              <a:rPr sz="2000" b="1" i="0">
                <a:solidFill>
                  <a:srgbClr val="E39B17"/>
                </a:solidFill>
                <a:latin typeface="Calibri"/>
              </a:rPr>
              <a:t>Reza Zamani  ·  Paraj Goyal</a:t>
            </a:r>
          </a:p>
        </p:txBody>
      </p:sp>
      <p:sp>
        <p:nvSpPr>
          <p:cNvPr id="6" name="TextBox 5"/>
          <p:cNvSpPr txBox="1"/>
          <p:nvPr/>
        </p:nvSpPr>
        <p:spPr>
          <a:xfrm>
            <a:off x="6400800" y="3931920"/>
            <a:ext cx="5029200" cy="365760"/>
          </a:xfrm>
          <a:prstGeom prst="rect">
            <a:avLst/>
          </a:prstGeom>
          <a:noFill/>
        </p:spPr>
        <p:txBody>
          <a:bodyPr wrap="square" anchor="t" lIns="0" rIns="0" tIns="0" bIns="0">
            <a:spAutoFit/>
          </a:bodyPr>
          <a:lstStyle/>
          <a:p>
            <a:pPr algn="l">
              <a:spcAft>
                <a:spcPts val="600"/>
              </a:spcAft>
            </a:pPr>
            <a:r>
              <a:rPr sz="1200" b="1" i="0">
                <a:solidFill>
                  <a:srgbClr val="8E9AB5"/>
                </a:solidFill>
                <a:latin typeface="Calibri"/>
              </a:rPr>
              <a:t>PROFESSOR</a:t>
            </a:r>
          </a:p>
        </p:txBody>
      </p:sp>
      <p:sp>
        <p:nvSpPr>
          <p:cNvPr id="7" name="TextBox 6"/>
          <p:cNvSpPr txBox="1"/>
          <p:nvPr/>
        </p:nvSpPr>
        <p:spPr>
          <a:xfrm>
            <a:off x="6400800" y="4297680"/>
            <a:ext cx="5029200" cy="457200"/>
          </a:xfrm>
          <a:prstGeom prst="rect">
            <a:avLst/>
          </a:prstGeom>
          <a:noFill/>
        </p:spPr>
        <p:txBody>
          <a:bodyPr wrap="square" anchor="t" lIns="0" rIns="0" tIns="0" bIns="0">
            <a:spAutoFit/>
          </a:bodyPr>
          <a:lstStyle/>
          <a:p>
            <a:pPr algn="l">
              <a:spcAft>
                <a:spcPts val="600"/>
              </a:spcAft>
            </a:pPr>
            <a:r>
              <a:rPr sz="2000" b="1" i="0">
                <a:solidFill>
                  <a:srgbClr val="FFFFFF"/>
                </a:solidFill>
                <a:latin typeface="Calibri"/>
              </a:rPr>
              <a:t>Amir Kermani</a:t>
            </a:r>
          </a:p>
        </p:txBody>
      </p:sp>
      <p:sp>
        <p:nvSpPr>
          <p:cNvPr id="8" name="TextBox 7"/>
          <p:cNvSpPr txBox="1"/>
          <p:nvPr/>
        </p:nvSpPr>
        <p:spPr>
          <a:xfrm>
            <a:off x="731520" y="5486400"/>
            <a:ext cx="10515600" cy="457200"/>
          </a:xfrm>
          <a:prstGeom prst="rect">
            <a:avLst/>
          </a:prstGeom>
          <a:noFill/>
        </p:spPr>
        <p:txBody>
          <a:bodyPr wrap="square" anchor="t" lIns="0" rIns="0" tIns="0" bIns="0">
            <a:spAutoFit/>
          </a:bodyPr>
          <a:lstStyle/>
          <a:p>
            <a:pPr algn="l">
              <a:spcAft>
                <a:spcPts val="600"/>
              </a:spcAft>
            </a:pPr>
            <a:r>
              <a:rPr sz="1500" b="0" i="0">
                <a:solidFill>
                  <a:srgbClr val="C9D1E0"/>
                </a:solidFill>
                <a:latin typeface="Calibri"/>
              </a:rPr>
              <a:t>Currency Markets (MFE 230GB)  ·  Final project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Carry pays because it crashes</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800" b="1" i="0">
                <a:solidFill>
                  <a:srgbClr val="14213D"/>
                </a:solidFill>
                <a:latin typeface="Calibri"/>
              </a:rPr>
              <a:t>Our question: do carry trades crash when they are crowded?</a:t>
            </a:r>
          </a:p>
        </p:txBody>
      </p:sp>
      <p:sp>
        <p:nvSpPr>
          <p:cNvPr id="4" name="TextBox 3"/>
          <p:cNvSpPr txBox="1"/>
          <p:nvPr/>
        </p:nvSpPr>
        <p:spPr>
          <a:xfrm>
            <a:off x="548640" y="1691640"/>
            <a:ext cx="5120640" cy="4937760"/>
          </a:xfrm>
          <a:prstGeom prst="rect">
            <a:avLst/>
          </a:prstGeom>
          <a:noFill/>
        </p:spPr>
        <p:txBody>
          <a:bodyPr wrap="square" anchor="t" lIns="0" rIns="0" tIns="0" bIns="0">
            <a:spAutoFit/>
          </a:bodyPr>
          <a:lstStyle/>
          <a:p>
            <a:pPr algn="l">
              <a:spcAft>
                <a:spcPts val="700"/>
              </a:spcAft>
            </a:pPr>
            <a:r>
              <a:rPr sz="1400" b="0" i="0">
                <a:solidFill>
                  <a:srgbClr val="1B1F27"/>
                </a:solidFill>
                <a:latin typeface="Calibri"/>
              </a:rPr>
              <a:t>•  We test it in two markets with the same economics: G10 currencies and crypto.</a:t>
            </a:r>
          </a:p>
          <a:p>
            <a:pPr algn="l">
              <a:spcAft>
                <a:spcPts val="700"/>
              </a:spcAft>
            </a:pPr>
            <a:r>
              <a:rPr sz="1400" b="0" i="0">
                <a:solidFill>
                  <a:srgbClr val="1B1F27"/>
                </a:solidFill>
                <a:latin typeface="Calibri"/>
              </a:rPr>
              <a:t>•  Strategy A is carry in seven G10 currencies against the US dollar, with a crowding filter built from CFTC data.</a:t>
            </a:r>
          </a:p>
          <a:p>
            <a:pPr algn="l">
              <a:spcAft>
                <a:spcPts val="700"/>
              </a:spcAft>
            </a:pPr>
            <a:r>
              <a:rPr sz="1400" b="0" i="0">
                <a:solidFill>
                  <a:srgbClr val="1B1F27"/>
                </a:solidFill>
                <a:latin typeface="Calibri"/>
              </a:rPr>
              <a:t>•  Strategy C is funding carry in twelve crypto perpetual futures on Binance, including the coins that collapsed, Terra and FTX Token.</a:t>
            </a:r>
          </a:p>
          <a:p>
            <a:pPr algn="l">
              <a:spcAft>
                <a:spcPts val="700"/>
              </a:spcAft>
            </a:pPr>
            <a:r>
              <a:rPr sz="1400" b="1" i="0">
                <a:solidFill>
                  <a:srgbClr val="14213D"/>
                </a:solidFill>
                <a:latin typeface="Calibri"/>
              </a:rPr>
              <a:t>Why carry crashes</a:t>
            </a:r>
          </a:p>
          <a:p>
            <a:pPr algn="l">
              <a:spcAft>
                <a:spcPts val="700"/>
              </a:spcAft>
            </a:pPr>
            <a:r>
              <a:rPr sz="1400" b="0" i="0">
                <a:solidFill>
                  <a:srgbClr val="1B1F27"/>
                </a:solidFill>
                <a:latin typeface="Calibri"/>
              </a:rPr>
              <a:t>•  Carry borrows the low-yield asset and holds the high-yield one. UIP says this earns nothing, but in the data it earns a premium, with rare large crashes.</a:t>
            </a:r>
          </a:p>
          <a:p>
            <a:pPr algn="l">
              <a:spcAft>
                <a:spcPts val="700"/>
              </a:spcAft>
            </a:pPr>
            <a:r>
              <a:rPr sz="1400" b="1" i="0">
                <a:solidFill>
                  <a:srgbClr val="14213D"/>
                </a:solidFill>
                <a:latin typeface="Calibri"/>
              </a:rPr>
              <a:t>•  Carry goes “up the stairs and down the elevator”: small steady gains most of the time, then large losses in a few weeks.</a:t>
            </a:r>
          </a:p>
          <a:p>
            <a:pPr algn="l">
              <a:spcAft>
                <a:spcPts val="700"/>
              </a:spcAft>
            </a:pPr>
            <a:r>
              <a:rPr sz="1400" b="0" i="0">
                <a:solidFill>
                  <a:srgbClr val="1B1F27"/>
                </a:solidFill>
                <a:latin typeface="Calibri"/>
              </a:rPr>
              <a:t>•  Crashes are worst when the trade is crowded and everyone unwinds at once (Brunnermeier, Nagel &amp; Pedersen 2008).</a:t>
            </a:r>
          </a:p>
          <a:p>
            <a:pPr algn="l">
              <a:spcAft>
                <a:spcPts val="700"/>
              </a:spcAft>
            </a:pPr>
            <a:r>
              <a:rPr sz="1400" b="1" i="0">
                <a:solidFill>
                  <a:srgbClr val="14213D"/>
                </a:solidFill>
                <a:latin typeface="Calibri"/>
              </a:rPr>
              <a:t>Hypotheses, fixed before testing</a:t>
            </a:r>
          </a:p>
          <a:p>
            <a:pPr algn="l">
              <a:spcAft>
                <a:spcPts val="700"/>
              </a:spcAft>
            </a:pPr>
            <a:r>
              <a:rPr sz="1400" b="0" i="0">
                <a:solidFill>
                  <a:srgbClr val="1B1F27"/>
                </a:solidFill>
                <a:latin typeface="Calibri"/>
              </a:rPr>
              <a:t>•  A: carry earns a premium, crowded months are followed by weaker carry, and it loses in volatility spikes.</a:t>
            </a:r>
          </a:p>
          <a:p>
            <a:pPr algn="l">
              <a:spcAft>
                <a:spcPts val="700"/>
              </a:spcAft>
            </a:pPr>
            <a:r>
              <a:rPr sz="1400" b="0" i="0">
                <a:solidFill>
                  <a:srgbClr val="1B1F27"/>
                </a:solidFill>
                <a:latin typeface="Calibri"/>
              </a:rPr>
              <a:t>•  C: funding carry earns a premium with little BTC exposure, and its crashes are coin-specific.</a:t>
            </a:r>
          </a:p>
        </p:txBody>
      </p:sp>
      <p:sp>
        <p:nvSpPr>
          <p:cNvPr id="5" name="TextBox 4"/>
          <p:cNvSpPr txBox="1"/>
          <p:nvPr/>
        </p:nvSpPr>
        <p:spPr>
          <a:xfrm>
            <a:off x="7818120" y="1828800"/>
            <a:ext cx="1828800" cy="45720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A: G10 FX</a:t>
            </a:r>
          </a:p>
        </p:txBody>
      </p:sp>
      <p:sp>
        <p:nvSpPr>
          <p:cNvPr id="6" name="TextBox 5"/>
          <p:cNvSpPr txBox="1"/>
          <p:nvPr/>
        </p:nvSpPr>
        <p:spPr>
          <a:xfrm>
            <a:off x="9738360" y="1828800"/>
            <a:ext cx="1920240" cy="457200"/>
          </a:xfrm>
          <a:prstGeom prst="rect">
            <a:avLst/>
          </a:prstGeom>
          <a:noFill/>
        </p:spPr>
        <p:txBody>
          <a:bodyPr wrap="square" anchor="t" lIns="0" rIns="0" tIns="0" bIns="0">
            <a:spAutoFit/>
          </a:bodyPr>
          <a:lstStyle/>
          <a:p>
            <a:pPr algn="l">
              <a:spcAft>
                <a:spcPts val="600"/>
              </a:spcAft>
            </a:pPr>
            <a:r>
              <a:rPr sz="1600" b="1" i="0">
                <a:solidFill>
                  <a:srgbClr val="B7700C"/>
                </a:solidFill>
                <a:latin typeface="Calibri"/>
              </a:rPr>
              <a:t>C: Crypto</a:t>
            </a:r>
          </a:p>
        </p:txBody>
      </p:sp>
      <p:sp>
        <p:nvSpPr>
          <p:cNvPr id="7" name="Rounded Rectangle 6"/>
          <p:cNvSpPr/>
          <p:nvPr/>
        </p:nvSpPr>
        <p:spPr>
          <a:xfrm>
            <a:off x="5943600" y="2432304"/>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0" y="2542032"/>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Carry signal</a:t>
            </a:r>
          </a:p>
        </p:txBody>
      </p:sp>
      <p:sp>
        <p:nvSpPr>
          <p:cNvPr id="9" name="TextBox 8"/>
          <p:cNvSpPr txBox="1"/>
          <p:nvPr/>
        </p:nvSpPr>
        <p:spPr>
          <a:xfrm>
            <a:off x="7818120" y="2542032"/>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3-month rate differential</a:t>
            </a:r>
          </a:p>
        </p:txBody>
      </p:sp>
      <p:sp>
        <p:nvSpPr>
          <p:cNvPr id="10" name="TextBox 9"/>
          <p:cNvSpPr txBox="1"/>
          <p:nvPr/>
        </p:nvSpPr>
        <p:spPr>
          <a:xfrm>
            <a:off x="9738360" y="2542032"/>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Perpetual funding rate</a:t>
            </a:r>
          </a:p>
        </p:txBody>
      </p:sp>
      <p:sp>
        <p:nvSpPr>
          <p:cNvPr id="11" name="Rounded Rectangle 10"/>
          <p:cNvSpPr/>
          <p:nvPr/>
        </p:nvSpPr>
        <p:spPr>
          <a:xfrm>
            <a:off x="5943600" y="3145536"/>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0" y="3255264"/>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Crowding data</a:t>
            </a:r>
          </a:p>
        </p:txBody>
      </p:sp>
      <p:sp>
        <p:nvSpPr>
          <p:cNvPr id="13" name="TextBox 12"/>
          <p:cNvSpPr txBox="1"/>
          <p:nvPr/>
        </p:nvSpPr>
        <p:spPr>
          <a:xfrm>
            <a:off x="7818120" y="3255264"/>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CFTC speculator positions</a:t>
            </a:r>
          </a:p>
        </p:txBody>
      </p:sp>
      <p:sp>
        <p:nvSpPr>
          <p:cNvPr id="14" name="TextBox 13"/>
          <p:cNvSpPr txBox="1"/>
          <p:nvPr/>
        </p:nvSpPr>
        <p:spPr>
          <a:xfrm>
            <a:off x="9738360" y="3255264"/>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Funding = leveraged demand</a:t>
            </a:r>
          </a:p>
        </p:txBody>
      </p:sp>
      <p:sp>
        <p:nvSpPr>
          <p:cNvPr id="15" name="Rounded Rectangle 14"/>
          <p:cNvSpPr/>
          <p:nvPr/>
        </p:nvSpPr>
        <p:spPr>
          <a:xfrm>
            <a:off x="5943600" y="3858768"/>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0" y="3968496"/>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Universe</a:t>
            </a:r>
          </a:p>
        </p:txBody>
      </p:sp>
      <p:sp>
        <p:nvSpPr>
          <p:cNvPr id="17" name="TextBox 16"/>
          <p:cNvSpPr txBox="1"/>
          <p:nvPr/>
        </p:nvSpPr>
        <p:spPr>
          <a:xfrm>
            <a:off x="7818120" y="3968496"/>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7 currencies vs USD</a:t>
            </a:r>
          </a:p>
        </p:txBody>
      </p:sp>
      <p:sp>
        <p:nvSpPr>
          <p:cNvPr id="18" name="TextBox 17"/>
          <p:cNvSpPr txBox="1"/>
          <p:nvPr/>
        </p:nvSpPr>
        <p:spPr>
          <a:xfrm>
            <a:off x="9738360" y="3968496"/>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12 coins (listed below)</a:t>
            </a:r>
          </a:p>
        </p:txBody>
      </p:sp>
      <p:sp>
        <p:nvSpPr>
          <p:cNvPr id="19" name="Rounded Rectangle 18"/>
          <p:cNvSpPr/>
          <p:nvPr/>
        </p:nvSpPr>
        <p:spPr>
          <a:xfrm>
            <a:off x="5943600" y="4572000"/>
            <a:ext cx="5715000" cy="603504"/>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4681728"/>
            <a:ext cx="1645920" cy="457200"/>
          </a:xfrm>
          <a:prstGeom prst="rect">
            <a:avLst/>
          </a:prstGeom>
          <a:noFill/>
        </p:spPr>
        <p:txBody>
          <a:bodyPr wrap="square" anchor="t" lIns="0" rIns="0" tIns="0" bIns="0">
            <a:spAutoFit/>
          </a:bodyPr>
          <a:lstStyle/>
          <a:p>
            <a:pPr algn="l">
              <a:spcAft>
                <a:spcPts val="600"/>
              </a:spcAft>
            </a:pPr>
            <a:r>
              <a:rPr sz="1300" b="1" i="0">
                <a:solidFill>
                  <a:srgbClr val="5C677D"/>
                </a:solidFill>
                <a:latin typeface="Calibri"/>
              </a:rPr>
              <a:t>Frequency</a:t>
            </a:r>
          </a:p>
        </p:txBody>
      </p:sp>
      <p:sp>
        <p:nvSpPr>
          <p:cNvPr id="21" name="TextBox 20"/>
          <p:cNvSpPr txBox="1"/>
          <p:nvPr/>
        </p:nvSpPr>
        <p:spPr>
          <a:xfrm>
            <a:off x="7818120" y="4681728"/>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Monthly, 1999–2026</a:t>
            </a:r>
          </a:p>
        </p:txBody>
      </p:sp>
      <p:sp>
        <p:nvSpPr>
          <p:cNvPr id="22" name="TextBox 21"/>
          <p:cNvSpPr txBox="1"/>
          <p:nvPr/>
        </p:nvSpPr>
        <p:spPr>
          <a:xfrm>
            <a:off x="9738360" y="4681728"/>
            <a:ext cx="1828800" cy="457200"/>
          </a:xfrm>
          <a:prstGeom prst="rect">
            <a:avLst/>
          </a:prstGeom>
          <a:noFill/>
        </p:spPr>
        <p:txBody>
          <a:bodyPr wrap="square" anchor="t" lIns="0" rIns="0" tIns="0" bIns="0">
            <a:spAutoFit/>
          </a:bodyPr>
          <a:lstStyle/>
          <a:p>
            <a:pPr algn="l">
              <a:spcAft>
                <a:spcPts val="600"/>
              </a:spcAft>
            </a:pPr>
            <a:r>
              <a:rPr sz="1300" b="0" i="0">
                <a:solidFill>
                  <a:srgbClr val="1B1F27"/>
                </a:solidFill>
                <a:latin typeface="Calibri"/>
              </a:rPr>
              <a:t>Weekly, 2020–2026</a:t>
            </a:r>
          </a:p>
        </p:txBody>
      </p:sp>
      <p:sp>
        <p:nvSpPr>
          <p:cNvPr id="23" name="TextBox 22"/>
          <p:cNvSpPr txBox="1"/>
          <p:nvPr/>
        </p:nvSpPr>
        <p:spPr>
          <a:xfrm>
            <a:off x="5943600" y="5257800"/>
            <a:ext cx="5760720" cy="1371600"/>
          </a:xfrm>
          <a:prstGeom prst="rect">
            <a:avLst/>
          </a:prstGeom>
          <a:noFill/>
        </p:spPr>
        <p:txBody>
          <a:bodyPr wrap="square" anchor="t" lIns="0" rIns="0" tIns="0" bIns="0">
            <a:spAutoFit/>
          </a:bodyPr>
          <a:lstStyle/>
          <a:p>
            <a:pPr algn="l">
              <a:spcAft>
                <a:spcPts val="600"/>
              </a:spcAft>
            </a:pPr>
            <a:r>
              <a:rPr sz="1100" b="0" i="0">
                <a:solidFill>
                  <a:srgbClr val="5C677D"/>
                </a:solidFill>
                <a:latin typeface="Calibri"/>
              </a:rPr>
              <a:t>Currencies: Japanese yen (JPY), euro (EUR), British pound (GBP), Swiss franc (CHF), Canadian dollar (CAD), Australian dollar (AUD) and New Zealand dollar (NZD), each against the US dollar.</a:t>
            </a:r>
          </a:p>
          <a:p>
            <a:pPr algn="l">
              <a:spcAft>
                <a:spcPts val="600"/>
              </a:spcAft>
            </a:pPr>
            <a:r>
              <a:rPr sz="1100" b="0" i="0">
                <a:solidFill>
                  <a:srgbClr val="5C677D"/>
                </a:solidFill>
                <a:latin typeface="Calibri"/>
              </a:rPr>
              <a:t>Coins: Bitcoin (BTC), Ethereum (ETH), BNB, XRP, Cardano (ADA), Dogecoin (DOGE), Solana (SOL), Litecoin (LTC), Chainlink (LINK), Avalanche (AVAX), Terra (LUNA) and FTX Token (FTT).</a:t>
            </a:r>
          </a:p>
        </p:txBody>
      </p:sp>
      <p:sp>
        <p:nvSpPr>
          <p:cNvPr id="24" name="TextBox 23"/>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How the two strategies trade</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Each step uses only data available at the time of the trade</a:t>
            </a:r>
          </a:p>
        </p:txBody>
      </p:sp>
      <p:sp>
        <p:nvSpPr>
          <p:cNvPr id="4" name="Rounded Rectangle 3"/>
          <p:cNvSpPr/>
          <p:nvPr/>
        </p:nvSpPr>
        <p:spPr>
          <a:xfrm>
            <a:off x="548640" y="1600200"/>
            <a:ext cx="5440680" cy="489204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764792"/>
            <a:ext cx="498348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Strategy A: G10 FX carry, monthly</a:t>
            </a:r>
          </a:p>
        </p:txBody>
      </p:sp>
      <p:sp>
        <p:nvSpPr>
          <p:cNvPr id="6" name="Oval 5"/>
          <p:cNvSpPr/>
          <p:nvPr/>
        </p:nvSpPr>
        <p:spPr>
          <a:xfrm>
            <a:off x="777240" y="228600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7" name="TextBox 6"/>
          <p:cNvSpPr txBox="1"/>
          <p:nvPr/>
        </p:nvSpPr>
        <p:spPr>
          <a:xfrm>
            <a:off x="1325880" y="224942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Month-end: rank</a:t>
            </a:r>
          </a:p>
        </p:txBody>
      </p:sp>
      <p:sp>
        <p:nvSpPr>
          <p:cNvPr id="8" name="TextBox 7"/>
          <p:cNvSpPr txBox="1"/>
          <p:nvPr/>
        </p:nvSpPr>
        <p:spPr>
          <a:xfrm>
            <a:off x="1325880" y="253288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Compute each currency's 3-month rate minus the US rate.</a:t>
            </a:r>
          </a:p>
        </p:txBody>
      </p:sp>
      <p:sp>
        <p:nvSpPr>
          <p:cNvPr id="9" name="Oval 8"/>
          <p:cNvSpPr/>
          <p:nvPr/>
        </p:nvSpPr>
        <p:spPr>
          <a:xfrm>
            <a:off x="777240" y="310896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10" name="TextBox 9"/>
          <p:cNvSpPr txBox="1"/>
          <p:nvPr/>
        </p:nvSpPr>
        <p:spPr>
          <a:xfrm>
            <a:off x="1325880" y="307238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Trade</a:t>
            </a:r>
          </a:p>
        </p:txBody>
      </p:sp>
      <p:sp>
        <p:nvSpPr>
          <p:cNvPr id="11" name="TextBox 10"/>
          <p:cNvSpPr txBox="1"/>
          <p:nvPr/>
        </p:nvSpPr>
        <p:spPr>
          <a:xfrm>
            <a:off x="1325880" y="335584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Buy the 2 highest-rate currencies and sell the 2 lowest, 50% each, so there is no net dollar bet.</a:t>
            </a:r>
          </a:p>
        </p:txBody>
      </p:sp>
      <p:sp>
        <p:nvSpPr>
          <p:cNvPr id="12" name="Oval 11"/>
          <p:cNvSpPr/>
          <p:nvPr/>
        </p:nvSpPr>
        <p:spPr>
          <a:xfrm>
            <a:off x="777240" y="393192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13" name="TextBox 12"/>
          <p:cNvSpPr txBox="1"/>
          <p:nvPr/>
        </p:nvSpPr>
        <p:spPr>
          <a:xfrm>
            <a:off x="1325880" y="389534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Crowding check</a:t>
            </a:r>
          </a:p>
        </p:txBody>
      </p:sp>
      <p:sp>
        <p:nvSpPr>
          <p:cNvPr id="14" name="TextBox 13"/>
          <p:cNvSpPr txBox="1"/>
          <p:nvPr/>
        </p:nvSpPr>
        <p:spPr>
          <a:xfrm>
            <a:off x="1325880" y="417880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Z-score CFTC speculator positions over 36 months; if crowding is above 1, halve all positions.</a:t>
            </a:r>
          </a:p>
        </p:txBody>
      </p:sp>
      <p:sp>
        <p:nvSpPr>
          <p:cNvPr id="15" name="Oval 14"/>
          <p:cNvSpPr/>
          <p:nvPr/>
        </p:nvSpPr>
        <p:spPr>
          <a:xfrm>
            <a:off x="777240" y="475488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16" name="TextBox 15"/>
          <p:cNvSpPr txBox="1"/>
          <p:nvPr/>
        </p:nvSpPr>
        <p:spPr>
          <a:xfrm>
            <a:off x="1325880" y="471830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Hold one month</a:t>
            </a:r>
          </a:p>
        </p:txBody>
      </p:sp>
      <p:sp>
        <p:nvSpPr>
          <p:cNvPr id="17" name="TextBox 16"/>
          <p:cNvSpPr txBox="1"/>
          <p:nvPr/>
        </p:nvSpPr>
        <p:spPr>
          <a:xfrm>
            <a:off x="1325880" y="500176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Earn the currency move plus the interest-rate gap.</a:t>
            </a:r>
          </a:p>
        </p:txBody>
      </p:sp>
      <p:sp>
        <p:nvSpPr>
          <p:cNvPr id="18" name="Oval 17"/>
          <p:cNvSpPr/>
          <p:nvPr/>
        </p:nvSpPr>
        <p:spPr>
          <a:xfrm>
            <a:off x="777240" y="557784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5</a:t>
            </a:r>
          </a:p>
        </p:txBody>
      </p:sp>
      <p:sp>
        <p:nvSpPr>
          <p:cNvPr id="19" name="TextBox 18"/>
          <p:cNvSpPr txBox="1"/>
          <p:nvPr/>
        </p:nvSpPr>
        <p:spPr>
          <a:xfrm>
            <a:off x="1325880" y="554126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Rebalance</a:t>
            </a:r>
          </a:p>
        </p:txBody>
      </p:sp>
      <p:sp>
        <p:nvSpPr>
          <p:cNvPr id="20" name="TextBox 19"/>
          <p:cNvSpPr txBox="1"/>
          <p:nvPr/>
        </p:nvSpPr>
        <p:spPr>
          <a:xfrm>
            <a:off x="1325880" y="5824727"/>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At the next month-end, rank again and swap, paying 3 bp per trade.</a:t>
            </a:r>
          </a:p>
        </p:txBody>
      </p:sp>
      <p:sp>
        <p:nvSpPr>
          <p:cNvPr id="21" name="Rounded Rectangle 20"/>
          <p:cNvSpPr/>
          <p:nvPr/>
        </p:nvSpPr>
        <p:spPr>
          <a:xfrm>
            <a:off x="6217920" y="1600200"/>
            <a:ext cx="5440680" cy="489204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1764792"/>
            <a:ext cx="498348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Strategy C: crypto funding carry, weekly</a:t>
            </a:r>
          </a:p>
        </p:txBody>
      </p:sp>
      <p:sp>
        <p:nvSpPr>
          <p:cNvPr id="23" name="Oval 22"/>
          <p:cNvSpPr/>
          <p:nvPr/>
        </p:nvSpPr>
        <p:spPr>
          <a:xfrm>
            <a:off x="6446520" y="228600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1</a:t>
            </a:r>
          </a:p>
        </p:txBody>
      </p:sp>
      <p:sp>
        <p:nvSpPr>
          <p:cNvPr id="24" name="TextBox 23"/>
          <p:cNvSpPr txBox="1"/>
          <p:nvPr/>
        </p:nvSpPr>
        <p:spPr>
          <a:xfrm>
            <a:off x="6995159" y="224942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Sunday close: rank</a:t>
            </a:r>
          </a:p>
        </p:txBody>
      </p:sp>
      <p:sp>
        <p:nvSpPr>
          <p:cNvPr id="25" name="TextBox 24"/>
          <p:cNvSpPr txBox="1"/>
          <p:nvPr/>
        </p:nvSpPr>
        <p:spPr>
          <a:xfrm>
            <a:off x="6995159" y="253288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Average each coin's daily funding rate over the past 7 days, using data up to the day before.</a:t>
            </a:r>
          </a:p>
        </p:txBody>
      </p:sp>
      <p:sp>
        <p:nvSpPr>
          <p:cNvPr id="26" name="Oval 25"/>
          <p:cNvSpPr/>
          <p:nvPr/>
        </p:nvSpPr>
        <p:spPr>
          <a:xfrm>
            <a:off x="6446520" y="310896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2</a:t>
            </a:r>
          </a:p>
        </p:txBody>
      </p:sp>
      <p:sp>
        <p:nvSpPr>
          <p:cNvPr id="27" name="TextBox 26"/>
          <p:cNvSpPr txBox="1"/>
          <p:nvPr/>
        </p:nvSpPr>
        <p:spPr>
          <a:xfrm>
            <a:off x="6995159" y="307238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Trade</a:t>
            </a:r>
          </a:p>
        </p:txBody>
      </p:sp>
      <p:sp>
        <p:nvSpPr>
          <p:cNvPr id="28" name="TextBox 27"/>
          <p:cNvSpPr txBox="1"/>
          <p:nvPr/>
        </p:nvSpPr>
        <p:spPr>
          <a:xfrm>
            <a:off x="6995159" y="335584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Short the third of coins with the highest funding and buy the lowest third (usually 3 each), so the book is dollar-neutral.</a:t>
            </a:r>
          </a:p>
        </p:txBody>
      </p:sp>
      <p:sp>
        <p:nvSpPr>
          <p:cNvPr id="29" name="Oval 28"/>
          <p:cNvSpPr/>
          <p:nvPr/>
        </p:nvSpPr>
        <p:spPr>
          <a:xfrm>
            <a:off x="6446520" y="393192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3</a:t>
            </a:r>
          </a:p>
        </p:txBody>
      </p:sp>
      <p:sp>
        <p:nvSpPr>
          <p:cNvPr id="30" name="TextBox 29"/>
          <p:cNvSpPr txBox="1"/>
          <p:nvPr/>
        </p:nvSpPr>
        <p:spPr>
          <a:xfrm>
            <a:off x="6995159" y="389534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Hold 7 days</a:t>
            </a:r>
          </a:p>
        </p:txBody>
      </p:sp>
      <p:sp>
        <p:nvSpPr>
          <p:cNvPr id="31" name="TextBox 30"/>
          <p:cNvSpPr txBox="1"/>
          <p:nvPr/>
        </p:nvSpPr>
        <p:spPr>
          <a:xfrm>
            <a:off x="6995159" y="417880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Earn the price move plus funding; a short receives funding when it is positive.</a:t>
            </a:r>
          </a:p>
        </p:txBody>
      </p:sp>
      <p:sp>
        <p:nvSpPr>
          <p:cNvPr id="32" name="Oval 31"/>
          <p:cNvSpPr/>
          <p:nvPr/>
        </p:nvSpPr>
        <p:spPr>
          <a:xfrm>
            <a:off x="6446520" y="4754880"/>
            <a:ext cx="365760" cy="36576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rPr>
              <a:t>4</a:t>
            </a:r>
          </a:p>
        </p:txBody>
      </p:sp>
      <p:sp>
        <p:nvSpPr>
          <p:cNvPr id="33" name="TextBox 32"/>
          <p:cNvSpPr txBox="1"/>
          <p:nvPr/>
        </p:nvSpPr>
        <p:spPr>
          <a:xfrm>
            <a:off x="6995159" y="4718304"/>
            <a:ext cx="4434840" cy="274320"/>
          </a:xfrm>
          <a:prstGeom prst="rect">
            <a:avLst/>
          </a:prstGeom>
          <a:noFill/>
        </p:spPr>
        <p:txBody>
          <a:bodyPr wrap="square" anchor="t" lIns="0" rIns="0" tIns="0" bIns="0">
            <a:spAutoFit/>
          </a:bodyPr>
          <a:lstStyle/>
          <a:p>
            <a:pPr algn="l">
              <a:spcAft>
                <a:spcPts val="600"/>
              </a:spcAft>
            </a:pPr>
            <a:r>
              <a:rPr sz="1400" b="1" i="0">
                <a:solidFill>
                  <a:srgbClr val="14213D"/>
                </a:solidFill>
                <a:latin typeface="Calibri"/>
              </a:rPr>
              <a:t>Rebalance</a:t>
            </a:r>
          </a:p>
        </p:txBody>
      </p:sp>
      <p:sp>
        <p:nvSpPr>
          <p:cNvPr id="34" name="TextBox 33"/>
          <p:cNvSpPr txBox="1"/>
          <p:nvPr/>
        </p:nvSpPr>
        <p:spPr>
          <a:xfrm>
            <a:off x="6995159" y="5001768"/>
            <a:ext cx="4434840" cy="548640"/>
          </a:xfrm>
          <a:prstGeom prst="rect">
            <a:avLst/>
          </a:prstGeom>
          <a:noFill/>
        </p:spPr>
        <p:txBody>
          <a:bodyPr wrap="square" anchor="t" lIns="0" rIns="0" tIns="0" bIns="0">
            <a:spAutoFit/>
          </a:bodyPr>
          <a:lstStyle/>
          <a:p>
            <a:pPr algn="l">
              <a:spcAft>
                <a:spcPts val="600"/>
              </a:spcAft>
            </a:pPr>
            <a:r>
              <a:rPr sz="1200" b="0" i="0">
                <a:solidFill>
                  <a:srgbClr val="1B1F27"/>
                </a:solidFill>
                <a:latin typeface="Calibri"/>
              </a:rPr>
              <a:t>Next Sunday, rank again and swap, paying 5 bp per trade.</a:t>
            </a:r>
          </a:p>
        </p:txBody>
      </p:sp>
      <p:sp>
        <p:nvSpPr>
          <p:cNvPr id="35" name="TextBox 34"/>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Data and methodology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Public data; a research design chosen to keep the tests honest</a:t>
            </a:r>
          </a:p>
        </p:txBody>
      </p:sp>
      <p:graphicFrame>
        <p:nvGraphicFramePr>
          <p:cNvPr id="4" name="Table 3"/>
          <p:cNvGraphicFramePr>
            <a:graphicFrameLocks noGrp="1"/>
          </p:cNvGraphicFramePr>
          <p:nvPr/>
        </p:nvGraphicFramePr>
        <p:xfrm>
          <a:off x="548640" y="1737360"/>
          <a:ext cx="6035040" cy="2304288"/>
        </p:xfrm>
        <a:graphic>
          <a:graphicData uri="http://schemas.openxmlformats.org/drawingml/2006/table">
            <a:tbl>
              <a:tblPr firstRow="1" bandRow="1">
                <a:tableStyleId>{5C22544A-7EE6-4342-B048-85BDC9FD1C3A}</a:tableStyleId>
              </a:tblPr>
              <a:tblGrid>
                <a:gridCol w="2286000"/>
                <a:gridCol w="2377440"/>
                <a:gridCol w="1371600"/>
              </a:tblGrid>
              <a:tr h="384048">
                <a:tc>
                  <a:txBody>
                    <a:bodyPr/>
                    <a:lstStyle/>
                    <a:p>
                      <a:pPr algn="l"/>
                      <a:r>
                        <a:rPr sz="1200" b="1">
                          <a:solidFill>
                            <a:srgbClr val="FFFFFF"/>
                          </a:solidFill>
                          <a:latin typeface="Calibri"/>
                        </a:rPr>
                        <a:t>Data</a:t>
                      </a:r>
                    </a:p>
                  </a:txBody>
                  <a:tcPr marL="73152" marR="73152">
                    <a:solidFill>
                      <a:srgbClr val="14213D"/>
                    </a:solidFill>
                  </a:tcPr>
                </a:tc>
                <a:tc>
                  <a:txBody>
                    <a:bodyPr/>
                    <a:lstStyle/>
                    <a:p>
                      <a:pPr algn="l"/>
                      <a:r>
                        <a:rPr sz="1200" b="1">
                          <a:solidFill>
                            <a:srgbClr val="FFFFFF"/>
                          </a:solidFill>
                          <a:latin typeface="Calibri"/>
                        </a:rPr>
                        <a:t>Source</a:t>
                      </a:r>
                    </a:p>
                  </a:txBody>
                  <a:tcPr marL="73152" marR="73152">
                    <a:solidFill>
                      <a:srgbClr val="14213D"/>
                    </a:solidFill>
                  </a:tcPr>
                </a:tc>
                <a:tc>
                  <a:txBody>
                    <a:bodyPr/>
                    <a:lstStyle/>
                    <a:p>
                      <a:pPr algn="l"/>
                      <a:r>
                        <a:rPr sz="1200" b="1">
                          <a:solidFill>
                            <a:srgbClr val="FFFFFF"/>
                          </a:solidFill>
                          <a:latin typeface="Calibri"/>
                        </a:rPr>
                        <a:t>Coverage</a:t>
                      </a:r>
                    </a:p>
                  </a:txBody>
                  <a:tcPr marL="73152" marR="73152">
                    <a:solidFill>
                      <a:srgbClr val="14213D"/>
                    </a:solidFill>
                  </a:tcPr>
                </a:tc>
              </a:tr>
              <a:tr h="384048">
                <a:tc>
                  <a:txBody>
                    <a:bodyPr/>
                    <a:lstStyle/>
                    <a:p>
                      <a:pPr algn="l"/>
                      <a:r>
                        <a:rPr sz="1200" b="0">
                          <a:solidFill>
                            <a:srgbClr val="1B1F27"/>
                          </a:solidFill>
                          <a:latin typeface="Calibri"/>
                        </a:rPr>
                        <a:t>FX spot, 7 currencies</a:t>
                      </a:r>
                    </a:p>
                  </a:txBody>
                  <a:tcPr marL="73152" marR="73152">
                    <a:solidFill>
                      <a:srgbClr val="FFFFFF"/>
                    </a:solidFill>
                  </a:tcPr>
                </a:tc>
                <a:tc>
                  <a:txBody>
                    <a:bodyPr/>
                    <a:lstStyle/>
                    <a:p>
                      <a:pPr algn="l"/>
                      <a:r>
                        <a:rPr sz="1200" b="0">
                          <a:solidFill>
                            <a:srgbClr val="1B1F27"/>
                          </a:solidFill>
                          <a:latin typeface="Calibri"/>
                        </a:rPr>
                        <a:t>FRED (Fed H.10)</a:t>
                      </a:r>
                    </a:p>
                  </a:txBody>
                  <a:tcPr marL="73152" marR="73152">
                    <a:solidFill>
                      <a:srgbClr val="FFFFFF"/>
                    </a:solidFill>
                  </a:tcPr>
                </a:tc>
                <a:tc>
                  <a:txBody>
                    <a:bodyPr/>
                    <a:lstStyle/>
                    <a:p>
                      <a:pPr algn="l"/>
                      <a:r>
                        <a:rPr sz="1200" b="0">
                          <a:solidFill>
                            <a:srgbClr val="1B1F27"/>
                          </a:solidFill>
                          <a:latin typeface="Calibri"/>
                        </a:rPr>
                        <a:t>1999–2026</a:t>
                      </a:r>
                    </a:p>
                  </a:txBody>
                  <a:tcPr marL="73152" marR="73152">
                    <a:solidFill>
                      <a:srgbClr val="FFFFFF"/>
                    </a:solidFill>
                  </a:tcPr>
                </a:tc>
              </a:tr>
              <a:tr h="384048">
                <a:tc>
                  <a:txBody>
                    <a:bodyPr/>
                    <a:lstStyle/>
                    <a:p>
                      <a:pPr algn="l"/>
                      <a:r>
                        <a:rPr sz="1200" b="0">
                          <a:solidFill>
                            <a:srgbClr val="1B1F27"/>
                          </a:solidFill>
                          <a:latin typeface="Calibri"/>
                        </a:rPr>
                        <a:t>3-month rates</a:t>
                      </a:r>
                    </a:p>
                  </a:txBody>
                  <a:tcPr marL="73152" marR="73152">
                    <a:solidFill>
                      <a:srgbClr val="EEF1F6"/>
                    </a:solidFill>
                  </a:tcPr>
                </a:tc>
                <a:tc>
                  <a:txBody>
                    <a:bodyPr/>
                    <a:lstStyle/>
                    <a:p>
                      <a:pPr algn="l"/>
                      <a:r>
                        <a:rPr sz="1200" b="0">
                          <a:solidFill>
                            <a:srgbClr val="1B1F27"/>
                          </a:solidFill>
                          <a:latin typeface="Calibri"/>
                        </a:rPr>
                        <a:t>OECD via FRED</a:t>
                      </a:r>
                    </a:p>
                  </a:txBody>
                  <a:tcPr marL="73152" marR="73152">
                    <a:solidFill>
                      <a:srgbClr val="EEF1F6"/>
                    </a:solidFill>
                  </a:tcPr>
                </a:tc>
                <a:tc>
                  <a:txBody>
                    <a:bodyPr/>
                    <a:lstStyle/>
                    <a:p>
                      <a:pPr algn="l"/>
                      <a:r>
                        <a:rPr sz="1200" b="0">
                          <a:solidFill>
                            <a:srgbClr val="1B1F27"/>
                          </a:solidFill>
                          <a:latin typeface="Calibri"/>
                        </a:rPr>
                        <a:t>1999–2026</a:t>
                      </a:r>
                    </a:p>
                  </a:txBody>
                  <a:tcPr marL="73152" marR="73152">
                    <a:solidFill>
                      <a:srgbClr val="EEF1F6"/>
                    </a:solidFill>
                  </a:tcPr>
                </a:tc>
              </a:tr>
              <a:tr h="384048">
                <a:tc>
                  <a:txBody>
                    <a:bodyPr/>
                    <a:lstStyle/>
                    <a:p>
                      <a:pPr algn="l"/>
                      <a:r>
                        <a:rPr sz="1200" b="0">
                          <a:solidFill>
                            <a:srgbClr val="1B1F27"/>
                          </a:solidFill>
                          <a:latin typeface="Calibri"/>
                        </a:rPr>
                        <a:t>Speculator positions</a:t>
                      </a:r>
                    </a:p>
                  </a:txBody>
                  <a:tcPr marL="73152" marR="73152">
                    <a:solidFill>
                      <a:srgbClr val="FFFFFF"/>
                    </a:solidFill>
                  </a:tcPr>
                </a:tc>
                <a:tc>
                  <a:txBody>
                    <a:bodyPr/>
                    <a:lstStyle/>
                    <a:p>
                      <a:pPr algn="l"/>
                      <a:r>
                        <a:rPr sz="1200" b="0">
                          <a:solidFill>
                            <a:srgbClr val="1B1F27"/>
                          </a:solidFill>
                          <a:latin typeface="Calibri"/>
                        </a:rPr>
                        <a:t>CFTC Commitments of Traders</a:t>
                      </a:r>
                    </a:p>
                  </a:txBody>
                  <a:tcPr marL="73152" marR="73152">
                    <a:solidFill>
                      <a:srgbClr val="FFFFFF"/>
                    </a:solidFill>
                  </a:tcPr>
                </a:tc>
                <a:tc>
                  <a:txBody>
                    <a:bodyPr/>
                    <a:lstStyle/>
                    <a:p>
                      <a:pPr algn="l"/>
                      <a:r>
                        <a:rPr sz="1200" b="0">
                          <a:solidFill>
                            <a:srgbClr val="1B1F27"/>
                          </a:solidFill>
                          <a:latin typeface="Calibri"/>
                        </a:rPr>
                        <a:t>1986–2026</a:t>
                      </a:r>
                    </a:p>
                  </a:txBody>
                  <a:tcPr marL="73152" marR="73152">
                    <a:solidFill>
                      <a:srgbClr val="FFFFFF"/>
                    </a:solidFill>
                  </a:tcPr>
                </a:tc>
              </a:tr>
              <a:tr h="384048">
                <a:tc>
                  <a:txBody>
                    <a:bodyPr/>
                    <a:lstStyle/>
                    <a:p>
                      <a:pPr algn="l"/>
                      <a:r>
                        <a:rPr sz="1200" b="0">
                          <a:solidFill>
                            <a:srgbClr val="1B1F27"/>
                          </a:solidFill>
                          <a:latin typeface="Calibri"/>
                        </a:rPr>
                        <a:t>Crypto price, volume, funding</a:t>
                      </a:r>
                    </a:p>
                  </a:txBody>
                  <a:tcPr marL="73152" marR="73152">
                    <a:solidFill>
                      <a:srgbClr val="EEF1F6"/>
                    </a:solidFill>
                  </a:tcPr>
                </a:tc>
                <a:tc>
                  <a:txBody>
                    <a:bodyPr/>
                    <a:lstStyle/>
                    <a:p>
                      <a:pPr algn="l"/>
                      <a:r>
                        <a:rPr sz="1200" b="0">
                          <a:solidFill>
                            <a:srgbClr val="1B1F27"/>
                          </a:solidFill>
                          <a:latin typeface="Calibri"/>
                        </a:rPr>
                        <a:t>Binance public archive</a:t>
                      </a:r>
                    </a:p>
                  </a:txBody>
                  <a:tcPr marL="73152" marR="73152">
                    <a:solidFill>
                      <a:srgbClr val="EEF1F6"/>
                    </a:solidFill>
                  </a:tcPr>
                </a:tc>
                <a:tc>
                  <a:txBody>
                    <a:bodyPr/>
                    <a:lstStyle/>
                    <a:p>
                      <a:pPr algn="l"/>
                      <a:r>
                        <a:rPr sz="1200" b="0">
                          <a:solidFill>
                            <a:srgbClr val="1B1F27"/>
                          </a:solidFill>
                          <a:latin typeface="Calibri"/>
                        </a:rPr>
                        <a:t>2020–2026</a:t>
                      </a:r>
                    </a:p>
                  </a:txBody>
                  <a:tcPr marL="73152" marR="73152">
                    <a:solidFill>
                      <a:srgbClr val="EEF1F6"/>
                    </a:solidFill>
                  </a:tcPr>
                </a:tc>
              </a:tr>
              <a:tr h="384048">
                <a:tc>
                  <a:txBody>
                    <a:bodyPr/>
                    <a:lstStyle/>
                    <a:p>
                      <a:pPr algn="l"/>
                      <a:r>
                        <a:rPr sz="1200" b="0">
                          <a:solidFill>
                            <a:srgbClr val="1B1F27"/>
                          </a:solidFill>
                          <a:latin typeface="Calibri"/>
                        </a:rPr>
                        <a:t>Carry factor (validation)</a:t>
                      </a:r>
                    </a:p>
                  </a:txBody>
                  <a:tcPr marL="73152" marR="73152">
                    <a:solidFill>
                      <a:srgbClr val="FFFFFF"/>
                    </a:solidFill>
                  </a:tcPr>
                </a:tc>
                <a:tc>
                  <a:txBody>
                    <a:bodyPr/>
                    <a:lstStyle/>
                    <a:p>
                      <a:pPr algn="l"/>
                      <a:r>
                        <a:rPr sz="1200" b="0">
                          <a:solidFill>
                            <a:srgbClr val="1B1F27"/>
                          </a:solidFill>
                          <a:latin typeface="Calibri"/>
                        </a:rPr>
                        <a:t>Lustig–Roussanov–Verdelhan</a:t>
                      </a:r>
                    </a:p>
                  </a:txBody>
                  <a:tcPr marL="73152" marR="73152">
                    <a:solidFill>
                      <a:srgbClr val="FFFFFF"/>
                    </a:solidFill>
                  </a:tcPr>
                </a:tc>
                <a:tc>
                  <a:txBody>
                    <a:bodyPr/>
                    <a:lstStyle/>
                    <a:p>
                      <a:pPr algn="l"/>
                      <a:r>
                        <a:rPr sz="1200" b="0">
                          <a:solidFill>
                            <a:srgbClr val="1B1F27"/>
                          </a:solidFill>
                          <a:latin typeface="Calibri"/>
                        </a:rPr>
                        <a:t>1983–2021</a:t>
                      </a:r>
                    </a:p>
                  </a:txBody>
                  <a:tcPr marL="73152" marR="73152">
                    <a:solidFill>
                      <a:srgbClr val="FFFFFF"/>
                    </a:solidFill>
                  </a:tcPr>
                </a:tc>
              </a:tr>
            </a:tbl>
          </a:graphicData>
        </a:graphic>
      </p:graphicFrame>
      <p:sp>
        <p:nvSpPr>
          <p:cNvPr id="5" name="TextBox 4"/>
          <p:cNvSpPr txBox="1"/>
          <p:nvPr/>
        </p:nvSpPr>
        <p:spPr>
          <a:xfrm>
            <a:off x="6949440" y="1737360"/>
            <a:ext cx="4754880" cy="4389120"/>
          </a:xfrm>
          <a:prstGeom prst="rect">
            <a:avLst/>
          </a:prstGeom>
          <a:noFill/>
        </p:spPr>
        <p:txBody>
          <a:bodyPr wrap="square" anchor="t" lIns="0" rIns="0" tIns="0" bIns="0">
            <a:spAutoFit/>
          </a:bodyPr>
          <a:lstStyle/>
          <a:p>
            <a:pPr algn="l">
              <a:spcAft>
                <a:spcPts val="1000"/>
              </a:spcAft>
            </a:pPr>
            <a:r>
              <a:rPr sz="1500" b="0" i="0">
                <a:solidFill>
                  <a:srgbClr val="1B1F27"/>
                </a:solidFill>
                <a:latin typeface="Calibri"/>
              </a:rPr>
              <a:t>•  All parameters were fixed before the first backtest.</a:t>
            </a:r>
          </a:p>
          <a:p>
            <a:pPr algn="l">
              <a:spcAft>
                <a:spcPts val="1000"/>
              </a:spcAft>
            </a:pPr>
            <a:r>
              <a:rPr sz="1500" b="0" i="0">
                <a:solidFill>
                  <a:srgbClr val="1B1F27"/>
                </a:solidFill>
                <a:latin typeface="Calibri"/>
              </a:rPr>
              <a:t>•  The out-of-sample period starts in 2011 for A and in 2024 for C.</a:t>
            </a:r>
          </a:p>
          <a:p>
            <a:pPr algn="l">
              <a:spcAft>
                <a:spcPts val="1000"/>
              </a:spcAft>
            </a:pPr>
            <a:r>
              <a:rPr sz="1500" b="0" i="0">
                <a:solidFill>
                  <a:srgbClr val="1B1F27"/>
                </a:solidFill>
                <a:latin typeface="Calibri"/>
              </a:rPr>
              <a:t>•  Costs are 3 bp per unit traded in FX and 5 bp in crypto.</a:t>
            </a:r>
          </a:p>
          <a:p>
            <a:pPr algn="l">
              <a:spcAft>
                <a:spcPts val="1000"/>
              </a:spcAft>
            </a:pPr>
            <a:r>
              <a:rPr sz="1500" b="0" i="0">
                <a:solidFill>
                  <a:srgbClr val="1B1F27"/>
                </a:solidFill>
                <a:latin typeface="Calibri"/>
              </a:rPr>
              <a:t>•  There is no look-ahead: weights set at t earn the return of t+1, and CFTC data are used only after their Friday release.</a:t>
            </a:r>
          </a:p>
          <a:p>
            <a:pPr algn="l">
              <a:spcAft>
                <a:spcPts val="1000"/>
              </a:spcAft>
            </a:pPr>
            <a:r>
              <a:rPr sz="1500" b="0" i="0">
                <a:solidFill>
                  <a:srgbClr val="1B1F27"/>
                </a:solidFill>
                <a:latin typeface="Calibri"/>
              </a:rPr>
              <a:t>•  There is no survivorship bias, because Terra (LUNA) and FTX Token (FTT) stay in the sample.</a:t>
            </a:r>
          </a:p>
          <a:p>
            <a:pPr algn="l">
              <a:spcAft>
                <a:spcPts val="1000"/>
              </a:spcAft>
            </a:pPr>
            <a:r>
              <a:rPr sz="1500" b="0" i="0">
                <a:solidFill>
                  <a:srgbClr val="1B1F27"/>
                </a:solidFill>
                <a:latin typeface="Calibri"/>
              </a:rPr>
              <a:t>•  Robustness grids are reported, but they were never used for tuning.</a:t>
            </a:r>
          </a:p>
        </p:txBody>
      </p:sp>
      <p:sp>
        <p:nvSpPr>
          <p:cNvPr id="6" name="TextBox 5"/>
          <p:cNvSpPr txBox="1"/>
          <p:nvPr/>
        </p:nvSpPr>
        <p:spPr>
          <a:xfrm>
            <a:off x="548640" y="4343400"/>
            <a:ext cx="6035040" cy="1737360"/>
          </a:xfrm>
          <a:prstGeom prst="rect">
            <a:avLst/>
          </a:prstGeom>
          <a:noFill/>
        </p:spPr>
        <p:txBody>
          <a:bodyPr wrap="square" anchor="t" lIns="0" rIns="0" tIns="0" bIns="0">
            <a:spAutoFit/>
          </a:bodyPr>
          <a:lstStyle/>
          <a:p>
            <a:pPr algn="l">
              <a:spcAft>
                <a:spcPts val="600"/>
              </a:spcAft>
            </a:pPr>
            <a:r>
              <a:rPr sz="1300" b="0" i="0">
                <a:solidFill>
                  <a:srgbClr val="5C677D"/>
                </a:solidFill>
                <a:latin typeface="Calibri"/>
              </a:rPr>
              <a:t>Data fix: before Aug 2000 CFTC lists the same currency futures under 'International Monetary Market'. Matching both names extended positioning back to 1986.</a:t>
            </a:r>
          </a:p>
        </p:txBody>
      </p:sp>
      <p:sp>
        <p:nvSpPr>
          <p:cNvPr id="7" name="TextBox 6"/>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A: crowding-filtered G10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Yen, euro, pound, Swiss franc, Canadian, Australian and New Zealand dollar vs USD, monthly</a:t>
            </a:r>
          </a:p>
        </p:txBody>
      </p:sp>
      <p:sp>
        <p:nvSpPr>
          <p:cNvPr id="4" name="Oval 3"/>
          <p:cNvSpPr/>
          <p:nvPr/>
        </p:nvSpPr>
        <p:spPr>
          <a:xfrm>
            <a:off x="548640" y="187451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1</a:t>
            </a:r>
          </a:p>
        </p:txBody>
      </p:sp>
      <p:sp>
        <p:nvSpPr>
          <p:cNvPr id="5" name="TextBox 4"/>
          <p:cNvSpPr txBox="1"/>
          <p:nvPr/>
        </p:nvSpPr>
        <p:spPr>
          <a:xfrm>
            <a:off x="1280160" y="1856231"/>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Carry portfolio</a:t>
            </a:r>
          </a:p>
        </p:txBody>
      </p:sp>
      <p:sp>
        <p:nvSpPr>
          <p:cNvPr id="6" name="TextBox 5"/>
          <p:cNvSpPr txBox="1"/>
          <p:nvPr/>
        </p:nvSpPr>
        <p:spPr>
          <a:xfrm>
            <a:off x="1280160" y="222199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At each month-end we buy the 2 highest-rate currencies and sell the 2 lowest, with equal weights and no net dollar bet.</a:t>
            </a:r>
          </a:p>
        </p:txBody>
      </p:sp>
      <p:sp>
        <p:nvSpPr>
          <p:cNvPr id="7" name="Oval 6"/>
          <p:cNvSpPr/>
          <p:nvPr/>
        </p:nvSpPr>
        <p:spPr>
          <a:xfrm>
            <a:off x="548640" y="2971800"/>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2</a:t>
            </a:r>
          </a:p>
        </p:txBody>
      </p:sp>
      <p:sp>
        <p:nvSpPr>
          <p:cNvPr id="8" name="TextBox 7"/>
          <p:cNvSpPr txBox="1"/>
          <p:nvPr/>
        </p:nvSpPr>
        <p:spPr>
          <a:xfrm>
            <a:off x="1280160" y="2953512"/>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Crowding signal</a:t>
            </a:r>
          </a:p>
        </p:txBody>
      </p:sp>
      <p:sp>
        <p:nvSpPr>
          <p:cNvPr id="9" name="TextBox 8"/>
          <p:cNvSpPr txBox="1"/>
          <p:nvPr/>
        </p:nvSpPr>
        <p:spPr>
          <a:xfrm>
            <a:off x="1280160" y="3319272"/>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Each currency's CFTC net speculative position over open interest is z-scored over 36 months.</a:t>
            </a:r>
          </a:p>
        </p:txBody>
      </p:sp>
      <p:sp>
        <p:nvSpPr>
          <p:cNvPr id="10" name="Oval 9"/>
          <p:cNvSpPr/>
          <p:nvPr/>
        </p:nvSpPr>
        <p:spPr>
          <a:xfrm>
            <a:off x="548640" y="406907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3</a:t>
            </a:r>
          </a:p>
        </p:txBody>
      </p:sp>
      <p:sp>
        <p:nvSpPr>
          <p:cNvPr id="11" name="TextBox 10"/>
          <p:cNvSpPr txBox="1"/>
          <p:nvPr/>
        </p:nvSpPr>
        <p:spPr>
          <a:xfrm>
            <a:off x="1280160" y="4050791"/>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Portfolio crowding</a:t>
            </a:r>
          </a:p>
        </p:txBody>
      </p:sp>
      <p:sp>
        <p:nvSpPr>
          <p:cNvPr id="12" name="TextBox 11"/>
          <p:cNvSpPr txBox="1"/>
          <p:nvPr/>
        </p:nvSpPr>
        <p:spPr>
          <a:xfrm>
            <a:off x="1280160" y="441655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It is the average z of the long leg minus the average z of the short leg.</a:t>
            </a:r>
          </a:p>
        </p:txBody>
      </p:sp>
      <p:sp>
        <p:nvSpPr>
          <p:cNvPr id="13" name="Oval 12"/>
          <p:cNvSpPr/>
          <p:nvPr/>
        </p:nvSpPr>
        <p:spPr>
          <a:xfrm>
            <a:off x="548640" y="5166359"/>
            <a:ext cx="502920" cy="502920"/>
          </a:xfrm>
          <a:prstGeom prst="ellipse">
            <a:avLst/>
          </a:prstGeom>
          <a:solidFill>
            <a:srgbClr val="1421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600" b="1">
                <a:solidFill>
                  <a:srgbClr val="FFFFFF"/>
                </a:solidFill>
                <a:latin typeface="Calibri"/>
              </a:rPr>
              <a:t>4</a:t>
            </a:r>
          </a:p>
        </p:txBody>
      </p:sp>
      <p:sp>
        <p:nvSpPr>
          <p:cNvPr id="14" name="TextBox 13"/>
          <p:cNvSpPr txBox="1"/>
          <p:nvPr/>
        </p:nvSpPr>
        <p:spPr>
          <a:xfrm>
            <a:off x="1280160" y="5148072"/>
            <a:ext cx="6035040" cy="365760"/>
          </a:xfrm>
          <a:prstGeom prst="rect">
            <a:avLst/>
          </a:prstGeom>
          <a:noFill/>
        </p:spPr>
        <p:txBody>
          <a:bodyPr wrap="square" anchor="t" lIns="0" rIns="0" tIns="0" bIns="0">
            <a:spAutoFit/>
          </a:bodyPr>
          <a:lstStyle/>
          <a:p>
            <a:pPr algn="l">
              <a:spcAft>
                <a:spcPts val="600"/>
              </a:spcAft>
            </a:pPr>
            <a:r>
              <a:rPr sz="1700" b="1" i="0">
                <a:solidFill>
                  <a:srgbClr val="14213D"/>
                </a:solidFill>
                <a:latin typeface="Calibri"/>
              </a:rPr>
              <a:t>Filter</a:t>
            </a:r>
          </a:p>
        </p:txBody>
      </p:sp>
      <p:sp>
        <p:nvSpPr>
          <p:cNvPr id="15" name="TextBox 14"/>
          <p:cNvSpPr txBox="1"/>
          <p:nvPr/>
        </p:nvSpPr>
        <p:spPr>
          <a:xfrm>
            <a:off x="1280160" y="5513831"/>
            <a:ext cx="6035040" cy="731519"/>
          </a:xfrm>
          <a:prstGeom prst="rect">
            <a:avLst/>
          </a:prstGeom>
          <a:noFill/>
        </p:spPr>
        <p:txBody>
          <a:bodyPr wrap="square" anchor="t" lIns="0" rIns="0" tIns="0" bIns="0">
            <a:spAutoFit/>
          </a:bodyPr>
          <a:lstStyle/>
          <a:p>
            <a:pPr algn="l">
              <a:spcAft>
                <a:spcPts val="600"/>
              </a:spcAft>
            </a:pPr>
            <a:r>
              <a:rPr sz="1400" b="0" i="0">
                <a:solidFill>
                  <a:srgbClr val="1B1F27"/>
                </a:solidFill>
                <a:latin typeface="Calibri"/>
              </a:rPr>
              <a:t>If crowding is above 1, all positions are cut to half for the next month.</a:t>
            </a:r>
          </a:p>
        </p:txBody>
      </p:sp>
      <p:sp>
        <p:nvSpPr>
          <p:cNvPr id="16" name="Rounded Rectangle 15"/>
          <p:cNvSpPr/>
          <p:nvPr/>
        </p:nvSpPr>
        <p:spPr>
          <a:xfrm>
            <a:off x="7863840" y="1874519"/>
            <a:ext cx="3749039"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92440" y="2039112"/>
            <a:ext cx="329183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33</a:t>
            </a:r>
          </a:p>
        </p:txBody>
      </p:sp>
      <p:sp>
        <p:nvSpPr>
          <p:cNvPr id="18" name="TextBox 17"/>
          <p:cNvSpPr txBox="1"/>
          <p:nvPr/>
        </p:nvSpPr>
        <p:spPr>
          <a:xfrm>
            <a:off x="8092440" y="2715768"/>
            <a:ext cx="3291839"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crowded months out of 328, 1999–2026</a:t>
            </a:r>
          </a:p>
        </p:txBody>
      </p:sp>
      <p:sp>
        <p:nvSpPr>
          <p:cNvPr id="19" name="Rounded Rectangle 18"/>
          <p:cNvSpPr/>
          <p:nvPr/>
        </p:nvSpPr>
        <p:spPr>
          <a:xfrm>
            <a:off x="7863840" y="3520440"/>
            <a:ext cx="3749039" cy="20116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92440" y="3685032"/>
            <a:ext cx="3291840" cy="2286000"/>
          </a:xfrm>
          <a:prstGeom prst="rect">
            <a:avLst/>
          </a:prstGeom>
          <a:noFill/>
        </p:spPr>
        <p:txBody>
          <a:bodyPr wrap="square" anchor="t" lIns="0" rIns="0" tIns="0" bIns="0">
            <a:spAutoFit/>
          </a:bodyPr>
          <a:lstStyle/>
          <a:p>
            <a:pPr algn="l">
              <a:spcAft>
                <a:spcPts val="800"/>
              </a:spcAft>
            </a:pPr>
            <a:r>
              <a:rPr sz="1600" b="1" i="0">
                <a:solidFill>
                  <a:srgbClr val="14213D"/>
                </a:solidFill>
                <a:latin typeface="Calibri"/>
              </a:rPr>
              <a:t>Who we usually hold</a:t>
            </a:r>
          </a:p>
          <a:p>
            <a:pPr algn="l">
              <a:spcAft>
                <a:spcPts val="800"/>
              </a:spcAft>
            </a:pPr>
            <a:r>
              <a:rPr sz="1300" b="0" i="0">
                <a:solidFill>
                  <a:srgbClr val="1B1F27"/>
                </a:solidFill>
                <a:latin typeface="Calibri"/>
              </a:rPr>
              <a:t>•  Long: New Zealand dollar (94% of months) and Australian dollar (75%).</a:t>
            </a:r>
          </a:p>
          <a:p>
            <a:pPr algn="l">
              <a:spcAft>
                <a:spcPts val="800"/>
              </a:spcAft>
            </a:pPr>
            <a:r>
              <a:rPr sz="1300" b="0" i="0">
                <a:solidFill>
                  <a:srgbClr val="1B1F27"/>
                </a:solidFill>
                <a:latin typeface="Calibri"/>
              </a:rPr>
              <a:t>•  Short: Swiss franc (99%), Japanese yen (52%) and euro (40%).</a:t>
            </a:r>
          </a:p>
        </p:txBody>
      </p:sp>
      <p:sp>
        <p:nvSpPr>
          <p:cNvPr id="21" name="TextBox 20"/>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Crowding filter helps out of sample, not in 2008</a:t>
            </a:r>
          </a:p>
        </p:txBody>
      </p:sp>
      <p:pic>
        <p:nvPicPr>
          <p:cNvPr id="3" name="Picture 2" descr="a_cum.png"/>
          <p:cNvPicPr>
            <a:picLocks noChangeAspect="1"/>
          </p:cNvPicPr>
          <p:nvPr/>
        </p:nvPicPr>
        <p:blipFill>
          <a:blip r:embed="rId2"/>
          <a:stretch>
            <a:fillRect/>
          </a:stretch>
        </p:blipFill>
        <p:spPr>
          <a:xfrm>
            <a:off x="457200" y="1325880"/>
            <a:ext cx="7223760" cy="3876164"/>
          </a:xfrm>
          <a:prstGeom prst="rect">
            <a:avLst/>
          </a:prstGeom>
        </p:spPr>
      </p:pic>
      <p:sp>
        <p:nvSpPr>
          <p:cNvPr id="4" name="Rounded Rectangle 3"/>
          <p:cNvSpPr/>
          <p:nvPr/>
        </p:nvSpPr>
        <p:spPr>
          <a:xfrm>
            <a:off x="8001000" y="128016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0" y="1444751"/>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0.27 → 0.32</a:t>
            </a:r>
          </a:p>
        </p:txBody>
      </p:sp>
      <p:sp>
        <p:nvSpPr>
          <p:cNvPr id="6" name="TextBox 5"/>
          <p:cNvSpPr txBox="1"/>
          <p:nvPr/>
        </p:nvSpPr>
        <p:spPr>
          <a:xfrm>
            <a:off x="8229600" y="212140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Out-of-sample Sharpe, net: carry vs crowd-filtered (2011–2026)</a:t>
            </a:r>
          </a:p>
        </p:txBody>
      </p:sp>
      <p:sp>
        <p:nvSpPr>
          <p:cNvPr id="7" name="Rounded Rectangle 6"/>
          <p:cNvSpPr/>
          <p:nvPr/>
        </p:nvSpPr>
        <p:spPr>
          <a:xfrm>
            <a:off x="8001000" y="274320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0" y="2907792"/>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0.30% vs 0.02%</a:t>
            </a:r>
          </a:p>
        </p:txBody>
      </p:sp>
      <p:sp>
        <p:nvSpPr>
          <p:cNvPr id="9" name="TextBox 8"/>
          <p:cNvSpPr txBox="1"/>
          <p:nvPr/>
        </p:nvSpPr>
        <p:spPr>
          <a:xfrm>
            <a:off x="8229600" y="358444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Next-month carry after non-crowded vs crowded months</a:t>
            </a:r>
          </a:p>
        </p:txBody>
      </p:sp>
      <p:sp>
        <p:nvSpPr>
          <p:cNvPr id="10" name="Rounded Rectangle 9"/>
          <p:cNvSpPr/>
          <p:nvPr/>
        </p:nvSpPr>
        <p:spPr>
          <a:xfrm>
            <a:off x="8001000" y="4206240"/>
            <a:ext cx="3657600" cy="132588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4370831"/>
            <a:ext cx="3200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0.82</a:t>
            </a:r>
          </a:p>
        </p:txBody>
      </p:sp>
      <p:sp>
        <p:nvSpPr>
          <p:cNvPr id="12" name="TextBox 11"/>
          <p:cNvSpPr txBox="1"/>
          <p:nvPr/>
        </p:nvSpPr>
        <p:spPr>
          <a:xfrm>
            <a:off x="8229600" y="5047488"/>
            <a:ext cx="3200400" cy="41147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Correlation with the academic LRV carry factor (1999–2021)</a:t>
            </a:r>
          </a:p>
        </p:txBody>
      </p:sp>
      <p:sp>
        <p:nvSpPr>
          <p:cNvPr id="13" name="Rounded Rectangle 12"/>
          <p:cNvSpPr/>
          <p:nvPr/>
        </p:nvSpPr>
        <p:spPr>
          <a:xfrm>
            <a:off x="548640" y="5349240"/>
            <a:ext cx="713232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5477255"/>
            <a:ext cx="2103120" cy="2743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Net, 1999–2026</a:t>
            </a:r>
          </a:p>
        </p:txBody>
      </p:sp>
      <p:sp>
        <p:nvSpPr>
          <p:cNvPr id="15" name="TextBox 14"/>
          <p:cNvSpPr txBox="1"/>
          <p:nvPr/>
        </p:nvSpPr>
        <p:spPr>
          <a:xfrm>
            <a:off x="2880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return a year</a:t>
            </a:r>
          </a:p>
        </p:txBody>
      </p:sp>
      <p:sp>
        <p:nvSpPr>
          <p:cNvPr id="16" name="TextBox 15"/>
          <p:cNvSpPr txBox="1"/>
          <p:nvPr/>
        </p:nvSpPr>
        <p:spPr>
          <a:xfrm>
            <a:off x="4404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Volatility a year</a:t>
            </a:r>
          </a:p>
        </p:txBody>
      </p:sp>
      <p:sp>
        <p:nvSpPr>
          <p:cNvPr id="17" name="TextBox 16"/>
          <p:cNvSpPr txBox="1"/>
          <p:nvPr/>
        </p:nvSpPr>
        <p:spPr>
          <a:xfrm>
            <a:off x="5928360" y="5477255"/>
            <a:ext cx="143256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Max drawdown</a:t>
            </a:r>
          </a:p>
        </p:txBody>
      </p:sp>
      <p:sp>
        <p:nvSpPr>
          <p:cNvPr id="18" name="TextBox 17"/>
          <p:cNvSpPr txBox="1"/>
          <p:nvPr/>
        </p:nvSpPr>
        <p:spPr>
          <a:xfrm>
            <a:off x="777240" y="5806440"/>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Carry</a:t>
            </a:r>
          </a:p>
        </p:txBody>
      </p:sp>
      <p:sp>
        <p:nvSpPr>
          <p:cNvPr id="19" name="TextBox 18"/>
          <p:cNvSpPr txBox="1"/>
          <p:nvPr/>
        </p:nvSpPr>
        <p:spPr>
          <a:xfrm>
            <a:off x="2880360" y="5806440"/>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3.3%</a:t>
            </a:r>
          </a:p>
        </p:txBody>
      </p:sp>
      <p:sp>
        <p:nvSpPr>
          <p:cNvPr id="20" name="TextBox 19"/>
          <p:cNvSpPr txBox="1"/>
          <p:nvPr/>
        </p:nvSpPr>
        <p:spPr>
          <a:xfrm>
            <a:off x="4404360" y="5806440"/>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8.9%</a:t>
            </a:r>
          </a:p>
        </p:txBody>
      </p:sp>
      <p:sp>
        <p:nvSpPr>
          <p:cNvPr id="21" name="TextBox 20"/>
          <p:cNvSpPr txBox="1"/>
          <p:nvPr/>
        </p:nvSpPr>
        <p:spPr>
          <a:xfrm>
            <a:off x="5928360" y="5806440"/>
            <a:ext cx="1432560"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-37%</a:t>
            </a:r>
          </a:p>
        </p:txBody>
      </p:sp>
      <p:sp>
        <p:nvSpPr>
          <p:cNvPr id="22" name="TextBox 21"/>
          <p:cNvSpPr txBox="1"/>
          <p:nvPr/>
        </p:nvSpPr>
        <p:spPr>
          <a:xfrm>
            <a:off x="777240" y="6153912"/>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Crowd-filtered</a:t>
            </a:r>
          </a:p>
        </p:txBody>
      </p:sp>
      <p:sp>
        <p:nvSpPr>
          <p:cNvPr id="23" name="TextBox 22"/>
          <p:cNvSpPr txBox="1"/>
          <p:nvPr/>
        </p:nvSpPr>
        <p:spPr>
          <a:xfrm>
            <a:off x="2880360" y="6153912"/>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3.2%</a:t>
            </a:r>
          </a:p>
        </p:txBody>
      </p:sp>
      <p:sp>
        <p:nvSpPr>
          <p:cNvPr id="24" name="TextBox 23"/>
          <p:cNvSpPr txBox="1"/>
          <p:nvPr/>
        </p:nvSpPr>
        <p:spPr>
          <a:xfrm>
            <a:off x="4404360" y="6153912"/>
            <a:ext cx="1432560"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8.5%</a:t>
            </a:r>
          </a:p>
        </p:txBody>
      </p:sp>
      <p:sp>
        <p:nvSpPr>
          <p:cNvPr id="25" name="TextBox 24"/>
          <p:cNvSpPr txBox="1"/>
          <p:nvPr/>
        </p:nvSpPr>
        <p:spPr>
          <a:xfrm>
            <a:off x="5928360" y="6153912"/>
            <a:ext cx="1432560"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-37%</a:t>
            </a:r>
          </a:p>
        </p:txBody>
      </p:sp>
      <p:sp>
        <p:nvSpPr>
          <p:cNvPr id="26" name="TextBox 25"/>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A loses when volatility spikes</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Monthly net carry on risk factors, Newey-West t-stats, 1999–2021</a:t>
            </a:r>
          </a:p>
        </p:txBody>
      </p:sp>
      <p:sp>
        <p:nvSpPr>
          <p:cNvPr id="4" name="Rounded Rectangle 3"/>
          <p:cNvSpPr/>
          <p:nvPr/>
        </p:nvSpPr>
        <p:spPr>
          <a:xfrm>
            <a:off x="548640" y="178308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947672"/>
            <a:ext cx="2286000" cy="685800"/>
          </a:xfrm>
          <a:prstGeom prst="rect">
            <a:avLst/>
          </a:prstGeom>
          <a:noFill/>
        </p:spPr>
        <p:txBody>
          <a:bodyPr wrap="square" anchor="t" lIns="0" rIns="0" tIns="0" bIns="0">
            <a:spAutoFit/>
          </a:bodyPr>
          <a:lstStyle/>
          <a:p>
            <a:pPr algn="l">
              <a:spcAft>
                <a:spcPts val="600"/>
              </a:spcAft>
            </a:pPr>
            <a:r>
              <a:rPr sz="3400" b="1" i="0">
                <a:solidFill>
                  <a:srgbClr val="B83227"/>
                </a:solidFill>
                <a:latin typeface="Cambria"/>
              </a:rPr>
              <a:t>-1.55</a:t>
            </a:r>
          </a:p>
        </p:txBody>
      </p:sp>
      <p:sp>
        <p:nvSpPr>
          <p:cNvPr id="6" name="TextBox 5"/>
          <p:cNvSpPr txBox="1"/>
          <p:nvPr/>
        </p:nvSpPr>
        <p:spPr>
          <a:xfrm>
            <a:off x="777240" y="262432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Beta to equity-volatility changes (t = -3.7)</a:t>
            </a:r>
          </a:p>
        </p:txBody>
      </p:sp>
      <p:sp>
        <p:nvSpPr>
          <p:cNvPr id="7" name="Rounded Rectangle 6"/>
          <p:cNvSpPr/>
          <p:nvPr/>
        </p:nvSpPr>
        <p:spPr>
          <a:xfrm>
            <a:off x="3520440" y="178308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49039" y="194767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0.35</a:t>
            </a:r>
          </a:p>
        </p:txBody>
      </p:sp>
      <p:sp>
        <p:nvSpPr>
          <p:cNvPr id="9" name="TextBox 8"/>
          <p:cNvSpPr txBox="1"/>
          <p:nvPr/>
        </p:nvSpPr>
        <p:spPr>
          <a:xfrm>
            <a:off x="3749039" y="262432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Beta to the dollar factor (t = 4.1)</a:t>
            </a:r>
          </a:p>
        </p:txBody>
      </p:sp>
      <p:sp>
        <p:nvSpPr>
          <p:cNvPr id="10" name="Rounded Rectangle 9"/>
          <p:cNvSpPr/>
          <p:nvPr/>
        </p:nvSpPr>
        <p:spPr>
          <a:xfrm>
            <a:off x="548640" y="342900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59359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0.25%</a:t>
            </a:r>
          </a:p>
        </p:txBody>
      </p:sp>
      <p:sp>
        <p:nvSpPr>
          <p:cNvPr id="12" name="TextBox 11"/>
          <p:cNvSpPr txBox="1"/>
          <p:nvPr/>
        </p:nvSpPr>
        <p:spPr>
          <a:xfrm>
            <a:off x="777240" y="427024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Monthly alpha (t = 1.7): not significant</a:t>
            </a:r>
          </a:p>
        </p:txBody>
      </p:sp>
      <p:sp>
        <p:nvSpPr>
          <p:cNvPr id="13" name="Rounded Rectangle 12"/>
          <p:cNvSpPr/>
          <p:nvPr/>
        </p:nvSpPr>
        <p:spPr>
          <a:xfrm>
            <a:off x="3520440" y="3429000"/>
            <a:ext cx="2743200" cy="14173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49039" y="3593592"/>
            <a:ext cx="22860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0.18</a:t>
            </a:r>
          </a:p>
        </p:txBody>
      </p:sp>
      <p:sp>
        <p:nvSpPr>
          <p:cNvPr id="15" name="TextBox 14"/>
          <p:cNvSpPr txBox="1"/>
          <p:nvPr/>
        </p:nvSpPr>
        <p:spPr>
          <a:xfrm>
            <a:off x="3749039" y="4270248"/>
            <a:ext cx="2286000" cy="5029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R² of the two-factor model</a:t>
            </a:r>
          </a:p>
        </p:txBody>
      </p:sp>
      <p:sp>
        <p:nvSpPr>
          <p:cNvPr id="16" name="TextBox 15"/>
          <p:cNvSpPr txBox="1"/>
          <p:nvPr/>
        </p:nvSpPr>
        <p:spPr>
          <a:xfrm>
            <a:off x="548640" y="5166360"/>
            <a:ext cx="5760720" cy="1097280"/>
          </a:xfrm>
          <a:prstGeom prst="rect">
            <a:avLst/>
          </a:prstGeom>
          <a:noFill/>
        </p:spPr>
        <p:txBody>
          <a:bodyPr wrap="square" anchor="t" lIns="0" rIns="0" tIns="0" bIns="0">
            <a:spAutoFit/>
          </a:bodyPr>
          <a:lstStyle/>
          <a:p>
            <a:pPr algn="l">
              <a:spcAft>
                <a:spcPts val="600"/>
              </a:spcAft>
            </a:pPr>
            <a:r>
              <a:rPr sz="1400" b="0" i="0">
                <a:solidFill>
                  <a:srgbClr val="5C677D"/>
                </a:solidFill>
                <a:latin typeface="Calibri"/>
              </a:rPr>
              <a:t>Worst months: Oct 2008, Aug 2007, May 2000, Jan 2009, and the Jan 2015 Swiss franc de-peg.</a:t>
            </a:r>
          </a:p>
        </p:txBody>
      </p:sp>
      <p:sp>
        <p:nvSpPr>
          <p:cNvPr id="17" name="TextBox 16"/>
          <p:cNvSpPr txBox="1"/>
          <p:nvPr/>
        </p:nvSpPr>
        <p:spPr>
          <a:xfrm>
            <a:off x="6766560" y="1783080"/>
            <a:ext cx="484632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The 2008 carry crash: -20.5% (Jul 2008 – Mar 2009)</a:t>
            </a:r>
          </a:p>
        </p:txBody>
      </p:sp>
      <p:pic>
        <p:nvPicPr>
          <p:cNvPr id="18" name="Picture 17" descr="a_2008.png"/>
          <p:cNvPicPr>
            <a:picLocks noChangeAspect="1"/>
          </p:cNvPicPr>
          <p:nvPr/>
        </p:nvPicPr>
        <p:blipFill>
          <a:blip r:embed="rId2"/>
          <a:stretch>
            <a:fillRect/>
          </a:stretch>
        </p:blipFill>
        <p:spPr>
          <a:xfrm>
            <a:off x="6675120" y="2240280"/>
            <a:ext cx="5029200" cy="3233057"/>
          </a:xfrm>
          <a:prstGeom prst="rect">
            <a:avLst/>
          </a:prstGeom>
        </p:spPr>
      </p:pic>
      <p:sp>
        <p:nvSpPr>
          <p:cNvPr id="19" name="TextBox 18"/>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Strategy C: crypto funding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Binance perpetuals on BTC, ETH, BNB, XRP, ADA, DOGE, SOL, LTC, LINK, AVAX, LUNA (Terra), FTT; weekly, 2020–2026</a:t>
            </a:r>
          </a:p>
        </p:txBody>
      </p:sp>
      <p:pic>
        <p:nvPicPr>
          <p:cNvPr id="4" name="Picture 3" descr="c_cum_marked.png"/>
          <p:cNvPicPr>
            <a:picLocks noChangeAspect="1"/>
          </p:cNvPicPr>
          <p:nvPr/>
        </p:nvPicPr>
        <p:blipFill>
          <a:blip r:embed="rId2"/>
          <a:stretch>
            <a:fillRect/>
          </a:stretch>
        </p:blipFill>
        <p:spPr>
          <a:xfrm>
            <a:off x="457200" y="1600200"/>
            <a:ext cx="6949440" cy="3728968"/>
          </a:xfrm>
          <a:prstGeom prst="rect">
            <a:avLst/>
          </a:prstGeom>
        </p:spPr>
      </p:pic>
      <p:sp>
        <p:nvSpPr>
          <p:cNvPr id="5" name="TextBox 4"/>
          <p:cNvSpPr txBox="1"/>
          <p:nvPr/>
        </p:nvSpPr>
        <p:spPr>
          <a:xfrm>
            <a:off x="7772400" y="1645920"/>
            <a:ext cx="3931920" cy="2103120"/>
          </a:xfrm>
          <a:prstGeom prst="rect">
            <a:avLst/>
          </a:prstGeom>
          <a:noFill/>
        </p:spPr>
        <p:txBody>
          <a:bodyPr wrap="square" anchor="t" lIns="0" rIns="0" tIns="0" bIns="0">
            <a:spAutoFit/>
          </a:bodyPr>
          <a:lstStyle/>
          <a:p>
            <a:pPr algn="l">
              <a:spcAft>
                <a:spcPts val="800"/>
              </a:spcAft>
            </a:pPr>
            <a:r>
              <a:rPr sz="1400" b="0" i="0">
                <a:solidFill>
                  <a:srgbClr val="1B1F27"/>
                </a:solidFill>
                <a:latin typeface="Calibri"/>
              </a:rPr>
              <a:t>•  Funding is paid every 8 hours, and positive funding means longs pay shorts.</a:t>
            </a:r>
          </a:p>
          <a:p>
            <a:pPr algn="l">
              <a:spcAft>
                <a:spcPts val="800"/>
              </a:spcAft>
            </a:pPr>
            <a:r>
              <a:rPr sz="1400" b="0" i="0">
                <a:solidFill>
                  <a:srgbClr val="1B1F27"/>
                </a:solidFill>
                <a:latin typeface="Calibri"/>
              </a:rPr>
              <a:t>•  Each Sunday we short the third of coins with the highest 7-day funding and buy the lowest third.</a:t>
            </a:r>
          </a:p>
          <a:p>
            <a:pPr algn="l">
              <a:spcAft>
                <a:spcPts val="800"/>
              </a:spcAft>
            </a:pPr>
            <a:r>
              <a:rPr sz="1400" b="0" i="0">
                <a:solidFill>
                  <a:srgbClr val="1B1F27"/>
                </a:solidFill>
                <a:latin typeface="Calibri"/>
              </a:rPr>
              <a:t>•  The book is dollar-neutral and pays 5 bp per trade.</a:t>
            </a:r>
          </a:p>
        </p:txBody>
      </p:sp>
      <p:sp>
        <p:nvSpPr>
          <p:cNvPr id="6" name="Rounded Rectangle 5"/>
          <p:cNvSpPr/>
          <p:nvPr/>
        </p:nvSpPr>
        <p:spPr>
          <a:xfrm>
            <a:off x="7772400" y="3794760"/>
            <a:ext cx="1874519"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3959352"/>
            <a:ext cx="141731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0.14</a:t>
            </a:r>
          </a:p>
        </p:txBody>
      </p:sp>
      <p:sp>
        <p:nvSpPr>
          <p:cNvPr id="8" name="TextBox 7"/>
          <p:cNvSpPr txBox="1"/>
          <p:nvPr/>
        </p:nvSpPr>
        <p:spPr>
          <a:xfrm>
            <a:off x="8001000" y="4636008"/>
            <a:ext cx="141731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Sharpe, full</a:t>
            </a:r>
          </a:p>
        </p:txBody>
      </p:sp>
      <p:sp>
        <p:nvSpPr>
          <p:cNvPr id="9" name="Rounded Rectangle 8"/>
          <p:cNvSpPr/>
          <p:nvPr/>
        </p:nvSpPr>
        <p:spPr>
          <a:xfrm>
            <a:off x="9784080" y="3794760"/>
            <a:ext cx="1874519"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12680" y="3959352"/>
            <a:ext cx="1417319"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0.81</a:t>
            </a:r>
          </a:p>
        </p:txBody>
      </p:sp>
      <p:sp>
        <p:nvSpPr>
          <p:cNvPr id="11" name="TextBox 10"/>
          <p:cNvSpPr txBox="1"/>
          <p:nvPr/>
        </p:nvSpPr>
        <p:spPr>
          <a:xfrm>
            <a:off x="10012680" y="4636008"/>
            <a:ext cx="141731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Sharpe, 2024–26</a:t>
            </a:r>
          </a:p>
        </p:txBody>
      </p:sp>
      <p:sp>
        <p:nvSpPr>
          <p:cNvPr id="12" name="Rounded Rectangle 11"/>
          <p:cNvSpPr/>
          <p:nvPr/>
        </p:nvSpPr>
        <p:spPr>
          <a:xfrm>
            <a:off x="7772400" y="5120640"/>
            <a:ext cx="388620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01000" y="5285231"/>
            <a:ext cx="3429000" cy="685800"/>
          </a:xfrm>
          <a:prstGeom prst="rect">
            <a:avLst/>
          </a:prstGeom>
          <a:noFill/>
        </p:spPr>
        <p:txBody>
          <a:bodyPr wrap="square" anchor="t" lIns="0" rIns="0" tIns="0" bIns="0">
            <a:spAutoFit/>
          </a:bodyPr>
          <a:lstStyle/>
          <a:p>
            <a:pPr algn="l">
              <a:spcAft>
                <a:spcPts val="600"/>
              </a:spcAft>
            </a:pPr>
            <a:r>
              <a:rPr sz="3400" b="1" i="0">
                <a:solidFill>
                  <a:srgbClr val="B83227"/>
                </a:solidFill>
                <a:latin typeface="Cambria"/>
              </a:rPr>
              <a:t>-27%</a:t>
            </a:r>
          </a:p>
        </p:txBody>
      </p:sp>
      <p:sp>
        <p:nvSpPr>
          <p:cNvPr id="14" name="TextBox 13"/>
          <p:cNvSpPr txBox="1"/>
          <p:nvPr/>
        </p:nvSpPr>
        <p:spPr>
          <a:xfrm>
            <a:off x="8001000" y="5961888"/>
            <a:ext cx="3429000"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Worst week: LUNA (Terra) collapse, May 2022</a:t>
            </a:r>
          </a:p>
        </p:txBody>
      </p:sp>
      <p:sp>
        <p:nvSpPr>
          <p:cNvPr id="15" name="Rounded Rectangle 14"/>
          <p:cNvSpPr/>
          <p:nvPr/>
        </p:nvSpPr>
        <p:spPr>
          <a:xfrm>
            <a:off x="548640" y="5440680"/>
            <a:ext cx="6949440" cy="118872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5568696"/>
            <a:ext cx="2103120" cy="2743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Net of costs</a:t>
            </a:r>
          </a:p>
        </p:txBody>
      </p:sp>
      <p:sp>
        <p:nvSpPr>
          <p:cNvPr id="17" name="TextBox 16"/>
          <p:cNvSpPr txBox="1"/>
          <p:nvPr/>
        </p:nvSpPr>
        <p:spPr>
          <a:xfrm>
            <a:off x="288036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Net return a year</a:t>
            </a:r>
          </a:p>
        </p:txBody>
      </p:sp>
      <p:sp>
        <p:nvSpPr>
          <p:cNvPr id="18" name="TextBox 17"/>
          <p:cNvSpPr txBox="1"/>
          <p:nvPr/>
        </p:nvSpPr>
        <p:spPr>
          <a:xfrm>
            <a:off x="434340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Volatility a year</a:t>
            </a:r>
          </a:p>
        </p:txBody>
      </p:sp>
      <p:sp>
        <p:nvSpPr>
          <p:cNvPr id="19" name="TextBox 18"/>
          <p:cNvSpPr txBox="1"/>
          <p:nvPr/>
        </p:nvSpPr>
        <p:spPr>
          <a:xfrm>
            <a:off x="5806440" y="5568696"/>
            <a:ext cx="1371599" cy="2743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Max drawdown</a:t>
            </a:r>
          </a:p>
        </p:txBody>
      </p:sp>
      <p:sp>
        <p:nvSpPr>
          <p:cNvPr id="20" name="TextBox 19"/>
          <p:cNvSpPr txBox="1"/>
          <p:nvPr/>
        </p:nvSpPr>
        <p:spPr>
          <a:xfrm>
            <a:off x="777240" y="5897880"/>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Full sample 2020–26</a:t>
            </a:r>
          </a:p>
        </p:txBody>
      </p:sp>
      <p:sp>
        <p:nvSpPr>
          <p:cNvPr id="21" name="TextBox 20"/>
          <p:cNvSpPr txBox="1"/>
          <p:nvPr/>
        </p:nvSpPr>
        <p:spPr>
          <a:xfrm>
            <a:off x="2880360" y="5897880"/>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4.1%</a:t>
            </a:r>
          </a:p>
        </p:txBody>
      </p:sp>
      <p:sp>
        <p:nvSpPr>
          <p:cNvPr id="22" name="TextBox 21"/>
          <p:cNvSpPr txBox="1"/>
          <p:nvPr/>
        </p:nvSpPr>
        <p:spPr>
          <a:xfrm>
            <a:off x="4343400" y="5897880"/>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30%</a:t>
            </a:r>
          </a:p>
        </p:txBody>
      </p:sp>
      <p:sp>
        <p:nvSpPr>
          <p:cNvPr id="23" name="TextBox 22"/>
          <p:cNvSpPr txBox="1"/>
          <p:nvPr/>
        </p:nvSpPr>
        <p:spPr>
          <a:xfrm>
            <a:off x="5806440" y="5897880"/>
            <a:ext cx="1371599"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-67%</a:t>
            </a:r>
          </a:p>
        </p:txBody>
      </p:sp>
      <p:sp>
        <p:nvSpPr>
          <p:cNvPr id="24" name="TextBox 23"/>
          <p:cNvSpPr txBox="1"/>
          <p:nvPr/>
        </p:nvSpPr>
        <p:spPr>
          <a:xfrm>
            <a:off x="777240" y="6245352"/>
            <a:ext cx="2103120" cy="320040"/>
          </a:xfrm>
          <a:prstGeom prst="rect">
            <a:avLst/>
          </a:prstGeom>
          <a:noFill/>
        </p:spPr>
        <p:txBody>
          <a:bodyPr wrap="square" anchor="t" lIns="0" rIns="0" tIns="0" bIns="0">
            <a:spAutoFit/>
          </a:bodyPr>
          <a:lstStyle/>
          <a:p>
            <a:pPr algn="l">
              <a:spcAft>
                <a:spcPts val="600"/>
              </a:spcAft>
            </a:pPr>
            <a:r>
              <a:rPr sz="1400" b="0" i="0">
                <a:solidFill>
                  <a:srgbClr val="14213D"/>
                </a:solidFill>
                <a:latin typeface="Calibri"/>
              </a:rPr>
              <a:t>Since 2024</a:t>
            </a:r>
          </a:p>
        </p:txBody>
      </p:sp>
      <p:sp>
        <p:nvSpPr>
          <p:cNvPr id="25" name="TextBox 24"/>
          <p:cNvSpPr txBox="1"/>
          <p:nvPr/>
        </p:nvSpPr>
        <p:spPr>
          <a:xfrm>
            <a:off x="2880360" y="6245352"/>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13.9%</a:t>
            </a:r>
          </a:p>
        </p:txBody>
      </p:sp>
      <p:sp>
        <p:nvSpPr>
          <p:cNvPr id="26" name="TextBox 25"/>
          <p:cNvSpPr txBox="1"/>
          <p:nvPr/>
        </p:nvSpPr>
        <p:spPr>
          <a:xfrm>
            <a:off x="4343400" y="6245352"/>
            <a:ext cx="1371599" cy="320040"/>
          </a:xfrm>
          <a:prstGeom prst="rect">
            <a:avLst/>
          </a:prstGeom>
          <a:noFill/>
        </p:spPr>
        <p:txBody>
          <a:bodyPr wrap="square" anchor="t" lIns="0" rIns="0" tIns="0" bIns="0">
            <a:spAutoFit/>
          </a:bodyPr>
          <a:lstStyle/>
          <a:p>
            <a:pPr algn="l">
              <a:spcAft>
                <a:spcPts val="600"/>
              </a:spcAft>
            </a:pPr>
            <a:r>
              <a:rPr sz="1600" b="1" i="0">
                <a:solidFill>
                  <a:srgbClr val="14213D"/>
                </a:solidFill>
                <a:latin typeface="Cambria"/>
              </a:rPr>
              <a:t>17%</a:t>
            </a:r>
          </a:p>
        </p:txBody>
      </p:sp>
      <p:sp>
        <p:nvSpPr>
          <p:cNvPr id="27" name="TextBox 26"/>
          <p:cNvSpPr txBox="1"/>
          <p:nvPr/>
        </p:nvSpPr>
        <p:spPr>
          <a:xfrm>
            <a:off x="5806440" y="6245352"/>
            <a:ext cx="1371599" cy="320040"/>
          </a:xfrm>
          <a:prstGeom prst="rect">
            <a:avLst/>
          </a:prstGeom>
          <a:noFill/>
        </p:spPr>
        <p:txBody>
          <a:bodyPr wrap="square" anchor="t" lIns="0" rIns="0" tIns="0" bIns="0">
            <a:spAutoFit/>
          </a:bodyPr>
          <a:lstStyle/>
          <a:p>
            <a:pPr algn="l">
              <a:spcAft>
                <a:spcPts val="600"/>
              </a:spcAft>
            </a:pPr>
            <a:r>
              <a:rPr sz="1600" b="1" i="0">
                <a:solidFill>
                  <a:srgbClr val="B83227"/>
                </a:solidFill>
                <a:latin typeface="Cambria"/>
              </a:rPr>
              <a:t>-13%</a:t>
            </a:r>
          </a:p>
        </p:txBody>
      </p:sp>
      <p:sp>
        <p:nvSpPr>
          <p:cNvPr id="28" name="TextBox 27"/>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Funding is earned, but price moves dominate</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Where the return comes from, and what drives the losses</a:t>
            </a:r>
          </a:p>
        </p:txBody>
      </p:sp>
      <p:pic>
        <p:nvPicPr>
          <p:cNvPr id="4" name="Picture 3" descr="c_decomp_marked.png"/>
          <p:cNvPicPr>
            <a:picLocks noChangeAspect="1"/>
          </p:cNvPicPr>
          <p:nvPr/>
        </p:nvPicPr>
        <p:blipFill>
          <a:blip r:embed="rId2"/>
          <a:stretch>
            <a:fillRect/>
          </a:stretch>
        </p:blipFill>
        <p:spPr>
          <a:xfrm>
            <a:off x="457200" y="1600200"/>
            <a:ext cx="5486400" cy="3600450"/>
          </a:xfrm>
          <a:prstGeom prst="rect">
            <a:avLst/>
          </a:prstGeom>
        </p:spPr>
      </p:pic>
      <p:graphicFrame>
        <p:nvGraphicFramePr>
          <p:cNvPr id="5" name="Table 4"/>
          <p:cNvGraphicFramePr>
            <a:graphicFrameLocks noGrp="1"/>
          </p:cNvGraphicFramePr>
          <p:nvPr/>
        </p:nvGraphicFramePr>
        <p:xfrm>
          <a:off x="6309360" y="1691640"/>
          <a:ext cx="5394960" cy="1316736"/>
        </p:xfrm>
        <a:graphic>
          <a:graphicData uri="http://schemas.openxmlformats.org/drawingml/2006/table">
            <a:tbl>
              <a:tblPr firstRow="1" bandRow="1">
                <a:tableStyleId>{5C22544A-7EE6-4342-B048-85BDC9FD1C3A}</a:tableStyleId>
              </a:tblPr>
              <a:tblGrid>
                <a:gridCol w="2103120"/>
                <a:gridCol w="1097280"/>
                <a:gridCol w="1097280"/>
                <a:gridCol w="1097280"/>
              </a:tblGrid>
              <a:tr h="329184">
                <a:tc>
                  <a:txBody>
                    <a:bodyPr/>
                    <a:lstStyle/>
                    <a:p>
                      <a:pPr algn="l"/>
                      <a:r>
                        <a:rPr sz="1300" b="1">
                          <a:solidFill>
                            <a:srgbClr val="FFFFFF"/>
                          </a:solidFill>
                          <a:latin typeface="Calibri"/>
                        </a:rPr>
                        <a:t>% per year</a:t>
                      </a:r>
                    </a:p>
                  </a:txBody>
                  <a:tcPr marL="73152" marR="73152">
                    <a:solidFill>
                      <a:srgbClr val="14213D"/>
                    </a:solidFill>
                  </a:tcPr>
                </a:tc>
                <a:tc>
                  <a:txBody>
                    <a:bodyPr/>
                    <a:lstStyle/>
                    <a:p>
                      <a:pPr algn="r"/>
                      <a:r>
                        <a:rPr sz="1300" b="1">
                          <a:solidFill>
                            <a:srgbClr val="FFFFFF"/>
                          </a:solidFill>
                          <a:latin typeface="Calibri"/>
                        </a:rPr>
                        <a:t>Funding</a:t>
                      </a:r>
                    </a:p>
                  </a:txBody>
                  <a:tcPr marL="73152" marR="73152">
                    <a:solidFill>
                      <a:srgbClr val="14213D"/>
                    </a:solidFill>
                  </a:tcPr>
                </a:tc>
                <a:tc>
                  <a:txBody>
                    <a:bodyPr/>
                    <a:lstStyle/>
                    <a:p>
                      <a:pPr algn="r"/>
                      <a:r>
                        <a:rPr sz="1300" b="1">
                          <a:solidFill>
                            <a:srgbClr val="FFFFFF"/>
                          </a:solidFill>
                          <a:latin typeface="Calibri"/>
                        </a:rPr>
                        <a:t>Price</a:t>
                      </a:r>
                    </a:p>
                  </a:txBody>
                  <a:tcPr marL="73152" marR="73152">
                    <a:solidFill>
                      <a:srgbClr val="14213D"/>
                    </a:solidFill>
                  </a:tcPr>
                </a:tc>
                <a:tc>
                  <a:txBody>
                    <a:bodyPr/>
                    <a:lstStyle/>
                    <a:p>
                      <a:pPr algn="r"/>
                      <a:r>
                        <a:rPr sz="1300" b="1">
                          <a:solidFill>
                            <a:srgbClr val="FFFFFF"/>
                          </a:solidFill>
                          <a:latin typeface="Calibri"/>
                        </a:rPr>
                        <a:t>Net</a:t>
                      </a:r>
                    </a:p>
                  </a:txBody>
                  <a:tcPr marL="73152" marR="73152">
                    <a:solidFill>
                      <a:srgbClr val="14213D"/>
                    </a:solidFill>
                  </a:tcPr>
                </a:tc>
              </a:tr>
              <a:tr h="329184">
                <a:tc>
                  <a:txBody>
                    <a:bodyPr/>
                    <a:lstStyle/>
                    <a:p>
                      <a:pPr algn="l"/>
                      <a:r>
                        <a:rPr sz="1300" b="0">
                          <a:solidFill>
                            <a:srgbClr val="1B1F27"/>
                          </a:solidFill>
                          <a:latin typeface="Calibri"/>
                        </a:rPr>
                        <a:t>Full</a:t>
                      </a:r>
                    </a:p>
                  </a:txBody>
                  <a:tcPr marL="73152" marR="73152">
                    <a:solidFill>
                      <a:srgbClr val="FFFFFF"/>
                    </a:solidFill>
                  </a:tcPr>
                </a:tc>
                <a:tc>
                  <a:txBody>
                    <a:bodyPr/>
                    <a:lstStyle/>
                    <a:p>
                      <a:pPr algn="r"/>
                      <a:r>
                        <a:rPr sz="1300" b="0">
                          <a:solidFill>
                            <a:srgbClr val="1B1F27"/>
                          </a:solidFill>
                          <a:latin typeface="Calibri"/>
                        </a:rPr>
                        <a:t>+8.5</a:t>
                      </a:r>
                    </a:p>
                  </a:txBody>
                  <a:tcPr marL="73152" marR="73152">
                    <a:solidFill>
                      <a:srgbClr val="FFFFFF"/>
                    </a:solidFill>
                  </a:tcPr>
                </a:tc>
                <a:tc>
                  <a:txBody>
                    <a:bodyPr/>
                    <a:lstStyle/>
                    <a:p>
                      <a:pPr algn="r"/>
                      <a:r>
                        <a:rPr sz="1300" b="0">
                          <a:solidFill>
                            <a:srgbClr val="1B1F27"/>
                          </a:solidFill>
                          <a:latin typeface="Calibri"/>
                        </a:rPr>
                        <a:t>-2.2</a:t>
                      </a:r>
                    </a:p>
                  </a:txBody>
                  <a:tcPr marL="73152" marR="73152">
                    <a:solidFill>
                      <a:srgbClr val="FFFFFF"/>
                    </a:solidFill>
                  </a:tcPr>
                </a:tc>
                <a:tc>
                  <a:txBody>
                    <a:bodyPr/>
                    <a:lstStyle/>
                    <a:p>
                      <a:pPr algn="r"/>
                      <a:r>
                        <a:rPr sz="1300" b="0">
                          <a:solidFill>
                            <a:srgbClr val="1B1F27"/>
                          </a:solidFill>
                          <a:latin typeface="Calibri"/>
                        </a:rPr>
                        <a:t>+4.1</a:t>
                      </a:r>
                    </a:p>
                  </a:txBody>
                  <a:tcPr marL="73152" marR="73152">
                    <a:solidFill>
                      <a:srgbClr val="FFFFFF"/>
                    </a:solidFill>
                  </a:tcPr>
                </a:tc>
              </a:tr>
              <a:tr h="329184">
                <a:tc>
                  <a:txBody>
                    <a:bodyPr/>
                    <a:lstStyle/>
                    <a:p>
                      <a:pPr algn="l"/>
                      <a:r>
                        <a:rPr sz="1300" b="0">
                          <a:solidFill>
                            <a:srgbClr val="1B1F27"/>
                          </a:solidFill>
                          <a:latin typeface="Calibri"/>
                        </a:rPr>
                        <a:t>In-sample</a:t>
                      </a:r>
                    </a:p>
                  </a:txBody>
                  <a:tcPr marL="73152" marR="73152">
                    <a:solidFill>
                      <a:srgbClr val="EEF1F6"/>
                    </a:solidFill>
                  </a:tcPr>
                </a:tc>
                <a:tc>
                  <a:txBody>
                    <a:bodyPr/>
                    <a:lstStyle/>
                    <a:p>
                      <a:pPr algn="r"/>
                      <a:r>
                        <a:rPr sz="1300" b="0">
                          <a:solidFill>
                            <a:srgbClr val="1B1F27"/>
                          </a:solidFill>
                          <a:latin typeface="Calibri"/>
                        </a:rPr>
                        <a:t>+12.3</a:t>
                      </a:r>
                    </a:p>
                  </a:txBody>
                  <a:tcPr marL="73152" marR="73152">
                    <a:solidFill>
                      <a:srgbClr val="EEF1F6"/>
                    </a:solidFill>
                  </a:tcPr>
                </a:tc>
                <a:tc>
                  <a:txBody>
                    <a:bodyPr/>
                    <a:lstStyle/>
                    <a:p>
                      <a:pPr algn="r"/>
                      <a:r>
                        <a:rPr sz="1300" b="0">
                          <a:solidFill>
                            <a:srgbClr val="1B1F27"/>
                          </a:solidFill>
                          <a:latin typeface="Calibri"/>
                        </a:rPr>
                        <a:t>-12.5</a:t>
                      </a:r>
                    </a:p>
                  </a:txBody>
                  <a:tcPr marL="73152" marR="73152">
                    <a:solidFill>
                      <a:srgbClr val="EEF1F6"/>
                    </a:solidFill>
                  </a:tcPr>
                </a:tc>
                <a:tc>
                  <a:txBody>
                    <a:bodyPr/>
                    <a:lstStyle/>
                    <a:p>
                      <a:pPr algn="r"/>
                      <a:r>
                        <a:rPr sz="1300" b="0">
                          <a:solidFill>
                            <a:srgbClr val="1B1F27"/>
                          </a:solidFill>
                          <a:latin typeface="Calibri"/>
                        </a:rPr>
                        <a:t>-2.5</a:t>
                      </a:r>
                    </a:p>
                  </a:txBody>
                  <a:tcPr marL="73152" marR="73152">
                    <a:solidFill>
                      <a:srgbClr val="EEF1F6"/>
                    </a:solidFill>
                  </a:tcPr>
                </a:tc>
              </a:tr>
              <a:tr h="329184">
                <a:tc>
                  <a:txBody>
                    <a:bodyPr/>
                    <a:lstStyle/>
                    <a:p>
                      <a:pPr algn="l"/>
                      <a:r>
                        <a:rPr sz="1300" b="0">
                          <a:solidFill>
                            <a:srgbClr val="1B1F27"/>
                          </a:solidFill>
                          <a:latin typeface="Calibri"/>
                        </a:rPr>
                        <a:t>Out-of-sample</a:t>
                      </a:r>
                    </a:p>
                  </a:txBody>
                  <a:tcPr marL="73152" marR="73152">
                    <a:solidFill>
                      <a:srgbClr val="FFFFFF"/>
                    </a:solidFill>
                  </a:tcPr>
                </a:tc>
                <a:tc>
                  <a:txBody>
                    <a:bodyPr/>
                    <a:lstStyle/>
                    <a:p>
                      <a:pPr algn="r"/>
                      <a:r>
                        <a:rPr sz="1300" b="0">
                          <a:solidFill>
                            <a:srgbClr val="1B1F27"/>
                          </a:solidFill>
                          <a:latin typeface="Calibri"/>
                        </a:rPr>
                        <a:t>+3.1</a:t>
                      </a:r>
                    </a:p>
                  </a:txBody>
                  <a:tcPr marL="73152" marR="73152">
                    <a:solidFill>
                      <a:srgbClr val="FFFFFF"/>
                    </a:solidFill>
                  </a:tcPr>
                </a:tc>
                <a:tc>
                  <a:txBody>
                    <a:bodyPr/>
                    <a:lstStyle/>
                    <a:p>
                      <a:pPr algn="r"/>
                      <a:r>
                        <a:rPr sz="1300" b="0">
                          <a:solidFill>
                            <a:srgbClr val="1B1F27"/>
                          </a:solidFill>
                          <a:latin typeface="Calibri"/>
                        </a:rPr>
                        <a:t>+13.0</a:t>
                      </a:r>
                    </a:p>
                  </a:txBody>
                  <a:tcPr marL="73152" marR="73152">
                    <a:solidFill>
                      <a:srgbClr val="FFFFFF"/>
                    </a:solidFill>
                  </a:tcPr>
                </a:tc>
                <a:tc>
                  <a:txBody>
                    <a:bodyPr/>
                    <a:lstStyle/>
                    <a:p>
                      <a:pPr algn="r"/>
                      <a:r>
                        <a:rPr sz="1300" b="0">
                          <a:solidFill>
                            <a:srgbClr val="1B1F27"/>
                          </a:solidFill>
                          <a:latin typeface="Calibri"/>
                        </a:rPr>
                        <a:t>+13.9</a:t>
                      </a:r>
                    </a:p>
                  </a:txBody>
                  <a:tcPr marL="73152" marR="73152">
                    <a:solidFill>
                      <a:srgbClr val="FFFFFF"/>
                    </a:solidFill>
                  </a:tcPr>
                </a:tc>
              </a:tr>
            </a:tbl>
          </a:graphicData>
        </a:graphic>
      </p:graphicFrame>
      <p:sp>
        <p:nvSpPr>
          <p:cNvPr id="6" name="TextBox 5"/>
          <p:cNvSpPr txBox="1"/>
          <p:nvPr/>
        </p:nvSpPr>
        <p:spPr>
          <a:xfrm>
            <a:off x="548640" y="5257800"/>
            <a:ext cx="5394960" cy="1188720"/>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Total P&amp;L by coin, % pts: Solana +102, BNB +51, Avalanche +36; Terra -87, XRP -58, Dogecoin -43, FTX Token -13.</a:t>
            </a:r>
          </a:p>
        </p:txBody>
      </p:sp>
      <p:sp>
        <p:nvSpPr>
          <p:cNvPr id="7" name="TextBox 6"/>
          <p:cNvSpPr txBox="1"/>
          <p:nvPr/>
        </p:nvSpPr>
        <p:spPr>
          <a:xfrm>
            <a:off x="548640" y="5897880"/>
            <a:ext cx="5394960" cy="731520"/>
          </a:xfrm>
          <a:prstGeom prst="rect">
            <a:avLst/>
          </a:prstGeom>
          <a:noFill/>
        </p:spPr>
        <p:txBody>
          <a:bodyPr wrap="square" anchor="t" lIns="0" rIns="0" tIns="0" bIns="0">
            <a:spAutoFit/>
          </a:bodyPr>
          <a:lstStyle/>
          <a:p>
            <a:pPr algn="l">
              <a:spcAft>
                <a:spcPts val="600"/>
              </a:spcAft>
            </a:pPr>
            <a:r>
              <a:rPr sz="1200" b="1" i="0">
                <a:solidFill>
                  <a:srgbClr val="14213D"/>
                </a:solidFill>
                <a:latin typeface="Calibri"/>
              </a:rPr>
              <a:t>Robustness: all 6 lookback and rebalancing settings have a positive out-of-sample Sharpe (0.41 to 1.29); our pre-set choice is in the bottom half.</a:t>
            </a:r>
          </a:p>
        </p:txBody>
      </p:sp>
      <p:sp>
        <p:nvSpPr>
          <p:cNvPr id="8" name="Rounded Rectangle 7"/>
          <p:cNvSpPr/>
          <p:nvPr/>
        </p:nvSpPr>
        <p:spPr>
          <a:xfrm>
            <a:off x="6309360" y="3200400"/>
            <a:ext cx="5394960" cy="333756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37960" y="3364992"/>
            <a:ext cx="493776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Takeaways</a:t>
            </a:r>
          </a:p>
        </p:txBody>
      </p:sp>
      <p:sp>
        <p:nvSpPr>
          <p:cNvPr id="10" name="TextBox 9"/>
          <p:cNvSpPr txBox="1"/>
          <p:nvPr/>
        </p:nvSpPr>
        <p:spPr>
          <a:xfrm>
            <a:off x="6537960" y="3794760"/>
            <a:ext cx="4937760" cy="2606039"/>
          </a:xfrm>
          <a:prstGeom prst="rect">
            <a:avLst/>
          </a:prstGeom>
          <a:noFill/>
        </p:spPr>
        <p:txBody>
          <a:bodyPr wrap="square" anchor="t" lIns="0" rIns="0" tIns="0" bIns="0">
            <a:spAutoFit/>
          </a:bodyPr>
          <a:lstStyle/>
          <a:p>
            <a:pPr algn="l">
              <a:spcAft>
                <a:spcPts val="800"/>
              </a:spcAft>
            </a:pPr>
            <a:r>
              <a:rPr sz="1300" b="0" i="0">
                <a:solidFill>
                  <a:srgbClr val="1B1F27"/>
                </a:solidFill>
                <a:latin typeface="Calibri"/>
              </a:rPr>
              <a:t>•  Funding income is steady at about 8.5% a year, but price moves decide the result.</a:t>
            </a:r>
          </a:p>
          <a:p>
            <a:pPr algn="l">
              <a:spcAft>
                <a:spcPts val="800"/>
              </a:spcAft>
            </a:pPr>
            <a:r>
              <a:rPr sz="1300" b="1" i="0">
                <a:solidFill>
                  <a:srgbClr val="14213D"/>
                </a:solidFill>
                <a:latin typeface="Calibri"/>
              </a:rPr>
              <a:t>•  The strategy has no market exposure, since its beta to Bitcoin is -0.02.</a:t>
            </a:r>
          </a:p>
          <a:p>
            <a:pPr algn="l">
              <a:spcAft>
                <a:spcPts val="800"/>
              </a:spcAft>
            </a:pPr>
            <a:r>
              <a:rPr sz="1300" b="1" i="0">
                <a:solidFill>
                  <a:srgbClr val="14213D"/>
                </a:solidFill>
                <a:latin typeface="Calibri"/>
              </a:rPr>
              <a:t>•  Its losses come from single coins: Terra lost 87 points, XRP 58 and Dogecoin 43.</a:t>
            </a:r>
          </a:p>
          <a:p>
            <a:pPr algn="l">
              <a:spcAft>
                <a:spcPts val="800"/>
              </a:spcAft>
            </a:pPr>
            <a:r>
              <a:rPr sz="1300" b="0" i="0">
                <a:solidFill>
                  <a:srgbClr val="1B1F27"/>
                </a:solidFill>
                <a:latin typeface="Calibri"/>
              </a:rPr>
              <a:t>•  Our pre-set risk control lowered the Sharpe from 0.14 to -0.16, so it did not help.</a:t>
            </a:r>
          </a:p>
          <a:p>
            <a:pPr algn="l">
              <a:spcAft>
                <a:spcPts val="800"/>
              </a:spcAft>
            </a:pPr>
            <a:r>
              <a:rPr sz="1300" b="0" i="0">
                <a:solidFill>
                  <a:srgbClr val="1B1F27"/>
                </a:solidFill>
                <a:latin typeface="Calibri"/>
              </a:rPr>
              <a:t>•  Deeply negative funding signals crowded shorts, not a cheap coin.</a:t>
            </a:r>
          </a:p>
        </p:txBody>
      </p:sp>
      <p:sp>
        <p:nvSpPr>
          <p:cNvPr id="11" name="TextBox 10"/>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Combining FX and crypto carry</a:t>
            </a:r>
          </a:p>
        </p:txBody>
      </p:sp>
      <p:sp>
        <p:nvSpPr>
          <p:cNvPr id="3" name="TextBox 2"/>
          <p:cNvSpPr txBox="1"/>
          <p:nvPr/>
        </p:nvSpPr>
        <p:spPr>
          <a:xfrm>
            <a:off x="548640" y="1097280"/>
            <a:ext cx="10515600" cy="457200"/>
          </a:xfrm>
          <a:prstGeom prst="rect">
            <a:avLst/>
          </a:prstGeom>
          <a:noFill/>
        </p:spPr>
        <p:txBody>
          <a:bodyPr wrap="square" anchor="t" lIns="0" rIns="0" tIns="0" bIns="0">
            <a:spAutoFit/>
          </a:bodyPr>
          <a:lstStyle/>
          <a:p>
            <a:pPr algn="l">
              <a:spcAft>
                <a:spcPts val="600"/>
              </a:spcAft>
            </a:pPr>
            <a:r>
              <a:rPr sz="1600" b="0" i="0">
                <a:solidFill>
                  <a:srgbClr val="5C677D"/>
                </a:solidFill>
                <a:latin typeface="Calibri"/>
              </a:rPr>
              <a:t>Each scaled to 10% vol with lagged volatility, 50/50, 2021–2026</a:t>
            </a:r>
          </a:p>
        </p:txBody>
      </p:sp>
      <p:pic>
        <p:nvPicPr>
          <p:cNvPr id="4" name="Picture 3" descr="comb.png"/>
          <p:cNvPicPr>
            <a:picLocks noChangeAspect="1"/>
          </p:cNvPicPr>
          <p:nvPr/>
        </p:nvPicPr>
        <p:blipFill>
          <a:blip r:embed="rId2"/>
          <a:stretch>
            <a:fillRect/>
          </a:stretch>
        </p:blipFill>
        <p:spPr>
          <a:xfrm>
            <a:off x="457200" y="1600200"/>
            <a:ext cx="6035040" cy="3319272"/>
          </a:xfrm>
          <a:prstGeom prst="rect">
            <a:avLst/>
          </a:prstGeom>
        </p:spPr>
      </p:pic>
      <p:graphicFrame>
        <p:nvGraphicFramePr>
          <p:cNvPr id="5" name="Table 4"/>
          <p:cNvGraphicFramePr>
            <a:graphicFrameLocks noGrp="1"/>
          </p:cNvGraphicFramePr>
          <p:nvPr/>
        </p:nvGraphicFramePr>
        <p:xfrm>
          <a:off x="548640" y="4937760"/>
          <a:ext cx="5852160" cy="1243584"/>
        </p:xfrm>
        <a:graphic>
          <a:graphicData uri="http://schemas.openxmlformats.org/drawingml/2006/table">
            <a:tbl>
              <a:tblPr firstRow="1" bandRow="1">
                <a:tableStyleId>{5C22544A-7EE6-4342-B048-85BDC9FD1C3A}</a:tableStyleId>
              </a:tblPr>
              <a:tblGrid>
                <a:gridCol w="1463040"/>
                <a:gridCol w="822960"/>
                <a:gridCol w="822960"/>
                <a:gridCol w="1188720"/>
                <a:gridCol w="1554480"/>
              </a:tblGrid>
              <a:tr h="310896">
                <a:tc>
                  <a:txBody>
                    <a:bodyPr/>
                    <a:lstStyle/>
                    <a:p>
                      <a:pPr algn="l"/>
                      <a:r>
                        <a:rPr sz="1200" b="1">
                          <a:solidFill>
                            <a:srgbClr val="FFFFFF"/>
                          </a:solidFill>
                          <a:latin typeface="Calibri"/>
                        </a:rPr>
                        <a:t/>
                      </a:r>
                    </a:p>
                  </a:txBody>
                  <a:tcPr marL="73152" marR="73152">
                    <a:solidFill>
                      <a:srgbClr val="14213D"/>
                    </a:solidFill>
                  </a:tcPr>
                </a:tc>
                <a:tc>
                  <a:txBody>
                    <a:bodyPr/>
                    <a:lstStyle/>
                    <a:p>
                      <a:pPr algn="r"/>
                      <a:r>
                        <a:rPr sz="1200" b="1">
                          <a:solidFill>
                            <a:srgbClr val="FFFFFF"/>
                          </a:solidFill>
                          <a:latin typeface="Calibri"/>
                        </a:rPr>
                        <a:t>Sharpe</a:t>
                      </a:r>
                    </a:p>
                  </a:txBody>
                  <a:tcPr marL="73152" marR="73152">
                    <a:solidFill>
                      <a:srgbClr val="14213D"/>
                    </a:solidFill>
                  </a:tcPr>
                </a:tc>
                <a:tc>
                  <a:txBody>
                    <a:bodyPr/>
                    <a:lstStyle/>
                    <a:p>
                      <a:pPr algn="r"/>
                      <a:r>
                        <a:rPr sz="1200" b="1">
                          <a:solidFill>
                            <a:srgbClr val="FFFFFF"/>
                          </a:solidFill>
                          <a:latin typeface="Calibri"/>
                        </a:rPr>
                        <a:t>Vol (%)</a:t>
                      </a:r>
                    </a:p>
                  </a:txBody>
                  <a:tcPr marL="73152" marR="73152">
                    <a:solidFill>
                      <a:srgbClr val="14213D"/>
                    </a:solidFill>
                  </a:tcPr>
                </a:tc>
                <a:tc>
                  <a:txBody>
                    <a:bodyPr/>
                    <a:lstStyle/>
                    <a:p>
                      <a:pPr algn="r"/>
                      <a:r>
                        <a:rPr sz="1200" b="1">
                          <a:solidFill>
                            <a:srgbClr val="FFFFFF"/>
                          </a:solidFill>
                          <a:latin typeface="Calibri"/>
                        </a:rPr>
                        <a:t>Max DD (%)</a:t>
                      </a:r>
                    </a:p>
                  </a:txBody>
                  <a:tcPr marL="73152" marR="73152">
                    <a:solidFill>
                      <a:srgbClr val="14213D"/>
                    </a:solidFill>
                  </a:tcPr>
                </a:tc>
                <a:tc>
                  <a:txBody>
                    <a:bodyPr/>
                    <a:lstStyle/>
                    <a:p>
                      <a:pPr algn="r"/>
                      <a:r>
                        <a:rPr sz="1200" b="1">
                          <a:solidFill>
                            <a:srgbClr val="FFFFFF"/>
                          </a:solidFill>
                          <a:latin typeface="Calibri"/>
                        </a:rPr>
                        <a:t>Worst month (%)</a:t>
                      </a:r>
                    </a:p>
                  </a:txBody>
                  <a:tcPr marL="73152" marR="73152">
                    <a:solidFill>
                      <a:srgbClr val="14213D"/>
                    </a:solidFill>
                  </a:tcPr>
                </a:tc>
              </a:tr>
              <a:tr h="310896">
                <a:tc>
                  <a:txBody>
                    <a:bodyPr/>
                    <a:lstStyle/>
                    <a:p>
                      <a:pPr algn="l"/>
                      <a:r>
                        <a:rPr sz="1200" b="0">
                          <a:solidFill>
                            <a:srgbClr val="1B1F27"/>
                          </a:solidFill>
                          <a:latin typeface="Calibri"/>
                        </a:rPr>
                        <a:t>A</a:t>
                      </a:r>
                    </a:p>
                  </a:txBody>
                  <a:tcPr marL="73152" marR="73152">
                    <a:solidFill>
                      <a:srgbClr val="FFFFFF"/>
                    </a:solidFill>
                  </a:tcPr>
                </a:tc>
                <a:tc>
                  <a:txBody>
                    <a:bodyPr/>
                    <a:lstStyle/>
                    <a:p>
                      <a:pPr algn="r"/>
                      <a:r>
                        <a:rPr sz="1200" b="0">
                          <a:solidFill>
                            <a:srgbClr val="1B1F27"/>
                          </a:solidFill>
                          <a:latin typeface="Calibri"/>
                        </a:rPr>
                        <a:t>0.71</a:t>
                      </a:r>
                    </a:p>
                  </a:txBody>
                  <a:tcPr marL="73152" marR="73152">
                    <a:solidFill>
                      <a:srgbClr val="FFFFFF"/>
                    </a:solidFill>
                  </a:tcPr>
                </a:tc>
                <a:tc>
                  <a:txBody>
                    <a:bodyPr/>
                    <a:lstStyle/>
                    <a:p>
                      <a:pPr algn="r"/>
                      <a:r>
                        <a:rPr sz="1200" b="0">
                          <a:solidFill>
                            <a:srgbClr val="1B1F27"/>
                          </a:solidFill>
                          <a:latin typeface="Calibri"/>
                        </a:rPr>
                        <a:t>9.4</a:t>
                      </a:r>
                    </a:p>
                  </a:txBody>
                  <a:tcPr marL="73152" marR="73152">
                    <a:solidFill>
                      <a:srgbClr val="FFFFFF"/>
                    </a:solidFill>
                  </a:tcPr>
                </a:tc>
                <a:tc>
                  <a:txBody>
                    <a:bodyPr/>
                    <a:lstStyle/>
                    <a:p>
                      <a:pPr algn="r"/>
                      <a:r>
                        <a:rPr sz="1200" b="0">
                          <a:solidFill>
                            <a:srgbClr val="1B1F27"/>
                          </a:solidFill>
                          <a:latin typeface="Calibri"/>
                        </a:rPr>
                        <a:t>-11</a:t>
                      </a:r>
                    </a:p>
                  </a:txBody>
                  <a:tcPr marL="73152" marR="73152">
                    <a:solidFill>
                      <a:srgbClr val="FFFFFF"/>
                    </a:solidFill>
                  </a:tcPr>
                </a:tc>
                <a:tc>
                  <a:txBody>
                    <a:bodyPr/>
                    <a:lstStyle/>
                    <a:p>
                      <a:pPr algn="r"/>
                      <a:r>
                        <a:rPr sz="1200" b="0">
                          <a:solidFill>
                            <a:srgbClr val="1B1F27"/>
                          </a:solidFill>
                          <a:latin typeface="Calibri"/>
                        </a:rPr>
                        <a:t>-7.4</a:t>
                      </a:r>
                    </a:p>
                  </a:txBody>
                  <a:tcPr marL="73152" marR="73152">
                    <a:solidFill>
                      <a:srgbClr val="FFFFFF"/>
                    </a:solidFill>
                  </a:tcPr>
                </a:tc>
              </a:tr>
              <a:tr h="310896">
                <a:tc>
                  <a:txBody>
                    <a:bodyPr/>
                    <a:lstStyle/>
                    <a:p>
                      <a:pPr algn="l"/>
                      <a:r>
                        <a:rPr sz="1200" b="0">
                          <a:solidFill>
                            <a:srgbClr val="1B1F27"/>
                          </a:solidFill>
                          <a:latin typeface="Calibri"/>
                        </a:rPr>
                        <a:t>C</a:t>
                      </a:r>
                    </a:p>
                  </a:txBody>
                  <a:tcPr marL="73152" marR="73152">
                    <a:solidFill>
                      <a:srgbClr val="EEF1F6"/>
                    </a:solidFill>
                  </a:tcPr>
                </a:tc>
                <a:tc>
                  <a:txBody>
                    <a:bodyPr/>
                    <a:lstStyle/>
                    <a:p>
                      <a:pPr algn="r"/>
                      <a:r>
                        <a:rPr sz="1200" b="0">
                          <a:solidFill>
                            <a:srgbClr val="1B1F27"/>
                          </a:solidFill>
                          <a:latin typeface="Calibri"/>
                        </a:rPr>
                        <a:t>0.05</a:t>
                      </a:r>
                    </a:p>
                  </a:txBody>
                  <a:tcPr marL="73152" marR="73152">
                    <a:solidFill>
                      <a:srgbClr val="EEF1F6"/>
                    </a:solidFill>
                  </a:tcPr>
                </a:tc>
                <a:tc>
                  <a:txBody>
                    <a:bodyPr/>
                    <a:lstStyle/>
                    <a:p>
                      <a:pPr algn="r"/>
                      <a:r>
                        <a:rPr sz="1200" b="0">
                          <a:solidFill>
                            <a:srgbClr val="1B1F27"/>
                          </a:solidFill>
                          <a:latin typeface="Calibri"/>
                        </a:rPr>
                        <a:t>9.3</a:t>
                      </a:r>
                    </a:p>
                  </a:txBody>
                  <a:tcPr marL="73152" marR="73152">
                    <a:solidFill>
                      <a:srgbClr val="EEF1F6"/>
                    </a:solidFill>
                  </a:tcPr>
                </a:tc>
                <a:tc>
                  <a:txBody>
                    <a:bodyPr/>
                    <a:lstStyle/>
                    <a:p>
                      <a:pPr algn="r"/>
                      <a:r>
                        <a:rPr sz="1200" b="0">
                          <a:solidFill>
                            <a:srgbClr val="1B1F27"/>
                          </a:solidFill>
                          <a:latin typeface="Calibri"/>
                        </a:rPr>
                        <a:t>-21</a:t>
                      </a:r>
                    </a:p>
                  </a:txBody>
                  <a:tcPr marL="73152" marR="73152">
                    <a:solidFill>
                      <a:srgbClr val="EEF1F6"/>
                    </a:solidFill>
                  </a:tcPr>
                </a:tc>
                <a:tc>
                  <a:txBody>
                    <a:bodyPr/>
                    <a:lstStyle/>
                    <a:p>
                      <a:pPr algn="r"/>
                      <a:r>
                        <a:rPr sz="1200" b="0">
                          <a:solidFill>
                            <a:srgbClr val="1B1F27"/>
                          </a:solidFill>
                          <a:latin typeface="Calibri"/>
                        </a:rPr>
                        <a:t>-10.2</a:t>
                      </a:r>
                    </a:p>
                  </a:txBody>
                  <a:tcPr marL="73152" marR="73152">
                    <a:solidFill>
                      <a:srgbClr val="EEF1F6"/>
                    </a:solidFill>
                  </a:tcPr>
                </a:tc>
              </a:tr>
              <a:tr h="310896">
                <a:tc>
                  <a:txBody>
                    <a:bodyPr/>
                    <a:lstStyle/>
                    <a:p>
                      <a:pPr algn="l"/>
                      <a:r>
                        <a:rPr sz="1200" b="0">
                          <a:solidFill>
                            <a:srgbClr val="1B1F27"/>
                          </a:solidFill>
                          <a:latin typeface="Calibri"/>
                        </a:rPr>
                        <a:t>Combined 50/50</a:t>
                      </a:r>
                    </a:p>
                  </a:txBody>
                  <a:tcPr marL="73152" marR="73152">
                    <a:solidFill>
                      <a:srgbClr val="FFFFFF"/>
                    </a:solidFill>
                  </a:tcPr>
                </a:tc>
                <a:tc>
                  <a:txBody>
                    <a:bodyPr/>
                    <a:lstStyle/>
                    <a:p>
                      <a:pPr algn="r"/>
                      <a:r>
                        <a:rPr sz="1200" b="0">
                          <a:solidFill>
                            <a:srgbClr val="1B1F27"/>
                          </a:solidFill>
                          <a:latin typeface="Calibri"/>
                        </a:rPr>
                        <a:t>0.51</a:t>
                      </a:r>
                    </a:p>
                  </a:txBody>
                  <a:tcPr marL="73152" marR="73152">
                    <a:solidFill>
                      <a:srgbClr val="FFFFFF"/>
                    </a:solidFill>
                  </a:tcPr>
                </a:tc>
                <a:tc>
                  <a:txBody>
                    <a:bodyPr/>
                    <a:lstStyle/>
                    <a:p>
                      <a:pPr algn="r"/>
                      <a:r>
                        <a:rPr sz="1200" b="0">
                          <a:solidFill>
                            <a:srgbClr val="1B1F27"/>
                          </a:solidFill>
                          <a:latin typeface="Calibri"/>
                        </a:rPr>
                        <a:t>7.0</a:t>
                      </a:r>
                    </a:p>
                  </a:txBody>
                  <a:tcPr marL="73152" marR="73152">
                    <a:solidFill>
                      <a:srgbClr val="FFFFFF"/>
                    </a:solidFill>
                  </a:tcPr>
                </a:tc>
                <a:tc>
                  <a:txBody>
                    <a:bodyPr/>
                    <a:lstStyle/>
                    <a:p>
                      <a:pPr algn="r"/>
                      <a:r>
                        <a:rPr sz="1200" b="0">
                          <a:solidFill>
                            <a:srgbClr val="1B1F27"/>
                          </a:solidFill>
                          <a:latin typeface="Calibri"/>
                        </a:rPr>
                        <a:t>-11</a:t>
                      </a:r>
                    </a:p>
                  </a:txBody>
                  <a:tcPr marL="73152" marR="73152">
                    <a:solidFill>
                      <a:srgbClr val="FFFFFF"/>
                    </a:solidFill>
                  </a:tcPr>
                </a:tc>
                <a:tc>
                  <a:txBody>
                    <a:bodyPr/>
                    <a:lstStyle/>
                    <a:p>
                      <a:pPr algn="r"/>
                      <a:r>
                        <a:rPr sz="1200" b="0">
                          <a:solidFill>
                            <a:srgbClr val="1B1F27"/>
                          </a:solidFill>
                          <a:latin typeface="Calibri"/>
                        </a:rPr>
                        <a:t>-5.9</a:t>
                      </a:r>
                    </a:p>
                  </a:txBody>
                  <a:tcPr marL="73152" marR="73152">
                    <a:solidFill>
                      <a:srgbClr val="FFFFFF"/>
                    </a:solidFill>
                  </a:tcPr>
                </a:tc>
              </a:tr>
            </a:tbl>
          </a:graphicData>
        </a:graphic>
      </p:graphicFrame>
      <p:sp>
        <p:nvSpPr>
          <p:cNvPr id="6" name="Rounded Rectangle 5"/>
          <p:cNvSpPr/>
          <p:nvPr/>
        </p:nvSpPr>
        <p:spPr>
          <a:xfrm>
            <a:off x="6858000" y="1645920"/>
            <a:ext cx="4800600" cy="128016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086600" y="1810512"/>
            <a:ext cx="4343400" cy="685800"/>
          </a:xfrm>
          <a:prstGeom prst="rect">
            <a:avLst/>
          </a:prstGeom>
          <a:noFill/>
        </p:spPr>
        <p:txBody>
          <a:bodyPr wrap="square" anchor="t" lIns="0" rIns="0" tIns="0" bIns="0">
            <a:spAutoFit/>
          </a:bodyPr>
          <a:lstStyle/>
          <a:p>
            <a:pPr algn="l">
              <a:spcAft>
                <a:spcPts val="600"/>
              </a:spcAft>
            </a:pPr>
            <a:r>
              <a:rPr sz="3400" b="1" i="0">
                <a:solidFill>
                  <a:srgbClr val="14213D"/>
                </a:solidFill>
                <a:latin typeface="Cambria"/>
              </a:rPr>
              <a:t>0.11</a:t>
            </a:r>
          </a:p>
        </p:txBody>
      </p:sp>
      <p:sp>
        <p:nvSpPr>
          <p:cNvPr id="8" name="TextBox 7"/>
          <p:cNvSpPr txBox="1"/>
          <p:nvPr/>
        </p:nvSpPr>
        <p:spPr>
          <a:xfrm>
            <a:off x="7086600" y="2487168"/>
            <a:ext cx="4343400" cy="365759"/>
          </a:xfrm>
          <a:prstGeom prst="rect">
            <a:avLst/>
          </a:prstGeom>
          <a:noFill/>
        </p:spPr>
        <p:txBody>
          <a:bodyPr wrap="square" anchor="t" lIns="0" rIns="0" tIns="0" bIns="0">
            <a:spAutoFit/>
          </a:bodyPr>
          <a:lstStyle/>
          <a:p>
            <a:pPr algn="l">
              <a:spcAft>
                <a:spcPts val="600"/>
              </a:spcAft>
            </a:pPr>
            <a:r>
              <a:rPr sz="1200" b="0" i="0">
                <a:solidFill>
                  <a:srgbClr val="5C677D"/>
                </a:solidFill>
                <a:latin typeface="Calibri"/>
              </a:rPr>
              <a:t>Correlation between A and C, monthly, 2021–2026</a:t>
            </a:r>
          </a:p>
        </p:txBody>
      </p:sp>
      <p:sp>
        <p:nvSpPr>
          <p:cNvPr id="9" name="Rounded Rectangle 8"/>
          <p:cNvSpPr/>
          <p:nvPr/>
        </p:nvSpPr>
        <p:spPr>
          <a:xfrm>
            <a:off x="6858000" y="3108960"/>
            <a:ext cx="4800600" cy="3429000"/>
          </a:xfrm>
          <a:prstGeom prst="roundRect">
            <a:avLst>
              <a:gd name="adj" fmla="val 8000"/>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86600" y="3273552"/>
            <a:ext cx="4343400" cy="365760"/>
          </a:xfrm>
          <a:prstGeom prst="rect">
            <a:avLst/>
          </a:prstGeom>
          <a:noFill/>
        </p:spPr>
        <p:txBody>
          <a:bodyPr wrap="square" anchor="t" lIns="0" rIns="0" tIns="0" bIns="0">
            <a:spAutoFit/>
          </a:bodyPr>
          <a:lstStyle/>
          <a:p>
            <a:pPr algn="l">
              <a:spcAft>
                <a:spcPts val="600"/>
              </a:spcAft>
            </a:pPr>
            <a:r>
              <a:rPr sz="1600" b="1" i="0">
                <a:solidFill>
                  <a:srgbClr val="14213D"/>
                </a:solidFill>
                <a:latin typeface="Calibri"/>
              </a:rPr>
              <a:t>Takeaways</a:t>
            </a:r>
          </a:p>
        </p:txBody>
      </p:sp>
      <p:sp>
        <p:nvSpPr>
          <p:cNvPr id="11" name="TextBox 10"/>
          <p:cNvSpPr txBox="1"/>
          <p:nvPr/>
        </p:nvSpPr>
        <p:spPr>
          <a:xfrm>
            <a:off x="7086600" y="3703320"/>
            <a:ext cx="4343400" cy="2697480"/>
          </a:xfrm>
          <a:prstGeom prst="rect">
            <a:avLst/>
          </a:prstGeom>
          <a:noFill/>
        </p:spPr>
        <p:txBody>
          <a:bodyPr wrap="square" anchor="t" lIns="0" rIns="0" tIns="0" bIns="0">
            <a:spAutoFit/>
          </a:bodyPr>
          <a:lstStyle/>
          <a:p>
            <a:pPr algn="l">
              <a:spcAft>
                <a:spcPts val="800"/>
              </a:spcAft>
            </a:pPr>
            <a:r>
              <a:rPr sz="1300" b="0" i="0">
                <a:solidFill>
                  <a:srgbClr val="1B1F27"/>
                </a:solidFill>
                <a:latin typeface="Calibri"/>
              </a:rPr>
              <a:t>•  FX carry and crypto carry are almost uncorrelated, so they crash at different times.</a:t>
            </a:r>
          </a:p>
          <a:p>
            <a:pPr algn="l">
              <a:spcAft>
                <a:spcPts val="800"/>
              </a:spcAft>
            </a:pPr>
            <a:r>
              <a:rPr sz="1300" b="0" i="0">
                <a:solidFill>
                  <a:srgbClr val="1B1F27"/>
                </a:solidFill>
                <a:latin typeface="Calibri"/>
              </a:rPr>
              <a:t>•  The 50/50 mix has 7.0% volatility, compared with about 9% for each strategy alone.</a:t>
            </a:r>
          </a:p>
          <a:p>
            <a:pPr algn="l">
              <a:spcAft>
                <a:spcPts val="800"/>
              </a:spcAft>
            </a:pPr>
            <a:r>
              <a:rPr sz="1300" b="0" i="0">
                <a:solidFill>
                  <a:srgbClr val="1B1F27"/>
                </a:solidFill>
                <a:latin typeface="Calibri"/>
              </a:rPr>
              <a:t>•  Its worst month is -5.9%, smaller than for FX (-7.4%) or crypto (-10.2%).</a:t>
            </a:r>
          </a:p>
          <a:p>
            <a:pPr algn="l">
              <a:spcAft>
                <a:spcPts val="800"/>
              </a:spcAft>
            </a:pPr>
            <a:r>
              <a:rPr sz="1300" b="0" i="0">
                <a:solidFill>
                  <a:srgbClr val="1B1F27"/>
                </a:solidFill>
                <a:latin typeface="Calibri"/>
              </a:rPr>
              <a:t>•  The mix does not beat FX alone on Sharpe (0.51 vs 0.71), because crypto carry was weak in this window.</a:t>
            </a:r>
          </a:p>
        </p:txBody>
      </p:sp>
      <p:sp>
        <p:nvSpPr>
          <p:cNvPr id="12" name="TextBox 11"/>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5C677D"/>
                </a:solidFill>
                <a:latin typeface="Calibri"/>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13D"/>
        </a:solidFill>
        <a:effectLst/>
      </p:bgPr>
    </p:bg>
    <p:spTree>
      <p:nvGrpSpPr>
        <p:cNvPr id="1" name=""/>
        <p:cNvGrpSpPr/>
        <p:nvPr/>
      </p:nvGrpSpPr>
      <p:grpSpPr/>
      <p:sp>
        <p:nvSpPr>
          <p:cNvPr id="2" name="TextBox 1"/>
          <p:cNvSpPr txBox="1"/>
          <p:nvPr/>
        </p:nvSpPr>
        <p:spPr>
          <a:xfrm>
            <a:off x="548640" y="411480"/>
            <a:ext cx="11064240" cy="731520"/>
          </a:xfrm>
          <a:prstGeom prst="rect">
            <a:avLst/>
          </a:prstGeom>
          <a:noFill/>
        </p:spPr>
        <p:txBody>
          <a:bodyPr wrap="square" anchor="t" lIns="0" rIns="0" tIns="0" bIns="0">
            <a:spAutoFit/>
          </a:bodyPr>
          <a:lstStyle/>
          <a:p>
            <a:pPr algn="l">
              <a:spcAft>
                <a:spcPts val="600"/>
              </a:spcAft>
            </a:pPr>
            <a:r>
              <a:rPr sz="3400" b="1" i="0">
                <a:solidFill>
                  <a:srgbClr val="FFFFFF"/>
                </a:solidFill>
                <a:latin typeface="Cambria"/>
              </a:rPr>
              <a:t>Conclusions and limitations</a:t>
            </a:r>
          </a:p>
        </p:txBody>
      </p:sp>
      <p:sp>
        <p:nvSpPr>
          <p:cNvPr id="3" name="Rounded Rectangle 2"/>
          <p:cNvSpPr/>
          <p:nvPr/>
        </p:nvSpPr>
        <p:spPr>
          <a:xfrm>
            <a:off x="548640" y="1188720"/>
            <a:ext cx="11109960" cy="1691640"/>
          </a:xfrm>
          <a:prstGeom prst="roundRect">
            <a:avLst>
              <a:gd name="adj" fmla="val 8000"/>
            </a:avLst>
          </a:prstGeom>
          <a:solidFill>
            <a:srgbClr val="2233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280160"/>
            <a:ext cx="10698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Our question: do carry trades crash when they are crowded?</a:t>
            </a:r>
          </a:p>
        </p:txBody>
      </p:sp>
      <p:sp>
        <p:nvSpPr>
          <p:cNvPr id="5" name="TextBox 4"/>
          <p:cNvSpPr txBox="1"/>
          <p:nvPr/>
        </p:nvSpPr>
        <p:spPr>
          <a:xfrm>
            <a:off x="777240" y="1600200"/>
            <a:ext cx="10698480" cy="320040"/>
          </a:xfrm>
          <a:prstGeom prst="rect">
            <a:avLst/>
          </a:prstGeom>
          <a:noFill/>
        </p:spPr>
        <p:txBody>
          <a:bodyPr wrap="square" anchor="t" lIns="0" rIns="0" tIns="0" bIns="0">
            <a:spAutoFit/>
          </a:bodyPr>
          <a:lstStyle/>
          <a:p>
            <a:pPr algn="l">
              <a:spcAft>
                <a:spcPts val="600"/>
              </a:spcAft>
            </a:pPr>
            <a:r>
              <a:rPr sz="1400" b="1" i="0">
                <a:solidFill>
                  <a:srgbClr val="FFFFFF"/>
                </a:solidFill>
                <a:latin typeface="Calibri"/>
              </a:rPr>
              <a:t>Short answer: partly yes. Crowding makes carry weaker, but it doesn't predict the biggest crashes.</a:t>
            </a:r>
          </a:p>
        </p:txBody>
      </p:sp>
      <p:sp>
        <p:nvSpPr>
          <p:cNvPr id="6" name="TextBox 5"/>
          <p:cNvSpPr txBox="1"/>
          <p:nvPr/>
        </p:nvSpPr>
        <p:spPr>
          <a:xfrm>
            <a:off x="777240" y="1965960"/>
            <a:ext cx="10698480" cy="914400"/>
          </a:xfrm>
          <a:prstGeom prst="rect">
            <a:avLst/>
          </a:prstGeom>
          <a:noFill/>
        </p:spPr>
        <p:txBody>
          <a:bodyPr wrap="square" anchor="t" lIns="0" rIns="0" tIns="0" bIns="0">
            <a:spAutoFit/>
          </a:bodyPr>
          <a:lstStyle/>
          <a:p>
            <a:pPr algn="l">
              <a:spcAft>
                <a:spcPts val="400"/>
              </a:spcAft>
            </a:pPr>
            <a:r>
              <a:rPr sz="1300" b="0" i="0">
                <a:solidFill>
                  <a:srgbClr val="FFFFFF"/>
                </a:solidFill>
                <a:latin typeface="Calibri"/>
              </a:rPr>
              <a:t>•  FX: carry crashes are compensation for risk, and crowding is a modest warning sign, not a reliable crash predictor.</a:t>
            </a:r>
          </a:p>
          <a:p>
            <a:pPr algn="l">
              <a:spcAft>
                <a:spcPts val="400"/>
              </a:spcAft>
            </a:pPr>
            <a:r>
              <a:rPr sz="1300" b="0" i="0">
                <a:solidFill>
                  <a:srgbClr val="FFFFFF"/>
                </a:solidFill>
                <a:latin typeface="Calibri"/>
              </a:rPr>
              <a:t>•  Crypto: carry also earns a premium and also crashes, but the crashes come from single coins, mostly being long a coin that traders are crowding to short, so crowding tells you where the danger is rather than when it will hit.</a:t>
            </a:r>
          </a:p>
        </p:txBody>
      </p:sp>
      <p:sp>
        <p:nvSpPr>
          <p:cNvPr id="7" name="TextBox 6"/>
          <p:cNvSpPr txBox="1"/>
          <p:nvPr/>
        </p:nvSpPr>
        <p:spPr>
          <a:xfrm>
            <a:off x="548640" y="3017520"/>
            <a:ext cx="676656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Hypotheses: verdict and evidence</a:t>
            </a:r>
          </a:p>
        </p:txBody>
      </p:sp>
      <p:graphicFrame>
        <p:nvGraphicFramePr>
          <p:cNvPr id="8" name="Table 7"/>
          <p:cNvGraphicFramePr>
            <a:graphicFrameLocks noGrp="1"/>
          </p:cNvGraphicFramePr>
          <p:nvPr/>
        </p:nvGraphicFramePr>
        <p:xfrm>
          <a:off x="548640" y="3383280"/>
          <a:ext cx="6949440" cy="3072384"/>
        </p:xfrm>
        <a:graphic>
          <a:graphicData uri="http://schemas.openxmlformats.org/drawingml/2006/table">
            <a:tbl>
              <a:tblPr firstRow="1" bandRow="1">
                <a:tableStyleId>{5C22544A-7EE6-4342-B048-85BDC9FD1C3A}</a:tableStyleId>
              </a:tblPr>
              <a:tblGrid>
                <a:gridCol w="2514600"/>
                <a:gridCol w="1143000"/>
                <a:gridCol w="3291840"/>
              </a:tblGrid>
              <a:tr h="384048">
                <a:tc>
                  <a:txBody>
                    <a:bodyPr/>
                    <a:lstStyle/>
                    <a:p>
                      <a:pPr algn="l"/>
                      <a:r>
                        <a:rPr sz="1000" b="1">
                          <a:solidFill>
                            <a:srgbClr val="FFFFFF"/>
                          </a:solidFill>
                          <a:latin typeface="Calibri"/>
                        </a:rPr>
                        <a:t>Hypothesis</a:t>
                      </a:r>
                    </a:p>
                  </a:txBody>
                  <a:tcPr marL="73152" marR="73152">
                    <a:solidFill>
                      <a:srgbClr val="14213D"/>
                    </a:solidFill>
                  </a:tcPr>
                </a:tc>
                <a:tc>
                  <a:txBody>
                    <a:bodyPr/>
                    <a:lstStyle/>
                    <a:p>
                      <a:pPr algn="l"/>
                      <a:r>
                        <a:rPr sz="1000" b="1">
                          <a:solidFill>
                            <a:srgbClr val="FFFFFF"/>
                          </a:solidFill>
                          <a:latin typeface="Calibri"/>
                        </a:rPr>
                        <a:t>Verdict</a:t>
                      </a:r>
                    </a:p>
                  </a:txBody>
                  <a:tcPr marL="73152" marR="73152">
                    <a:solidFill>
                      <a:srgbClr val="14213D"/>
                    </a:solidFill>
                  </a:tcPr>
                </a:tc>
                <a:tc>
                  <a:txBody>
                    <a:bodyPr/>
                    <a:lstStyle/>
                    <a:p>
                      <a:pPr algn="l"/>
                      <a:r>
                        <a:rPr sz="1000" b="1">
                          <a:solidFill>
                            <a:srgbClr val="FFFFFF"/>
                          </a:solidFill>
                          <a:latin typeface="Calibri"/>
                        </a:rPr>
                        <a:t>Evidence</a:t>
                      </a:r>
                    </a:p>
                  </a:txBody>
                  <a:tcPr marL="73152" marR="73152">
                    <a:solidFill>
                      <a:srgbClr val="14213D"/>
                    </a:solidFill>
                  </a:tcPr>
                </a:tc>
              </a:tr>
              <a:tr h="384048">
                <a:tc>
                  <a:txBody>
                    <a:bodyPr/>
                    <a:lstStyle/>
                    <a:p>
                      <a:pPr algn="l"/>
                      <a:r>
                        <a:rPr sz="1000" b="0">
                          <a:solidFill>
                            <a:srgbClr val="1B1F27"/>
                          </a:solidFill>
                          <a:latin typeface="Calibri"/>
                        </a:rPr>
                        <a:t>A1: G10 carry earns a premium</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Net Sharpe 0.37; 0.82 correlation with LRV</a:t>
                      </a:r>
                    </a:p>
                  </a:txBody>
                  <a:tcPr marL="73152" marR="73152">
                    <a:solidFill>
                      <a:srgbClr val="FFFFFF"/>
                    </a:solidFill>
                  </a:tcPr>
                </a:tc>
              </a:tr>
              <a:tr h="384048">
                <a:tc>
                  <a:txBody>
                    <a:bodyPr/>
                    <a:lstStyle/>
                    <a:p>
                      <a:pPr algn="l"/>
                      <a:r>
                        <a:rPr sz="1000" b="0">
                          <a:solidFill>
                            <a:srgbClr val="1B1F27"/>
                          </a:solidFill>
                          <a:latin typeface="Calibri"/>
                        </a:rPr>
                        <a:t>A2: crowding predicts weaker carry</a:t>
                      </a:r>
                    </a:p>
                  </a:txBody>
                  <a:tcPr marL="73152" marR="73152">
                    <a:solidFill>
                      <a:srgbClr val="EEF1F6"/>
                    </a:solidFill>
                  </a:tcPr>
                </a:tc>
                <a:tc>
                  <a:txBody>
                    <a:bodyPr/>
                    <a:lstStyle/>
                    <a:p>
                      <a:pPr algn="l"/>
                      <a:r>
                        <a:rPr sz="1000" b="1">
                          <a:solidFill>
                            <a:srgbClr val="B7700C"/>
                          </a:solidFill>
                          <a:latin typeface="Calibri"/>
                        </a:rPr>
                        <a:t>Leaning yes</a:t>
                      </a:r>
                    </a:p>
                  </a:txBody>
                  <a:tcPr marL="73152" marR="73152">
                    <a:solidFill>
                      <a:srgbClr val="EEF1F6"/>
                    </a:solidFill>
                  </a:tcPr>
                </a:tc>
                <a:tc>
                  <a:txBody>
                    <a:bodyPr/>
                    <a:lstStyle/>
                    <a:p>
                      <a:pPr algn="l"/>
                      <a:r>
                        <a:rPr sz="1000" b="0">
                          <a:solidFill>
                            <a:srgbClr val="1B1F27"/>
                          </a:solidFill>
                          <a:latin typeface="Calibri"/>
                        </a:rPr>
                        <a:t>0.02% vs 0.30% next month; OOS Sharpe 0.27 → 0.32; missed 2008</a:t>
                      </a:r>
                    </a:p>
                  </a:txBody>
                  <a:tcPr marL="73152" marR="73152">
                    <a:solidFill>
                      <a:srgbClr val="EEF1F6"/>
                    </a:solidFill>
                  </a:tcPr>
                </a:tc>
              </a:tr>
              <a:tr h="384048">
                <a:tc>
                  <a:txBody>
                    <a:bodyPr/>
                    <a:lstStyle/>
                    <a:p>
                      <a:pPr algn="l"/>
                      <a:r>
                        <a:rPr sz="1000" b="0">
                          <a:solidFill>
                            <a:srgbClr val="1B1F27"/>
                          </a:solidFill>
                          <a:latin typeface="Calibri"/>
                        </a:rPr>
                        <a:t>A3: carry loses in volatility spikes</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Vol beta -1.55 (t = -3.7); alpha not significant</a:t>
                      </a:r>
                    </a:p>
                  </a:txBody>
                  <a:tcPr marL="73152" marR="73152">
                    <a:solidFill>
                      <a:srgbClr val="FFFFFF"/>
                    </a:solidFill>
                  </a:tcPr>
                </a:tc>
              </a:tr>
              <a:tr h="384048">
                <a:tc>
                  <a:txBody>
                    <a:bodyPr/>
                    <a:lstStyle/>
                    <a:p>
                      <a:pPr algn="l"/>
                      <a:r>
                        <a:rPr sz="1000" b="0">
                          <a:solidFill>
                            <a:srgbClr val="1B1F27"/>
                          </a:solidFill>
                          <a:latin typeface="Calibri"/>
                        </a:rPr>
                        <a:t>C1: funding carry earns a premium</a:t>
                      </a:r>
                    </a:p>
                  </a:txBody>
                  <a:tcPr marL="73152" marR="73152">
                    <a:solidFill>
                      <a:srgbClr val="EEF1F6"/>
                    </a:solidFill>
                  </a:tcPr>
                </a:tc>
                <a:tc>
                  <a:txBody>
                    <a:bodyPr/>
                    <a:lstStyle/>
                    <a:p>
                      <a:pPr algn="l"/>
                      <a:r>
                        <a:rPr sz="1000" b="1">
                          <a:solidFill>
                            <a:srgbClr val="B7700C"/>
                          </a:solidFill>
                          <a:latin typeface="Calibri"/>
                        </a:rPr>
                        <a:t>Mixed</a:t>
                      </a:r>
                    </a:p>
                  </a:txBody>
                  <a:tcPr marL="73152" marR="73152">
                    <a:solidFill>
                      <a:srgbClr val="EEF1F6"/>
                    </a:solidFill>
                  </a:tcPr>
                </a:tc>
                <a:tc>
                  <a:txBody>
                    <a:bodyPr/>
                    <a:lstStyle/>
                    <a:p>
                      <a:pPr algn="l"/>
                      <a:r>
                        <a:rPr sz="1000" b="0">
                          <a:solidFill>
                            <a:srgbClr val="1B1F27"/>
                          </a:solidFill>
                          <a:latin typeface="Calibri"/>
                        </a:rPr>
                        <a:t>Funding +8.5% a year, but net Sharpe 0.14; price moves dominate</a:t>
                      </a:r>
                    </a:p>
                  </a:txBody>
                  <a:tcPr marL="73152" marR="73152">
                    <a:solidFill>
                      <a:srgbClr val="EEF1F6"/>
                    </a:solidFill>
                  </a:tcPr>
                </a:tc>
              </a:tr>
              <a:tr h="384048">
                <a:tc>
                  <a:txBody>
                    <a:bodyPr/>
                    <a:lstStyle/>
                    <a:p>
                      <a:pPr algn="l"/>
                      <a:r>
                        <a:rPr sz="1000" b="0">
                          <a:solidFill>
                            <a:srgbClr val="1B1F27"/>
                          </a:solidFill>
                          <a:latin typeface="Calibri"/>
                        </a:rPr>
                        <a:t>C2: no BTC exposure; coin-specific crashes</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BTC beta ≈ 0; Terra -87 pts; worst week -27%</a:t>
                      </a:r>
                    </a:p>
                  </a:txBody>
                  <a:tcPr marL="73152" marR="73152">
                    <a:solidFill>
                      <a:srgbClr val="FFFFFF"/>
                    </a:solidFill>
                  </a:tcPr>
                </a:tc>
              </a:tr>
              <a:tr h="384048">
                <a:tc>
                  <a:txBody>
                    <a:bodyPr/>
                    <a:lstStyle/>
                    <a:p>
                      <a:pPr algn="l"/>
                      <a:r>
                        <a:rPr sz="1000" b="0">
                          <a:solidFill>
                            <a:srgbClr val="1B1F27"/>
                          </a:solidFill>
                          <a:latin typeface="Calibri"/>
                        </a:rPr>
                        <a:t>Pre-set risk control helps</a:t>
                      </a:r>
                    </a:p>
                  </a:txBody>
                  <a:tcPr marL="73152" marR="73152">
                    <a:solidFill>
                      <a:srgbClr val="EEF1F6"/>
                    </a:solidFill>
                  </a:tcPr>
                </a:tc>
                <a:tc>
                  <a:txBody>
                    <a:bodyPr/>
                    <a:lstStyle/>
                    <a:p>
                      <a:pPr algn="l"/>
                      <a:r>
                        <a:rPr sz="1000" b="1">
                          <a:solidFill>
                            <a:srgbClr val="B83227"/>
                          </a:solidFill>
                          <a:latin typeface="Calibri"/>
                        </a:rPr>
                        <a:t>Not supported</a:t>
                      </a:r>
                    </a:p>
                  </a:txBody>
                  <a:tcPr marL="73152" marR="73152">
                    <a:solidFill>
                      <a:srgbClr val="EEF1F6"/>
                    </a:solidFill>
                  </a:tcPr>
                </a:tc>
                <a:tc>
                  <a:txBody>
                    <a:bodyPr/>
                    <a:lstStyle/>
                    <a:p>
                      <a:pPr algn="l"/>
                      <a:r>
                        <a:rPr sz="1000" b="0">
                          <a:solidFill>
                            <a:srgbClr val="1B1F27"/>
                          </a:solidFill>
                          <a:latin typeface="Calibri"/>
                        </a:rPr>
                        <a:t>Sharpe 0.14 → -0.16</a:t>
                      </a:r>
                    </a:p>
                  </a:txBody>
                  <a:tcPr marL="73152" marR="73152">
                    <a:solidFill>
                      <a:srgbClr val="EEF1F6"/>
                    </a:solidFill>
                  </a:tcPr>
                </a:tc>
              </a:tr>
              <a:tr h="384048">
                <a:tc>
                  <a:txBody>
                    <a:bodyPr/>
                    <a:lstStyle/>
                    <a:p>
                      <a:pPr algn="l"/>
                      <a:r>
                        <a:rPr sz="1000" b="0">
                          <a:solidFill>
                            <a:srgbClr val="1B1F27"/>
                          </a:solidFill>
                          <a:latin typeface="Calibri"/>
                        </a:rPr>
                        <a:t>FX and crypto carry diversify</a:t>
                      </a:r>
                    </a:p>
                  </a:txBody>
                  <a:tcPr marL="73152" marR="73152">
                    <a:solidFill>
                      <a:srgbClr val="FFFFFF"/>
                    </a:solidFill>
                  </a:tcPr>
                </a:tc>
                <a:tc>
                  <a:txBody>
                    <a:bodyPr/>
                    <a:lstStyle/>
                    <a:p>
                      <a:pPr algn="l"/>
                      <a:r>
                        <a:rPr sz="1000" b="1">
                          <a:solidFill>
                            <a:srgbClr val="2E7D4F"/>
                          </a:solidFill>
                          <a:latin typeface="Calibri"/>
                        </a:rPr>
                        <a:t>Supported</a:t>
                      </a:r>
                    </a:p>
                  </a:txBody>
                  <a:tcPr marL="73152" marR="73152">
                    <a:solidFill>
                      <a:srgbClr val="FFFFFF"/>
                    </a:solidFill>
                  </a:tcPr>
                </a:tc>
                <a:tc>
                  <a:txBody>
                    <a:bodyPr/>
                    <a:lstStyle/>
                    <a:p>
                      <a:pPr algn="l"/>
                      <a:r>
                        <a:rPr sz="1000" b="0">
                          <a:solidFill>
                            <a:srgbClr val="1B1F27"/>
                          </a:solidFill>
                          <a:latin typeface="Calibri"/>
                        </a:rPr>
                        <a:t>Correlation 0.11; vol 7.0% vs about 9%</a:t>
                      </a:r>
                    </a:p>
                  </a:txBody>
                  <a:tcPr marL="73152" marR="73152">
                    <a:solidFill>
                      <a:srgbClr val="FFFFFF"/>
                    </a:solidFill>
                  </a:tcPr>
                </a:tc>
              </a:tr>
            </a:tbl>
          </a:graphicData>
        </a:graphic>
      </p:graphicFrame>
      <p:sp>
        <p:nvSpPr>
          <p:cNvPr id="9" name="TextBox 8"/>
          <p:cNvSpPr txBox="1"/>
          <p:nvPr/>
        </p:nvSpPr>
        <p:spPr>
          <a:xfrm>
            <a:off x="7863840" y="3017520"/>
            <a:ext cx="3840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What is new</a:t>
            </a:r>
          </a:p>
        </p:txBody>
      </p:sp>
      <p:sp>
        <p:nvSpPr>
          <p:cNvPr id="10" name="TextBox 9"/>
          <p:cNvSpPr txBox="1"/>
          <p:nvPr/>
        </p:nvSpPr>
        <p:spPr>
          <a:xfrm>
            <a:off x="7863840" y="3383280"/>
            <a:ext cx="3840480" cy="1371600"/>
          </a:xfrm>
          <a:prstGeom prst="rect">
            <a:avLst/>
          </a:prstGeom>
          <a:noFill/>
        </p:spPr>
        <p:txBody>
          <a:bodyPr wrap="square" anchor="t" lIns="0" rIns="0" tIns="0" bIns="0">
            <a:spAutoFit/>
          </a:bodyPr>
          <a:lstStyle/>
          <a:p>
            <a:pPr algn="l">
              <a:spcAft>
                <a:spcPts val="600"/>
              </a:spcAft>
            </a:pPr>
            <a:r>
              <a:rPr sz="1200" b="0" i="0">
                <a:solidFill>
                  <a:srgbClr val="FFFFFF"/>
                </a:solidFill>
                <a:latin typeface="Calibri"/>
              </a:rPr>
              <a:t>•  We use CFTC speculator positioning as a crowding filter on G10 carry.</a:t>
            </a:r>
          </a:p>
          <a:p>
            <a:pPr algn="l">
              <a:spcAft>
                <a:spcPts val="600"/>
              </a:spcAft>
            </a:pPr>
            <a:r>
              <a:rPr sz="1200" b="0" i="0">
                <a:solidFill>
                  <a:srgbClr val="FFFFFF"/>
                </a:solidFill>
                <a:latin typeface="Calibri"/>
              </a:rPr>
              <a:t>•  We treat crypto funding as the crypto interest-rate gap and as a crowding signal, and test it with the coins that died.</a:t>
            </a:r>
          </a:p>
        </p:txBody>
      </p:sp>
      <p:sp>
        <p:nvSpPr>
          <p:cNvPr id="11" name="TextBox 10"/>
          <p:cNvSpPr txBox="1"/>
          <p:nvPr/>
        </p:nvSpPr>
        <p:spPr>
          <a:xfrm>
            <a:off x="7863840" y="4754880"/>
            <a:ext cx="3840480" cy="365760"/>
          </a:xfrm>
          <a:prstGeom prst="rect">
            <a:avLst/>
          </a:prstGeom>
          <a:noFill/>
        </p:spPr>
        <p:txBody>
          <a:bodyPr wrap="square" anchor="t" lIns="0" rIns="0" tIns="0" bIns="0">
            <a:spAutoFit/>
          </a:bodyPr>
          <a:lstStyle/>
          <a:p>
            <a:pPr algn="l">
              <a:spcAft>
                <a:spcPts val="600"/>
              </a:spcAft>
            </a:pPr>
            <a:r>
              <a:rPr sz="1500" b="1" i="0">
                <a:solidFill>
                  <a:srgbClr val="E39B17"/>
                </a:solidFill>
                <a:latin typeface="Calibri"/>
              </a:rPr>
              <a:t>Limitations</a:t>
            </a:r>
          </a:p>
        </p:txBody>
      </p:sp>
      <p:sp>
        <p:nvSpPr>
          <p:cNvPr id="12" name="TextBox 11"/>
          <p:cNvSpPr txBox="1"/>
          <p:nvPr/>
        </p:nvSpPr>
        <p:spPr>
          <a:xfrm>
            <a:off x="7863840" y="5120640"/>
            <a:ext cx="3840480" cy="1554480"/>
          </a:xfrm>
          <a:prstGeom prst="rect">
            <a:avLst/>
          </a:prstGeom>
          <a:noFill/>
        </p:spPr>
        <p:txBody>
          <a:bodyPr wrap="square" anchor="t" lIns="0" rIns="0" tIns="0" bIns="0">
            <a:spAutoFit/>
          </a:bodyPr>
          <a:lstStyle/>
          <a:p>
            <a:pPr algn="l">
              <a:spcAft>
                <a:spcPts val="600"/>
              </a:spcAft>
            </a:pPr>
            <a:r>
              <a:rPr sz="1200" b="0" i="0">
                <a:solidFill>
                  <a:srgbClr val="FFFFFF"/>
                </a:solidFill>
                <a:latin typeface="Calibri"/>
              </a:rPr>
              <a:t>•  The crypto history is short (2020–2026) and covers only 12 coins.</a:t>
            </a:r>
          </a:p>
          <a:p>
            <a:pPr algn="l">
              <a:spcAft>
                <a:spcPts val="600"/>
              </a:spcAft>
            </a:pPr>
            <a:r>
              <a:rPr sz="1200" b="0" i="0">
                <a:solidFill>
                  <a:srgbClr val="FFFFFF"/>
                </a:solidFill>
                <a:latin typeface="Calibri"/>
              </a:rPr>
              <a:t>•  There are only 33 crowded FX months, and the 2008 crash was not flagged.</a:t>
            </a:r>
          </a:p>
          <a:p>
            <a:pPr algn="l">
              <a:spcAft>
                <a:spcPts val="600"/>
              </a:spcAft>
            </a:pPr>
            <a:r>
              <a:rPr sz="1200" b="0" i="0">
                <a:solidFill>
                  <a:srgbClr val="FFFFFF"/>
                </a:solidFill>
                <a:latin typeface="Calibri"/>
              </a:rPr>
              <a:t>•  Costs are simple estimates, and we ignore funding-rate caps, borrow limits and exchange risk.</a:t>
            </a:r>
          </a:p>
        </p:txBody>
      </p:sp>
      <p:sp>
        <p:nvSpPr>
          <p:cNvPr id="13" name="TextBox 12"/>
          <p:cNvSpPr txBox="1"/>
          <p:nvPr/>
        </p:nvSpPr>
        <p:spPr>
          <a:xfrm>
            <a:off x="11185855" y="6400800"/>
            <a:ext cx="548640" cy="274320"/>
          </a:xfrm>
          <a:prstGeom prst="rect">
            <a:avLst/>
          </a:prstGeom>
          <a:noFill/>
        </p:spPr>
        <p:txBody>
          <a:bodyPr wrap="square" anchor="t" lIns="0" rIns="0" tIns="0" bIns="0">
            <a:spAutoFit/>
          </a:bodyPr>
          <a:lstStyle/>
          <a:p>
            <a:pPr algn="r">
              <a:spcAft>
                <a:spcPts val="600"/>
              </a:spcAft>
            </a:pPr>
            <a:r>
              <a:rPr sz="1100" b="0" i="0">
                <a:solidFill>
                  <a:srgbClr val="8E9AB5"/>
                </a:solidFill>
                <a:latin typeface="Calibri"/>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