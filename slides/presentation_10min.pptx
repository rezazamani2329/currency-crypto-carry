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0:20]</a:t>
            </a:r>
          </a:p>
          <a:p>
            <a:r>
              <a:t>• Good morning. Our project asks one question: do carry trades crash when they are crowded?</a:t>
            </a:r>
          </a:p>
          <a:p>
            <a:r>
              <a:t>• We test it in two markets with the same economics: G10 currencies and crypto.</a:t>
            </a:r>
          </a:p>
          <a:p>
            <a:r>
              <a:t>• Strategy A is carry in seven G10 currencies against the US dollar, with a crowding filter built from CFTC data.</a:t>
            </a:r>
          </a:p>
          <a:p>
            <a:r>
              <a:t>• Strategy C is funding carry in twelve crypto perpetual futures on Binance, including the coins that collapsed, Terra and FTX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1:00]</a:t>
            </a:r>
          </a:p>
          <a:p>
            <a:r>
              <a:t>• Carry means borrowing in a low-yield asset and holding a high-yield one.</a:t>
            </a:r>
          </a:p>
          <a:p>
            <a:r>
              <a:t>• Uncovered interest parity says this should earn nothing, but in the data it earns a premium.</a:t>
            </a:r>
          </a:p>
          <a:p>
            <a:r>
              <a:t>• The catch is crash risk: carry goes up the stairs and down the elevator.</a:t>
            </a:r>
          </a:p>
          <a:p>
            <a:r>
              <a:t>• Brunnermeier, Nagel and Pedersen show crashes are worst when speculators are crowded into the trade.</a:t>
            </a:r>
          </a:p>
          <a:p>
            <a:r>
              <a:t>• In FX the yield is the interest-rate differential, and we measure crowding with CFTC speculator positions.</a:t>
            </a:r>
          </a:p>
          <a:p>
            <a:r>
              <a:t>• Our FX universe is the yen, euro, British pound, Swiss franc, Canadian dollar, Australian dollar and New Zealand dollar, all against the US dollar.</a:t>
            </a:r>
          </a:p>
          <a:p>
            <a:r>
              <a:t>• In crypto the yield is the perpetual funding rate, which also measures leveraged demand.</a:t>
            </a:r>
          </a:p>
          <a:p>
            <a:r>
              <a:t>• Our coins are Bitcoin, Ethereum, BNB, XRP, Cardano, Dogecoin, Solana, Litecoin, Chainlink, Avalanche, Terra and FTX Token.</a:t>
            </a:r>
          </a:p>
          <a:p>
            <a:r>
              <a:t>• We wrote the hypotheses and all parameters down before running any backtest.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0:50]</a:t>
            </a:r>
          </a:p>
          <a:p>
            <a:r>
              <a:t>• All data are public: FRED for FX and rates, CFTC for positions, Binance for crypto.</a:t>
            </a:r>
          </a:p>
          <a:p>
            <a:r>
              <a:t>• One data fix worth mentioning: before 2000 the CFTC lists currency futures under a different exchange name; matching both names gave us positioning back to 1986.</a:t>
            </a:r>
          </a:p>
          <a:p>
            <a:r>
              <a:t>• Every parameter was fixed in advance, and our out-of-sample period starts in 2011 for FX and in 2024 for crypto.</a:t>
            </a:r>
          </a:p>
          <a:p>
            <a:r>
              <a:t>• Returns are net of costs, there is no look-ahead, and we keep the two coins that died, Terra (LUNA) and FTX Token (FTT).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1:00]</a:t>
            </a:r>
          </a:p>
          <a:p>
            <a:r>
              <a:t>• Each month we rank the seven currencies by their three-month interest rate.</a:t>
            </a:r>
          </a:p>
          <a:p>
            <a:r>
              <a:t>• We buy the two highest and sell the two lowest, so the portfolio has no net dollar bet.</a:t>
            </a:r>
          </a:p>
          <a:p>
            <a:r>
              <a:t>• In practice we are almost always long the New Zealand and Australian dollars and short the Swiss franc, often with the yen or the euro.</a:t>
            </a:r>
          </a:p>
          <a:p>
            <a:r>
              <a:t>• For crowding we take speculators' net futures position and z-score it over 36 months.</a:t>
            </a:r>
          </a:p>
          <a:p>
            <a:r>
              <a:t>• Crowding is high when speculators are unusually long what we hold and short what we sell.</a:t>
            </a:r>
          </a:p>
          <a:p>
            <a:r>
              <a:t>• When this score is above one standard deviation, we halve the position, which happened in 33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1:20]</a:t>
            </a:r>
          </a:p>
          <a:p>
            <a:r>
              <a:t>• Plain carry earns about 3.3% a year after costs, a net Sharpe of 0.37.</a:t>
            </a:r>
          </a:p>
          <a:p>
            <a:r>
              <a:t>• Our carry has a 0.82 correlation with the published Lustig–Roussanov–Verdelhan factor, which validates the code and data.</a:t>
            </a:r>
          </a:p>
          <a:p>
            <a:r>
              <a:t>• After crowded months, next-month carry averages only 0.02% versus 0.30% otherwise, with more negative skew.</a:t>
            </a:r>
          </a:p>
          <a:p>
            <a:r>
              <a:t>• Out of sample the filter lifts the Sharpe from 0.27 to 0.32, and every variant in our robustness grid also beats 0.27.</a:t>
            </a:r>
          </a:p>
          <a:p>
            <a:r>
              <a:t>• But it did not avoid 2008: the crash started from a non-crowded reading, so the max drawdown is -37% either way.</a:t>
            </a:r>
          </a:p>
          <a:p>
            <a:r>
              <a:t>• One caveat is that there are only 33 crowded months, so the effect is not precisely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0:50]</a:t>
            </a:r>
          </a:p>
          <a:p>
            <a:r>
              <a:t>• To see when it loses, we regress monthly carry on the dollar factor and on equity-volatility shocks.</a:t>
            </a:r>
          </a:p>
          <a:p>
            <a:r>
              <a:t>• The volatility beta is -1.55 with a t-stat of -3.7: carry loses when volatility jumps.</a:t>
            </a:r>
          </a:p>
          <a:p>
            <a:r>
              <a:t>• Once we control for these factors the alpha is not significant, so carry is pay for risk, not a free lunch.</a:t>
            </a:r>
          </a:p>
          <a:p>
            <a:r>
              <a:t>• From July 2008 to March 2009 the strategy lost 20.5% as the funding currencies, the Japanese yen and the Swiss franc, rallied against the Australian and New Zealand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1:20]</a:t>
            </a:r>
          </a:p>
          <a:p>
            <a:r>
              <a:t>• Crypto perpetual futures have their own interest rate, the funding rate, paid every 8 hours between longs and shorts.</a:t>
            </a:r>
          </a:p>
          <a:p>
            <a:r>
              <a:t>• High funding means many leveraged longs, so it is both a carry signal and a crowding signal.</a:t>
            </a:r>
          </a:p>
          <a:p>
            <a:r>
              <a:t>• Each Sunday we short the third of coins with the highest funding and buy the third with the lowest.</a:t>
            </a:r>
          </a:p>
          <a:p>
            <a:r>
              <a:t>• The twelve coins are Bitcoin, Ethereum, BNB, XRP, Cardano, Dogecoin, Solana, Litecoin, Chainlink, Avalanche, Terra and FTX Token.</a:t>
            </a:r>
          </a:p>
          <a:p>
            <a:r>
              <a:t>• We keep Terra (LUNA) and FTX Token (FTT), which both collapsed in 2022, to avoid survivorship bias.</a:t>
            </a:r>
          </a:p>
          <a:p>
            <a:r>
              <a:t>• Net Sharpe is 0.14 over the full sample: -0.07 in 2020 to 2023 and 0.81 since 2024.</a:t>
            </a:r>
          </a:p>
          <a:p>
            <a:r>
              <a:t>• The worst week was the Terra (LUNA) collapse in May 2022, -27.3%: traders were shorting Terra, its funding turned negative, and so our rule held it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1:10]</a:t>
            </a:r>
          </a:p>
          <a:p>
            <a:r>
              <a:t>• We split the return into funding and price. Funding adds about 8.5% a year, steadily.</a:t>
            </a:r>
          </a:p>
          <a:p>
            <a:r>
              <a:t>• But price moves dominate: in 2020 to 2023 the coins we shorted, like Dogecoin and XRP, kept rallying and wiped out the funding.</a:t>
            </a:r>
          </a:p>
          <a:p>
            <a:r>
              <a:t>• Since 2024 most of the gain came from price, so we read the strong out-of-sample number with caution.</a:t>
            </a:r>
          </a:p>
          <a:p>
            <a:r>
              <a:t>• The beta to Bitcoin is about zero, so the strategy has no market exposure.</a:t>
            </a:r>
          </a:p>
          <a:p>
            <a:r>
              <a:t>• Its losses come from single coins: Terra alone cost 87 percentage points, XRP 58 and Dogecoin 43, while Solana and BNB were the biggest winners.</a:t>
            </a:r>
          </a:p>
          <a:p>
            <a:r>
              <a:t>• A risk control we fixed in advance made things worse and lowered the Sharpe to -0.16: the cap halved exposure and the filter missed the timing of Terra's collapse.</a:t>
            </a:r>
          </a:p>
          <a:p>
            <a:r>
              <a:t>• Our takeaway is that crypto carry crashes in the mirror image of FX: it ends up long whatever traders short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0:50]</a:t>
            </a:r>
          </a:p>
          <a:p>
            <a:r>
              <a:t>• Finally, we scale both strategies to 10% volatility and combine them 50/50.</a:t>
            </a:r>
          </a:p>
          <a:p>
            <a:r>
              <a:t>• Their correlation is only 0.11: FX and crypto carry crash at different times.</a:t>
            </a:r>
          </a:p>
          <a:p>
            <a:r>
              <a:t>• The mix has 7.0% volatility and a Sharpe of 0.51, and its worst month, -5.9%, is smaller than either part's.</a:t>
            </a:r>
          </a:p>
          <a:p>
            <a:r>
              <a:t>• It does not beat FX alone on Sharpe, because crypto carry was weak in this window.</a:t>
            </a:r>
          </a:p>
          <a:p>
            <a:r>
              <a:t>• Our takeaway is that the benefit of combining them is lower risk, not a higher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[about 1:00]</a:t>
            </a:r>
          </a:p>
          <a:p>
            <a:r>
              <a:t>• To conclude: in both markets carry looks like compensation for crash risk.</a:t>
            </a:r>
          </a:p>
          <a:p>
            <a:r>
              <a:t>• In FX, crowding measured from CFTC positions is a cheap and modestly useful warning sign.</a:t>
            </a:r>
          </a:p>
          <a:p>
            <a:r>
              <a:t>• In crypto, sorting on funding alone exposes you to single-coin collapses like Terra and FTX Token.</a:t>
            </a:r>
          </a:p>
          <a:p>
            <a:r>
              <a:t>• Because the two crash at different times, they diversify each other.</a:t>
            </a:r>
          </a:p>
          <a:p>
            <a:r>
              <a:t>• The main limitations are a short crypto sample, few crowded FX months, and simple cost estimates.</a:t>
            </a:r>
          </a:p>
          <a:p>
            <a:r>
              <a:t>• Thank you,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Crowded Carry in G10 FX and Crypto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C9D1E0"/>
                </a:solidFill>
                <a:latin typeface="Calibri"/>
              </a:rPr>
              <a:t>Crash risk in FX and crypto carry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E9AB5"/>
                </a:solidFill>
                <a:latin typeface="Calibri"/>
              </a:rPr>
              <a:t>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39B17"/>
                </a:solidFill>
                <a:latin typeface="Calibri"/>
              </a:rPr>
              <a:t>Reza Zamani  ·  Paraj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E9AB5"/>
                </a:solidFill>
                <a:latin typeface="Calibri"/>
              </a:rPr>
              <a:t>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97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Amir Kermani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9D1E0"/>
                </a:solidFill>
                <a:latin typeface="Calibri"/>
              </a:rPr>
              <a:t>Currency Markets (MFE 230GB)  ·  Final project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Carry pays because it crashes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Same economic mechanism, two very different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B1F27"/>
                </a:solidFill>
                <a:latin typeface="Calibri"/>
              </a:rPr>
              <a:t>•  Carry: borrow the low-yield asset, hold the high-yield one.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B1F27"/>
                </a:solidFill>
                <a:latin typeface="Calibri"/>
              </a:rPr>
              <a:t>•  UIP says this earns nothing; in the data it earns a premium, with rare large crashes.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B1F27"/>
                </a:solidFill>
                <a:latin typeface="Calibri"/>
              </a:rPr>
              <a:t>•  Crashes are worst when the trade is crowded and everyone unwinds at once (Brunnermeier, Nagel &amp; Pedersen 2008).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Hypotheses, fixed before testing: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A: carry earns a premium; crowded months are followed by weaker carry; it loses in volatility spikes.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C: funding carry earns a premium with little BTC exposure; its crashes are coin-specific.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828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A: G10 FX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18288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7700C"/>
                </a:solidFill>
                <a:latin typeface="Calibri"/>
              </a:rPr>
              <a:t>C: Crypto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432304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54203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Carry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420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3-month rate differential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5420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Perpetual funding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145536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55264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Crowding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5526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CFTC speculator positions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325526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Funding = leveraged demand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58768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96849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Universe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96849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7 currencies vs USD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96849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12 coins (listed below)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572000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68172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6817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Monthly, 1999–2026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6817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Weekly, 2020–2026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2578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</a:rPr>
              <a:t>Currencies: Japanese yen (JPY), euro (EUR), British pound (GBP), Swiss franc (CHF), Canadian dollar (CAD), Australian dollar (AUD) and New Zealand dollar (NZD), each against the US dollar.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</a:rPr>
              <a:t>Coins: Bitcoin (BTC), Ethereum (ETH), BNB, XRP, Cardano (ADA), Dogecoin (DOGE), Solana (SOL), Litecoin (LTC), Chainlink (LINK), Avalanche (AVAX), Terra (LUNA) and FTX Token (FTT).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Data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Public data; a research design chosen to keep the tests honest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0350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774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FX spot, 7 currencies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FRED (Fed H.10)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1999–2026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3-month rates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OECD via FRED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1999–2026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Speculator positions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CFTC Commitments of Traders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1986–2026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Crypto price, volume, funding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Binance public archive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2020–2026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Carry factor (validation)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Lustig–Roussanov–Verdelhan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1983–2021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1737360"/>
            <a:ext cx="47548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All parameters were fixed before the first backtest.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The out-of-sample period starts in 2011 for A and in 2024 for C.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Costs are 3 bp per unit traded in FX and 5 bp in crypto.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There is no look-ahead: weights set at t earn the return of t+1, and CFTC data are used only after their Friday release.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There is no survivorship bias, because Terra (LUNA) and FTX Token (FTT) stay in the sample.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Robustness grids are reported, but they were never used for tuning.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C677D"/>
                </a:solidFill>
                <a:latin typeface="Calibri"/>
              </a:rPr>
              <a:t>Data fix: before Aug 2000 CFTC lists the same currency futures under 'International Monetary Market'. Matching both names extended positioning back to 1986.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Strategy A: crowding-filtered G10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Yen, euro, pound, Swiss franc, Canadian, Australian and New Zealand dollar vs USD, monthly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56231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Carry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21991"/>
            <a:ext cx="60350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At each month-end we buy the 2 highest-rate currencies and sell the 2 lowest, with equal weights and no net dollar bet.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5351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Crowding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19272"/>
            <a:ext cx="60350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Each currency's CFTC net speculative position over open interest is z-scored over 36 months.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6907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050791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Portfolio crowding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416551"/>
            <a:ext cx="60350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It is the average z of the long leg minus the average z of the short leg.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16635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4807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13831"/>
            <a:ext cx="60350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If crowding is above 1, all positions are cut to half for the next month.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74519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03911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715768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crowded months out of 328, 1999–2026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52044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685032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Who we usually hold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Long: New Zealand dollar (94% of months) and Australian dollar (75%).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Short: Swiss franc (99%), Japanese yen (52%) and euro (40%).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Crowding filter helps out of sample, not in 2008</a:t>
            </a:r>
          </a:p>
        </p:txBody>
      </p:sp>
      <p:pic>
        <p:nvPicPr>
          <p:cNvPr id="3" name="Picture 2" descr="a_c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223760" cy="38761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01000" y="128016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444751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0.27 → 0.32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121408"/>
            <a:ext cx="320040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Out-of-sample Sharpe, net: carry vs crowd-filtered (2011–2026)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74320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90779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0.30% vs 0.02%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584448"/>
            <a:ext cx="320040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Next-month carry after non-crowded vs crowded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20624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370831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047488"/>
            <a:ext cx="320040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Correlation with the academic LRV carry factor (1999–2021)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77D"/>
                </a:solidFill>
                <a:latin typeface="Calibri"/>
              </a:rPr>
              <a:t>Full sample, net: Sharpe 0.37 carry, 0.38 filtered; max drawdown -37% either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Strategy A loses when volatility spikes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Monthly net carry on risk factors, Newey-West t-stats, 1999–2021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3227"/>
                </a:solidFill>
                <a:latin typeface="Cambria"/>
              </a:rPr>
              <a:t>-1.55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24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Beta to equity-volatility changes (t = -3.7)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7830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94767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624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Beta to the dollar factor (t = 4.1)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9359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7024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Monthly alpha (t = 1.7): not significant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4290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59359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27024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R² of the two-factor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77D"/>
                </a:solidFill>
                <a:latin typeface="Calibri"/>
              </a:rPr>
              <a:t>Worst months: Oct 2008, Aug 2007, May 2000, Jan 2009, and the Jan 2015 Swiss franc de-peg.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The 2008 carry crash: -20.5% (Jul 2008 – Mar 2009)</a:t>
            </a:r>
          </a:p>
        </p:txBody>
      </p:sp>
      <p:pic>
        <p:nvPicPr>
          <p:cNvPr id="18" name="Picture 17" descr="a_2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40280"/>
            <a:ext cx="5029200" cy="3233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Strategy C: crypto funding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Binance perpetuals on BTC, ETH, BNB, XRP, ADA, DOGE, SOL, LTC, LINK, AVAX, LUNA, FTT; weekly, 2020–2026</a:t>
            </a:r>
          </a:p>
        </p:txBody>
      </p:sp>
      <p:pic>
        <p:nvPicPr>
          <p:cNvPr id="4" name="Picture 3" descr="c_c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949440" cy="3728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645920"/>
            <a:ext cx="3931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•  Funding is paid every 8 hours, and positive funding means longs pay shorts.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•  Each Sunday we short the third of coins with the highest 7-day funding and buy the lowest third.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•  The book is dollar-neutral and pays 5 bp per trade.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79476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3959352"/>
            <a:ext cx="14173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4636008"/>
            <a:ext cx="1417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Net Sharpe, full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379476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3959352"/>
            <a:ext cx="14173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4636008"/>
            <a:ext cx="1417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Net Sharpe, 2024–26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5120640"/>
            <a:ext cx="388620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5285231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3227"/>
                </a:solidFill>
                <a:latin typeface="Cambria"/>
              </a:rPr>
              <a:t>-27%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596188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Worst week: LUNA collapse, May 2022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Funding is earned, but price moves dominate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Where the return comes from, and what drives the losses</a:t>
            </a:r>
          </a:p>
        </p:txBody>
      </p:sp>
      <p:pic>
        <p:nvPicPr>
          <p:cNvPr id="4" name="Picture 3" descr="c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486400" cy="36004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691640"/>
          <a:ext cx="53949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per year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+8.5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-2.2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+4.1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In-sample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+12.3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-12.5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-2.5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Out-of-sample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+3.1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+13.0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+13.9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Total P&amp;L by coin, % pts: Solana +102, BNB +51, Avalanche +36; Terra -87, XRP -58, Dogecoin -43, FTX Token -13.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00400"/>
            <a:ext cx="5394960" cy="33375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33649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794760"/>
            <a:ext cx="4937760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Funding income is steady at about 8.5% a year, but price moves decide the result.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The strategy has no market exposure, since its beta to Bitcoin is -0.02.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Its losses come from single coins: Terra lost 87 points, XRP 58 and Dogecoin 43.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Our pre-set risk control lowered the Sharpe from 0.14 to -0.16, so it did not help.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Deeply negative funding signals crowded shorts, not a cheap coin.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Combining FX and crypto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Each scaled to 10% vol with lagged volatility, 50/50, 2021–2026</a:t>
            </a:r>
          </a:p>
        </p:txBody>
      </p:sp>
      <p:pic>
        <p:nvPicPr>
          <p:cNvPr id="4" name="Picture 3" descr="c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035040" cy="331927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937760"/>
          <a:ext cx="58521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822960"/>
                <a:gridCol w="118872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 (%)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 DD (%)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Worst month (%)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-7.4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-21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-10.2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Combined 50/50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-5.9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0" y="1645920"/>
            <a:ext cx="4800600" cy="12801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810512"/>
            <a:ext cx="4343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487168"/>
            <a:ext cx="4343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Correlation between A and C, monthly, 2021–2026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08960"/>
            <a:ext cx="4800600" cy="34290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327355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703320"/>
            <a:ext cx="43434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FX carry and crypto carry are almost uncorrelated, so they crash at different times.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The 50/50 mix has 7.0% volatility, compared with about 9% for each strategy alone.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Its worst month is -5.9%, smaller than for FX (-7.4%) or crypto (-10.2%).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•  The mix does not beat FX alone on Sharpe (0.51 vs 0.71), because crypto carry was weak in this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39B17"/>
                </a:solidFill>
                <a:latin typeface="Calibri"/>
              </a:rP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FX carry reproduces the academic factor (corr 0.82) and is exposed to volatility shocks.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Crowding predicts weaker carry, and the filter modestly improves the out-of-sample Sharpe.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Crypto funding carry is market-neutral, but its crashes are coin-specific: it ends up long what traders short hardest.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FX and crypto carry are nearly uncorrelated (0.11).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39B17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The crypto history is short (2020–2026) and covers only 12 coins.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There are only 33 crowded FX months, and the 2008 crash was not flagged.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The crypto results depend on the lookback and the rebalancing frequency.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Costs are simple estimates, and we ignore funding-rate caps, borrow limits and exchange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