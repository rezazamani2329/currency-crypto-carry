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0:20]</a:t>
            </a:r>
          </a:p>
          <a:p>
            <a:r>
              <a:t>• Our project asks one question: do carry trades crash when they are crowded?</a:t>
            </a:r>
          </a:p>
          <a:p>
            <a:r>
              <a:t>• We test it in two markets with the same economics: G10 currencies and crypto.</a:t>
            </a:r>
          </a:p>
          <a:p>
            <a:r>
              <a:t>• Strategy A is carry in seven G10 currencies against the US dollar, with a crowding filter built from CFTC data.</a:t>
            </a:r>
          </a:p>
          <a:p>
            <a:r>
              <a:t>• Strategy C is funding carry in twelve crypto perpetual futures on Binance, including the coins that collapsed, Terra and FTX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1:00]</a:t>
            </a:r>
          </a:p>
          <a:p>
            <a:r>
              <a:t>• Carry means borrowing in a low-yield asset and holding a high-yield one.</a:t>
            </a:r>
          </a:p>
          <a:p>
            <a:r>
              <a:t>• Uncovered interest parity says this should earn nothing, but in the data it earns a premium.</a:t>
            </a:r>
          </a:p>
          <a:p>
            <a:r>
              <a:t>• The catch is crash risk: carry goes up the stairs and down the elevator.</a:t>
            </a:r>
          </a:p>
          <a:p>
            <a:r>
              <a:t>• Brunnermeier, Nagel and Pedersen show crashes are worst when speculators are crowded into the trade.</a:t>
            </a:r>
          </a:p>
          <a:p>
            <a:r>
              <a:t>• In FX the yield is the interest-rate differential, and we measure crowding with CFTC speculator positions.</a:t>
            </a:r>
          </a:p>
          <a:p>
            <a:r>
              <a:t>• Our FX universe is the yen, euro, British pound, Swiss franc, Canadian dollar, Australian dollar and New Zealand dollar, all against the US dollar.</a:t>
            </a:r>
          </a:p>
          <a:p>
            <a:r>
              <a:t>• In crypto the yield is the perpetual funding rate, which also measures leveraged demand.</a:t>
            </a:r>
          </a:p>
          <a:p>
            <a:r>
              <a:t>• Our coins are Bitcoin, Ethereum, BNB, XRP, Cardano, Dogecoin, Solana, Litecoin, Chainlink, Avalanche, Terra and FTX Token.</a:t>
            </a:r>
          </a:p>
          <a:p>
            <a:r>
              <a:t>• We wrote the hypotheses and all parameters down before running any backtest.</a:t>
            </a:r>
          </a:p>
          <a:p>
            <a:r>
              <a:t>• Uncovered interest parity (UIP) says a high-rate currency should fall by exactly the rate gap, so carry would earn zero; in practice high-rate currencies tend not to fall that much, which is the forward premium puzzle.</a:t>
            </a:r>
          </a:p>
          <a:p>
            <a:r>
              <a:t>• 'Up the stairs and down the elevator' means carry earns small steady gains most of the time and then loses a lot in a few weeks, so its returns have negative skew.</a:t>
            </a:r>
          </a:p>
          <a:p>
            <a:r>
              <a:t>• Crowding matters because when many speculators hold the same trade, a shock forces them all to unwind together, which makes the crash larger.</a:t>
            </a:r>
          </a:p>
          <a:p>
            <a:r>
              <a:t>• Hypothesis A says three things: carry earns a premium, crowded months are followed by weaker carry, and carry loses when volatility spikes.</a:t>
            </a:r>
          </a:p>
          <a:p>
            <a:r>
              <a:t>• Hypothesis C says crypto funding carry earns a premium with little exposure to Bitcoin, and that its crashes come from single coins.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0:50]</a:t>
            </a:r>
          </a:p>
          <a:p>
            <a:r>
              <a:t>• All data are public: FRED for FX and rates, CFTC for positions, Binance for crypto.</a:t>
            </a:r>
          </a:p>
          <a:p>
            <a:r>
              <a:t>• One data fix worth mentioning: before 2000 the CFTC lists currency futures under a different exchange name; matching both names gave us positioning back to 1986.</a:t>
            </a:r>
          </a:p>
          <a:p>
            <a:r>
              <a:t>• Every parameter was fixed in advance, and our out-of-sample period starts in 2011 for FX and in 2024 for crypto.</a:t>
            </a:r>
          </a:p>
          <a:p>
            <a:r>
              <a:t>• Returns are net of costs, there is no look-ahead, and we keep the two coins that died, Terra (LUNA) and FTX Token (FTT).</a:t>
            </a:r>
          </a:p>
          <a:p>
            <a:r>
              <a:t>• Out-of-sample means the later years that we did not look at while designing the strategy; if a rule still works there, it is less likely to be a result of data mining.</a:t>
            </a:r>
          </a:p>
          <a:p>
            <a:r>
              <a:t>• Look-ahead bias means using information that was not public at the time of the trade; we avoid it because weights set at t earn the return of t+1, and CFTC positions measured on Tuesday are used only after their Friday release.</a:t>
            </a:r>
          </a:p>
          <a:p>
            <a:r>
              <a:t>• Survivorship bias means testing only on assets that still exist today; we avoid it by keeping Terra and FTX Token, which together cost the crypto strategy about 100 percentage points of P&amp;L.</a:t>
            </a:r>
          </a:p>
          <a:p>
            <a:r>
              <a:t>• A basis point (bp) is 0.01%, so a cost of 3 bp means we lose 0.03% of every dollar we trade.</a:t>
            </a:r>
          </a:p>
          <a:p>
            <a:r>
              <a:t>• The Lustig–Roussanov–Verdelhan (LRV) factor is the published academic carry factor, built by buying high-rate and selling low-rate currency portfolios; we use it only to check our own carry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1:00]</a:t>
            </a:r>
          </a:p>
          <a:p>
            <a:r>
              <a:t>• Each month we rank the seven currencies by their three-month interest rate.</a:t>
            </a:r>
          </a:p>
          <a:p>
            <a:r>
              <a:t>• We buy the two highest and sell the two lowest, so the portfolio has no net dollar bet.</a:t>
            </a:r>
          </a:p>
          <a:p>
            <a:r>
              <a:t>• In practice we are almost always long the New Zealand and Australian dollars and short the Swiss franc, often with the yen or the euro.</a:t>
            </a:r>
          </a:p>
          <a:p>
            <a:r>
              <a:t>• For crowding we take speculators' net futures position and z-score it over 36 months.</a:t>
            </a:r>
          </a:p>
          <a:p>
            <a:r>
              <a:t>• Crowding is high when speculators are unusually long what we hold and short what we sell.</a:t>
            </a:r>
          </a:p>
          <a:p>
            <a:r>
              <a:t>• When this score is above one standard deviation, we halve the position, which happened in 33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1:20]</a:t>
            </a:r>
          </a:p>
          <a:p>
            <a:r>
              <a:t>• Plain carry earns about 3.3% a year after costs, a net Sharpe of 0.37.</a:t>
            </a:r>
          </a:p>
          <a:p>
            <a:r>
              <a:t>• Our carry has a 0.82 correlation with the published Lustig–Roussanov–Verdelhan factor, which validates the code and data.</a:t>
            </a:r>
          </a:p>
          <a:p>
            <a:r>
              <a:t>• After crowded months, next-month carry averages only 0.02% versus 0.30% otherwise, with more negative skew.</a:t>
            </a:r>
          </a:p>
          <a:p>
            <a:r>
              <a:t>• Out of sample the filter lifts the Sharpe from 0.27 to 0.32, and every variant in our robustness grid also beats 0.27.</a:t>
            </a:r>
          </a:p>
          <a:p>
            <a:r>
              <a:t>• But it did not avoid 2008: the crash started from a non-crowded reading, so the max drawdown is -37% either way.</a:t>
            </a:r>
          </a:p>
          <a:p>
            <a:r>
              <a:t>• One caveat is that there are only 33 crowded months, so the effect is not precisely estimated.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0:50]</a:t>
            </a:r>
          </a:p>
          <a:p>
            <a:r>
              <a:t>• To see when it loses, we regress monthly carry on the dollar factor and on equity-volatility shocks.</a:t>
            </a:r>
          </a:p>
          <a:p>
            <a:r>
              <a:t>• The volatility beta is -1.55 with a t-stat of -3.7: carry loses when volatility jumps.</a:t>
            </a:r>
          </a:p>
          <a:p>
            <a:r>
              <a:t>• Once we control for these factors the alpha is not significant, so carry is pay for risk, not a free lunch.</a:t>
            </a:r>
          </a:p>
          <a:p>
            <a:r>
              <a:t>• From July 2008 to March 2009 the strategy lost 20.5% as the funding currencies, the Japanese yen and the Swiss franc, rallied against the Australian and New Zealand dollars.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1:20]</a:t>
            </a:r>
          </a:p>
          <a:p>
            <a:r>
              <a:t>• Crypto perpetual futures have their own interest rate, the funding rate, paid every 8 hours between longs and shorts.</a:t>
            </a:r>
          </a:p>
          <a:p>
            <a:r>
              <a:t>• High funding means many leveraged longs, so it is both a carry signal and a crowding signal.</a:t>
            </a:r>
          </a:p>
          <a:p>
            <a:r>
              <a:t>• Each Sunday we short the third of coins with the highest funding and buy the third with the lowest.</a:t>
            </a:r>
          </a:p>
          <a:p>
            <a:r>
              <a:t>• The twelve coins are Bitcoin, Ethereum, BNB, XRP, Cardano, Dogecoin, Solana, Litecoin, Chainlink, Avalanche, Terra and FTX Token.</a:t>
            </a:r>
          </a:p>
          <a:p>
            <a:r>
              <a:t>• We keep Terra (LUNA) and FTX Token (FTT), which both collapsed in 2022, to avoid survivorship bias.</a:t>
            </a:r>
          </a:p>
          <a:p>
            <a:r>
              <a:t>• Net Sharpe is 0.14 over the full sample: -0.07 in 2020 to 2023 and 0.81 since 2024.</a:t>
            </a:r>
          </a:p>
          <a:p>
            <a:r>
              <a:t>• The worst week was the Terra (LUNA) collapse in May 2022, -27.3%: traders were shorting Terra, its funding turned negative, and so our rule held it long.</a:t>
            </a:r>
          </a:p>
          <a:p>
            <a:r>
              <a:t>• A perpetual future has no expiry date, so the exchange uses the funding payment to keep its price close to the spot price.</a:t>
            </a:r>
          </a:p>
          <a:p>
            <a:r>
              <a:t>• For example, if funding is +0.01% every 8 hours, longs pay shorts about 0.03% a day, which is roughly 11% a year.</a:t>
            </a:r>
          </a:p>
          <a:p>
            <a:r>
              <a:t>• So shorting a coin with high funding earns that payment, just as selling a low-rate currency and buying a high-rate one earns the interest gap in FX.</a:t>
            </a:r>
          </a:p>
          <a:p>
            <a:r>
              <a:t>• The book is dollar-neutral, which means the long and short sides have the same size, so a move of the whole crypto market should roughly cancel out.</a:t>
            </a:r>
          </a:p>
          <a:p>
            <a:r>
              <a:t>• The out-of-sample Sharpe since 2024 is strong, but it comes from less than three years of data, so we treat it with caution.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1:10]</a:t>
            </a:r>
          </a:p>
          <a:p>
            <a:r>
              <a:t>• We split the return into funding and price. Funding adds about 8.5% a year, steadily.</a:t>
            </a:r>
          </a:p>
          <a:p>
            <a:r>
              <a:t>• But price moves dominate: in 2020 to 2023 the coins we shorted, like Dogecoin and XRP, kept rallying and wiped out the funding.</a:t>
            </a:r>
          </a:p>
          <a:p>
            <a:r>
              <a:t>• Since 2024 most of the gain came from price, so we read the strong out-of-sample number with caution.</a:t>
            </a:r>
          </a:p>
          <a:p>
            <a:r>
              <a:t>• The beta to Bitcoin is about zero, so the strategy has no market exposure.</a:t>
            </a:r>
          </a:p>
          <a:p>
            <a:r>
              <a:t>• Its losses come from single coins: Terra alone cost 87 percentage points, XRP 58 and Dogecoin 43, while Solana and BNB were the biggest winners.</a:t>
            </a:r>
          </a:p>
          <a:p>
            <a:r>
              <a:t>• A risk control we fixed in advance made things worse and lowered the Sharpe to -0.16: the cap halved exposure and the filter missed the timing of Terra's collapse.</a:t>
            </a:r>
          </a:p>
          <a:p>
            <a:r>
              <a:t>• Our takeaway is that crypto carry crashes in the mirror image of FX: it ends up long whatever traders short hardest.</a:t>
            </a:r>
          </a:p>
          <a:p>
            <a:r>
              <a:t>• The table adds up: over the full sample, funding of +8.5%, price of -2.2% and costs of -2.2% give a net return of +4.1% a year.</a:t>
            </a:r>
          </a:p>
          <a:p>
            <a:r>
              <a:t>• In 2020 to 2023 funding paid 12.3% a year, but price moves took away 12.5%, so the strategy lost money.</a:t>
            </a:r>
          </a:p>
          <a:p>
            <a:r>
              <a:t>• Since 2024 funding paid only 3.1%, and price moves added 13.0%, which is luck rather than carry.</a:t>
            </a:r>
          </a:p>
          <a:p>
            <a:r>
              <a:t>• The risk control capped each coin at one sixth of its side of the book and refused to buy coins with 7-day funding below minus 50% a year.</a:t>
            </a:r>
          </a:p>
          <a:p>
            <a:r>
              <a:t>• It failed because the cap left part of the book in cash and halved the funding income, and on the Sunday before Terra collapsed its 7-day funding was only about minus 20% a year, so the filter did not remove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0:50]</a:t>
            </a:r>
          </a:p>
          <a:p>
            <a:r>
              <a:t>• Finally, we scale both strategies to 10% volatility and combine them 50/50.</a:t>
            </a:r>
          </a:p>
          <a:p>
            <a:r>
              <a:t>• Their correlation is only 0.11: FX and crypto carry crash at different times.</a:t>
            </a:r>
          </a:p>
          <a:p>
            <a:r>
              <a:t>• The mix has 7.0% volatility and a Sharpe of 0.51, and its worst month, -5.9%, is smaller than either part's.</a:t>
            </a:r>
          </a:p>
          <a:p>
            <a:r>
              <a:t>• It does not beat FX alone on Sharpe, because crypto carry was weak in this window.</a:t>
            </a:r>
          </a:p>
          <a:p>
            <a:r>
              <a:t>• Our takeaway is that the benefit of combining them is lower risk, not a higher return.</a:t>
            </a:r>
          </a:p>
          <a:p>
            <a:r>
              <a:t>• We scale each strategy to 10% volatility so that neither one dominates the mix just because it is more volatile; crypto carry is about three times as volatile as FX carry before scaling.</a:t>
            </a:r>
          </a:p>
          <a:p>
            <a:r>
              <a:t>• The scaling uses past volatility only, so there is no look-ahead in the combined portfolio.</a:t>
            </a:r>
          </a:p>
          <a:p>
            <a:r>
              <a:t>• A correlation of 0.11 is close to zero, which means a bad month in one strategy says very little about the other.</a:t>
            </a:r>
          </a:p>
          <a:p>
            <a:r>
              <a:t>• The window starts in 2021 because that is when both strategies have enough history for the volatility estimate.</a:t>
            </a:r>
          </a:p>
          <a:p>
            <a:r>
              <a:t>• With only 67 months of overlap, these combined numbers are indicative rather than precise.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1:00]</a:t>
            </a:r>
          </a:p>
          <a:p>
            <a:r>
              <a:t>• In both markets, carry looks like compensation for crash risk.</a:t>
            </a:r>
          </a:p>
          <a:p>
            <a:r>
              <a:t>• In FX, crowding measured from CFTC positions is a cheap and modestly useful warning sign.</a:t>
            </a:r>
          </a:p>
          <a:p>
            <a:r>
              <a:t>• In crypto, sorting on funding alone exposes you to single-coin collapses like Terra and FTX Token.</a:t>
            </a:r>
          </a:p>
          <a:p>
            <a:r>
              <a:t>• Because the two crash at different times, they diversify each other.</a:t>
            </a:r>
          </a:p>
          <a:p>
            <a:r>
              <a:t>• The main limitations are a short crypto sample, few crowded FX months, and simple cost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258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Crowded Carry in G10 FX and Crypto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C9D1E0"/>
                </a:solidFill>
                <a:latin typeface="Calibri"/>
              </a:rPr>
              <a:t>Crash risk in FX and crypto carry trades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E9AB5"/>
                </a:solidFill>
                <a:latin typeface="Calibri"/>
              </a:rPr>
              <a:t>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9768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39B17"/>
                </a:solidFill>
                <a:latin typeface="Calibri"/>
              </a:rPr>
              <a:t>Reza Zamani  ·  Paraj Goyal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1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E9AB5"/>
                </a:solidFill>
                <a:latin typeface="Calibri"/>
              </a:rPr>
              <a:t>PROFESSOR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297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Amir Kermani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C9D1E0"/>
                </a:solidFill>
                <a:latin typeface="Calibri"/>
              </a:rPr>
              <a:t>Currency Markets (MFE 230GB)  ·  Final project  ·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Carry pays because it crashes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Our question: do carry trades crash when they are crowded?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12064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We test it in two markets with the same economics: G10 currencies and crypto.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Strategy A is carry in seven G10 currencies against the US dollar, with a crowding filter built from CFTC data.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Strategy C is funding carry in twelve crypto perpetual futures on Binance, including the coins that collapsed, Terra and FTX Token.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Why carry crashes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Carry borrows the low-yield asset and holds the high-yield one. UIP says this earns nothing, but in the data it earns a premium, with rare large crashes.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Crashes are worst when the trade is crowded and everyone unwinds at once (Brunnermeier, Nagel &amp; Pedersen 2008).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Hypotheses, fixed before testing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A: carry earns a premium, crowded months are followed by weaker carry, and it loses in volatility spikes.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C: funding carry earns a premium with little BTC exposure, and its crashes are coin-specific.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182880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A: G10 FX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38360" y="18288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B7700C"/>
                </a:solidFill>
                <a:latin typeface="Calibri"/>
              </a:rPr>
              <a:t>C: Crypto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432304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2542032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Carry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54203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3-month rate differential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254203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Perpetual funding 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145536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255264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Crowding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255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CFTC speculator positions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3255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Funding = leveraged demand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3858768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396849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Universe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96849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7 currencies vs USD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38360" y="396849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12 coins (listed below)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4572000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4681728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Frequency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468172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Monthly, 1999–2026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468172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Weekly, 2020–2026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257800"/>
            <a:ext cx="5760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Currencies: Japanese yen (JPY), euro (EUR), British pound (GBP), Swiss franc (CHF), Canadian dollar (CAD), Australian dollar (AUD) and New Zealand dollar (NZD), each against the US dollar.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Coins: Bitcoin (BTC), Ethereum (ETH), BNB, XRP, Cardano (ADA), Dogecoin (DOGE), Solana (SOL), Litecoin (LTC), Chainlink (LINK), Avalanche (AVAX), Terra (LUNA) and FTX Token (FTT).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Data and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Public data; a research design chosen to keep the tests honest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60350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FX spot, 7 currencies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FRED (Fed H.10)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1999–2026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3-month rates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OECD via FRED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1999–2026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Speculator positions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CFTC Commitments of Traders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1986–2026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Crypto price, volume, funding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Binance public archive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2020–2026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Carry factor (validation)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Lustig–Roussanov–Verdelhan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1983–2021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737360"/>
            <a:ext cx="47548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All parameters were fixed before the first backtest.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The out-of-sample period starts in 2011 for A and in 2024 for C.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Costs are 3 bp per unit traded in FX and 5 bp in crypto.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There is no look-ahead: weights set at t earn the return of t+1, and CFTC data are used only after their Friday release.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There is no survivorship bias, because Terra (LUNA) and FTX Token (FTT) stay in the sample.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Robustness grids are reported, but they were never used for tuning.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43400"/>
            <a:ext cx="6035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C677D"/>
                </a:solidFill>
                <a:latin typeface="Calibri"/>
              </a:rPr>
              <a:t>Data fix: before Aug 2000 CFTC lists the same currency futures under 'International Monetary Market'. Matching both names extended positioning back to 1986.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A: crowding-filtered G10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Yen, euro, pound, Swiss franc, Canadian, Australian and New Zealand dollar vs USD, monthly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7451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856231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Carry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221991"/>
            <a:ext cx="60350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At each month-end we buy the 2 highest-rate currencies and sell the 2 lowest, with equal weights and no net dollar bet.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953512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Crowding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319272"/>
            <a:ext cx="60350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Each currency's CFTC net speculative position over open interest is z-scored over 36 months.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6907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050791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Portfolio crowding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416551"/>
            <a:ext cx="60350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It is the average z of the long leg minus the average z of the short leg.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16635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148072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Filter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513831"/>
            <a:ext cx="60350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If crowding is above 1, all positions are cut to half for the next month.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1874519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203911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71576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crowded months out of 328, 1999–2026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3520440"/>
            <a:ext cx="3749039" cy="20116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3685032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Who we usually hold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Long: New Zealand dollar (94% of months) and Australian dollar (75%).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Short: Swiss franc (99%), Japanese yen (52%) and euro (40%).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Crowding filter helps out of sample, not in 2008</a:t>
            </a:r>
          </a:p>
        </p:txBody>
      </p:sp>
      <p:pic>
        <p:nvPicPr>
          <p:cNvPr id="3" name="Picture 2" descr="a_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223760" cy="387616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001000" y="1280160"/>
            <a:ext cx="3657600" cy="13258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0" y="1444751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0.27 → 0.32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121408"/>
            <a:ext cx="320040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Out-of-sample Sharpe, net: carry vs crowd-filtered (2011–2026)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743200"/>
            <a:ext cx="3657600" cy="13258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290779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0.30% vs 0.02%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584448"/>
            <a:ext cx="320040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Next-month carry after non-crowded vs crowded months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4206240"/>
            <a:ext cx="3657600" cy="13258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4370831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5047488"/>
            <a:ext cx="320040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Correlation with the academic LRV carry factor (1999–2021)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40680"/>
            <a:ext cx="7132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C677D"/>
                </a:solidFill>
                <a:latin typeface="Calibri"/>
              </a:rPr>
              <a:t>Full sample, net: Sharpe 0.37 carry, 0.38 filtered; max drawdown -37% either way.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A loses when volatility spikes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Monthly net carry on risk factors, Newey-West t-stats, 1999–2021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476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-1.55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2432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Beta to equity-volatility changes (t = -3.7)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39" y="19476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62432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Beta to the dollar factor (t = 4.1)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2900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9359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024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Monthly alpha (t = 1.7): not significant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342900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39" y="359359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427024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R² of the two-factor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5760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C677D"/>
                </a:solidFill>
                <a:latin typeface="Calibri"/>
              </a:rPr>
              <a:t>Worst months: Oct 2008, Aug 2007, May 2000, Jan 2009, and the Jan 2015 Swiss franc de-peg.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7830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The 2008 carry crash: -20.5% (Jul 2008 – Mar 2009)</a:t>
            </a:r>
          </a:p>
        </p:txBody>
      </p:sp>
      <p:pic>
        <p:nvPicPr>
          <p:cNvPr id="18" name="Picture 17" descr="a_2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240280"/>
            <a:ext cx="5029200" cy="32330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C: crypto funding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Binance perpetuals on BTC, ETH, BNB, XRP, ADA, DOGE, SOL, LTC, LINK, AVAX, LUNA (Terra), FTT; weekly, 2020–2026</a:t>
            </a:r>
          </a:p>
        </p:txBody>
      </p:sp>
      <p:pic>
        <p:nvPicPr>
          <p:cNvPr id="4" name="Picture 3" descr="c_cum_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949440" cy="37289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9319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Funding is paid every 8 hours, and positive funding means longs pay shorts.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Each Sunday we short the third of coins with the highest 7-day funding and buy the lowest third.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The book is dollar-neutral and pays 5 bp per trade.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3794760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3959352"/>
            <a:ext cx="141731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4636008"/>
            <a:ext cx="1417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Net Sharpe, full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84080" y="3794760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3959352"/>
            <a:ext cx="141731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2680" y="4636008"/>
            <a:ext cx="1417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Net Sharpe, 2024–26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5120640"/>
            <a:ext cx="3886200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5285231"/>
            <a:ext cx="3429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-27%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5961888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Worst week: LUNA (Terra) collapse, May 2022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Funding is earned, but price moves dominate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Where the return comes from, and what drives the losses</a:t>
            </a:r>
          </a:p>
        </p:txBody>
      </p:sp>
      <p:pic>
        <p:nvPicPr>
          <p:cNvPr id="4" name="Picture 3" descr="c_decomp_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5486400" cy="360045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09360" y="1691640"/>
          <a:ext cx="53949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% per year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Funding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Full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+8.5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-2.2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+4.1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In-sample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+12.3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-12.5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Out-of-sample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+3.1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+13.0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+13.9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257800"/>
            <a:ext cx="5394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Total P&amp;L by coin, % pts: Solana +102, BNB +51, Avalanche +36; Terra -87, XRP -58, Dogecoin -43, FTX Token -13.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3200400"/>
            <a:ext cx="5394960" cy="333756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336499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Takeaways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3794760"/>
            <a:ext cx="4937760" cy="2606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Funding income is steady at about 8.5% a year, but price moves decide the result.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The strategy has no market exposure, since its beta to Bitcoin is -0.02.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Its losses come from single coins: Terra lost 87 points, XRP 58 and Dogecoin 43.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Our pre-set risk control lowered the Sharpe from 0.14 to -0.16, so it did not help.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Deeply negative funding signals crowded shorts, not a cheap coin.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Combining FX and crypto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Each scaled to 10% vol with lagged volatility, 50/50, 2021–2026</a:t>
            </a:r>
          </a:p>
        </p:txBody>
      </p:sp>
      <p:pic>
        <p:nvPicPr>
          <p:cNvPr id="4" name="Picture 3" descr="co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035040" cy="331927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4937760"/>
          <a:ext cx="58521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822960"/>
                <a:gridCol w="822960"/>
                <a:gridCol w="1188720"/>
                <a:gridCol w="1554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Vol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Max DD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Worst month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9.4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-7.4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9.3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-21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-10.2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Combined 50/50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-5.9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858000" y="1645920"/>
            <a:ext cx="4800600" cy="128016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1810512"/>
            <a:ext cx="4343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2487168"/>
            <a:ext cx="4343400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Correlation between A and C, monthly, 2021–2026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3108960"/>
            <a:ext cx="4800600" cy="342900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3273552"/>
            <a:ext cx="4343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3703320"/>
            <a:ext cx="4343400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FX carry and crypto carry are almost uncorrelated, so they crash at different times.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The 50/50 mix has 7.0% volatility, compared with about 9% for each strategy alone.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Its worst month is -5.9%, smaller than for FX (-7.4%) or crypto (-10.2%).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The mix does not beat FX alone on Sharpe (0.51 vs 0.71), because crypto carry was weak in this window.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Conclusions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39B17"/>
                </a:solidFill>
                <a:latin typeface="Calibri"/>
              </a:rPr>
              <a:t>What we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0312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FX carry reproduces the academic factor (corr 0.82) and is exposed to volatility shocks.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Crowding predicts weaker carry, and the filter modestly improves the out-of-sample Sharpe.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Crypto funding carry is market-neutral, but its crashes are coin-specific: it ends up long what traders short hardest.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FX and crypto carry are nearly uncorrelated (0.11).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39B17"/>
                </a:solidFill>
                <a:latin typeface="Calibri"/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03120"/>
            <a:ext cx="52120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The crypto history is short (2020–2026) and covers only 12 coins.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There are only 33 crowded FX months, and the 2008 crash was not flagged.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The crypto results depend on the lookback and the rebalancing frequency.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Costs are simple estimates, and we ignore funding-rate caps, borrow limits and exchange risk.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