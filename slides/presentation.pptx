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Reza opens. One sentence: we test whether carry trades crash when they are crowded, in G10 FX and in crypto.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Walk through the nine steps in one breath and say who presents which part.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Explain why both are carry: an FX forward earns the rate differential; a short perpetual earns the funding rate.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Read the six questions quickly; stress that hypotheses and parameters were fixed before testing.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FRED blocks scripted downloads, so FRED files were saved by hand. LUNA and FTT are kept to avoid survivorship bias.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Methods: rate-differential sort, CFTC z-scores, funding sort, Newey-West regressions, risk targeting. Methodology: the design choices on this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Mention the data issue we fixed: before Aug 2000 CME currency futures are reported as 'International Monetary Market'.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Full-sample net Sharpe 0.37 vs 0.38. The filter roughly doubles turnover.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Course file CurrencyPortfolios.xls. This validates our data pipeline and code.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Funding is paid every 8 hours between longs and shorts and keeps the perpetual close to spot. High funding = crowded leveraged longs.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LUNA's funding had turned negative as traders shorted it, so the rule held it long into the collapse. FTX week: -11.6%.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Shorter signals do better even after costs: funding information decays within days. We report the pre-specified 7-day weekly case as the main result and do not switch after seeing results.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textbook carry-crash exposure: funding currencies (JPY, CHF) rally when volatility jumps.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Losses are concentrated: LUNA -87, XRP -58, DOGE -44 percentage points. Beta to BTC is about zero (t = -0.75).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two carry trades crash at different times, so the combination is much smoother; Strategy C was weak in this window, so the combination does not beat A on Sharpe.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 with the main message: carry is compensation for crash risk, and crowding is measurable in both markets.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1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325880"/>
            <a:ext cx="107899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4600" b="1" i="0">
                <a:solidFill>
                  <a:srgbClr val="FFFFFF"/>
                </a:solidFill>
                <a:latin typeface="Cambria"/>
              </a:rPr>
              <a:t>Crowded Carry in G10 FX and Crypto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377440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0" i="0">
                <a:solidFill>
                  <a:srgbClr val="C9D1E0"/>
                </a:solidFill>
                <a:latin typeface="Calibri"/>
              </a:rPr>
              <a:t>Crash risk in FX and crypto carry trades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931920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8E9AB5"/>
                </a:solidFill>
                <a:latin typeface="Calibri"/>
              </a:rPr>
              <a:t>STUDENTS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297680"/>
            <a:ext cx="5303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E39B17"/>
                </a:solidFill>
                <a:latin typeface="Calibri"/>
              </a:rPr>
              <a:t>Reza Zamani  ·  Paraj Goyal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3931920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8E9AB5"/>
                </a:solidFill>
                <a:latin typeface="Calibri"/>
              </a:rPr>
              <a:t>PROFESSOR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4297680"/>
            <a:ext cx="5029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Amir Kermani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48640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C9D1E0"/>
                </a:solidFill>
                <a:latin typeface="Calibri"/>
              </a:rPr>
              <a:t>Currency Markets (MFE 230GB)  ·  Final project  ·  October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9692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14213D"/>
                </a:solidFill>
                <a:latin typeface="Cambria"/>
              </a:rPr>
              <a:t>Presentation structure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5C677D"/>
                </a:solidFill>
                <a:latin typeface="Calibri"/>
              </a:rPr>
              <a:t>From the economic idea to two strategies, their risks and a combined portfolio</a:t>
            </a:r>
          </a:p>
        </p:txBody>
      </p:sp>
      <p:sp>
        <p:nvSpPr>
          <p:cNvPr id="4" name="Rectangle 3"/>
          <p:cNvSpPr/>
          <p:nvPr/>
        </p:nvSpPr>
        <p:spPr>
          <a:xfrm>
            <a:off x="886968" y="2816352"/>
            <a:ext cx="10094976" cy="45720"/>
          </a:xfrm>
          <a:prstGeom prst="rect">
            <a:avLst/>
          </a:prstGeom>
          <a:solidFill>
            <a:srgbClr val="C9D1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66928" y="2514600"/>
            <a:ext cx="658368" cy="658368"/>
          </a:xfrm>
          <a:prstGeom prst="ellipse">
            <a:avLst/>
          </a:prstGeom>
          <a:solidFill>
            <a:srgbClr val="1421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2608" y="3383280"/>
            <a:ext cx="1207008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 i="0">
                <a:solidFill>
                  <a:srgbClr val="14213D"/>
                </a:solidFill>
                <a:latin typeface="Calibri"/>
              </a:rPr>
              <a:t>Motivation</a:t>
            </a:r>
          </a:p>
          <a:p>
            <a:pPr algn="ctr">
              <a:spcAft>
                <a:spcPts val="0"/>
              </a:spcAft>
            </a:pPr>
            <a:r>
              <a:rPr sz="1400" b="1" i="0">
                <a:solidFill>
                  <a:srgbClr val="14213D"/>
                </a:solidFill>
                <a:latin typeface="Calibri"/>
              </a:rPr>
              <a:t>and questions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" y="4114800"/>
            <a:ext cx="120700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 i="0">
                <a:solidFill>
                  <a:srgbClr val="5C677D"/>
                </a:solidFill>
                <a:latin typeface="Calibri"/>
              </a:rPr>
              <a:t>Slides 3–4</a:t>
            </a:r>
          </a:p>
        </p:txBody>
      </p:sp>
      <p:sp>
        <p:nvSpPr>
          <p:cNvPr id="8" name="Oval 7"/>
          <p:cNvSpPr/>
          <p:nvPr/>
        </p:nvSpPr>
        <p:spPr>
          <a:xfrm>
            <a:off x="1828800" y="2514600"/>
            <a:ext cx="658368" cy="658368"/>
          </a:xfrm>
          <a:prstGeom prst="ellipse">
            <a:avLst/>
          </a:prstGeom>
          <a:solidFill>
            <a:srgbClr val="1421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3383280"/>
            <a:ext cx="1207008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 i="0">
                <a:solidFill>
                  <a:srgbClr val="14213D"/>
                </a:solidFill>
                <a:latin typeface="Calibri"/>
              </a:rPr>
              <a:t>Hypotheses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4114800"/>
            <a:ext cx="120700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 i="0">
                <a:solidFill>
                  <a:srgbClr val="5C677D"/>
                </a:solidFill>
                <a:latin typeface="Calibri"/>
              </a:rPr>
              <a:t>Slide 4</a:t>
            </a:r>
          </a:p>
        </p:txBody>
      </p:sp>
      <p:sp>
        <p:nvSpPr>
          <p:cNvPr id="11" name="Oval 10"/>
          <p:cNvSpPr/>
          <p:nvPr/>
        </p:nvSpPr>
        <p:spPr>
          <a:xfrm>
            <a:off x="3090672" y="2514600"/>
            <a:ext cx="658368" cy="658368"/>
          </a:xfrm>
          <a:prstGeom prst="ellipse">
            <a:avLst/>
          </a:prstGeom>
          <a:solidFill>
            <a:srgbClr val="1421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16352" y="3383280"/>
            <a:ext cx="1207008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 i="0">
                <a:solidFill>
                  <a:srgbClr val="14213D"/>
                </a:solidFill>
                <a:latin typeface="Calibri"/>
              </a:rPr>
              <a:t>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16352" y="4114800"/>
            <a:ext cx="120700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 i="0">
                <a:solidFill>
                  <a:srgbClr val="5C677D"/>
                </a:solidFill>
                <a:latin typeface="Calibri"/>
              </a:rPr>
              <a:t>Slide 5</a:t>
            </a:r>
          </a:p>
        </p:txBody>
      </p:sp>
      <p:sp>
        <p:nvSpPr>
          <p:cNvPr id="14" name="Oval 13"/>
          <p:cNvSpPr/>
          <p:nvPr/>
        </p:nvSpPr>
        <p:spPr>
          <a:xfrm>
            <a:off x="4352544" y="2514600"/>
            <a:ext cx="658368" cy="658368"/>
          </a:xfrm>
          <a:prstGeom prst="ellipse">
            <a:avLst/>
          </a:prstGeom>
          <a:solidFill>
            <a:srgbClr val="1421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78224" y="3383280"/>
            <a:ext cx="1207008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 i="0">
                <a:solidFill>
                  <a:srgbClr val="14213D"/>
                </a:solidFill>
                <a:latin typeface="Calibri"/>
              </a:rPr>
              <a:t>Methodology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78224" y="4114800"/>
            <a:ext cx="120700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 i="0">
                <a:solidFill>
                  <a:srgbClr val="5C677D"/>
                </a:solidFill>
                <a:latin typeface="Calibri"/>
              </a:rPr>
              <a:t>Slide 6</a:t>
            </a:r>
          </a:p>
        </p:txBody>
      </p:sp>
      <p:sp>
        <p:nvSpPr>
          <p:cNvPr id="17" name="Oval 16"/>
          <p:cNvSpPr/>
          <p:nvPr/>
        </p:nvSpPr>
        <p:spPr>
          <a:xfrm>
            <a:off x="5614416" y="2514600"/>
            <a:ext cx="658368" cy="658368"/>
          </a:xfrm>
          <a:prstGeom prst="ellipse">
            <a:avLst/>
          </a:prstGeom>
          <a:solidFill>
            <a:srgbClr val="E39B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14213D"/>
                </a:solidFill>
                <a:latin typeface="Calibri"/>
              </a:rPr>
              <a:t>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40096" y="3383280"/>
            <a:ext cx="1207008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 i="0">
                <a:solidFill>
                  <a:srgbClr val="14213D"/>
                </a:solidFill>
                <a:latin typeface="Calibri"/>
              </a:rPr>
              <a:t>Strategy A</a:t>
            </a:r>
          </a:p>
          <a:p>
            <a:pPr algn="ctr">
              <a:spcAft>
                <a:spcPts val="0"/>
              </a:spcAft>
            </a:pPr>
            <a:r>
              <a:rPr sz="1400" b="1" i="0">
                <a:solidFill>
                  <a:srgbClr val="14213D"/>
                </a:solidFill>
                <a:latin typeface="Calibri"/>
              </a:rPr>
              <a:t>results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40096" y="4114800"/>
            <a:ext cx="120700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 i="0">
                <a:solidFill>
                  <a:srgbClr val="5C677D"/>
                </a:solidFill>
                <a:latin typeface="Calibri"/>
              </a:rPr>
              <a:t>Slides 7–9</a:t>
            </a:r>
          </a:p>
        </p:txBody>
      </p:sp>
      <p:sp>
        <p:nvSpPr>
          <p:cNvPr id="20" name="Oval 19"/>
          <p:cNvSpPr/>
          <p:nvPr/>
        </p:nvSpPr>
        <p:spPr>
          <a:xfrm>
            <a:off x="6876288" y="2514600"/>
            <a:ext cx="658368" cy="658368"/>
          </a:xfrm>
          <a:prstGeom prst="ellipse">
            <a:avLst/>
          </a:prstGeom>
          <a:solidFill>
            <a:srgbClr val="E39B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14213D"/>
                </a:solidFill>
                <a:latin typeface="Calibri"/>
              </a:rPr>
              <a:t>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01968" y="3383280"/>
            <a:ext cx="1207008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 i="0">
                <a:solidFill>
                  <a:srgbClr val="14213D"/>
                </a:solidFill>
                <a:latin typeface="Calibri"/>
              </a:rPr>
              <a:t>Strategy C</a:t>
            </a:r>
          </a:p>
          <a:p>
            <a:pPr algn="ctr">
              <a:spcAft>
                <a:spcPts val="0"/>
              </a:spcAft>
            </a:pPr>
            <a:r>
              <a:rPr sz="1400" b="1" i="0">
                <a:solidFill>
                  <a:srgbClr val="14213D"/>
                </a:solidFill>
                <a:latin typeface="Calibri"/>
              </a:rPr>
              <a:t>results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01968" y="4114800"/>
            <a:ext cx="120700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 i="0">
                <a:solidFill>
                  <a:srgbClr val="5C677D"/>
                </a:solidFill>
                <a:latin typeface="Calibri"/>
              </a:rPr>
              <a:t>Slides 10–12</a:t>
            </a:r>
          </a:p>
        </p:txBody>
      </p:sp>
      <p:sp>
        <p:nvSpPr>
          <p:cNvPr id="23" name="Oval 22"/>
          <p:cNvSpPr/>
          <p:nvPr/>
        </p:nvSpPr>
        <p:spPr>
          <a:xfrm>
            <a:off x="8138159" y="2514600"/>
            <a:ext cx="658368" cy="658368"/>
          </a:xfrm>
          <a:prstGeom prst="ellipse">
            <a:avLst/>
          </a:prstGeom>
          <a:solidFill>
            <a:srgbClr val="1421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863839" y="3383280"/>
            <a:ext cx="1207008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 i="0">
                <a:solidFill>
                  <a:srgbClr val="14213D"/>
                </a:solidFill>
                <a:latin typeface="Calibri"/>
              </a:rPr>
              <a:t>Risk</a:t>
            </a:r>
          </a:p>
          <a:p>
            <a:pPr algn="ctr">
              <a:spcAft>
                <a:spcPts val="0"/>
              </a:spcAft>
            </a:pPr>
            <a:r>
              <a:rPr sz="1400" b="1" i="0">
                <a:solidFill>
                  <a:srgbClr val="14213D"/>
                </a:solidFill>
                <a:latin typeface="Calibri"/>
              </a:rPr>
              <a:t>analysis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63839" y="4114800"/>
            <a:ext cx="120700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 i="0">
                <a:solidFill>
                  <a:srgbClr val="5C677D"/>
                </a:solidFill>
                <a:latin typeface="Calibri"/>
              </a:rPr>
              <a:t>Slides 13–14</a:t>
            </a:r>
          </a:p>
        </p:txBody>
      </p:sp>
      <p:sp>
        <p:nvSpPr>
          <p:cNvPr id="26" name="Oval 25"/>
          <p:cNvSpPr/>
          <p:nvPr/>
        </p:nvSpPr>
        <p:spPr>
          <a:xfrm>
            <a:off x="9400032" y="2514600"/>
            <a:ext cx="658368" cy="658368"/>
          </a:xfrm>
          <a:prstGeom prst="ellipse">
            <a:avLst/>
          </a:prstGeom>
          <a:solidFill>
            <a:srgbClr val="1421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25711" y="3383280"/>
            <a:ext cx="1207008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 i="0">
                <a:solidFill>
                  <a:srgbClr val="14213D"/>
                </a:solidFill>
                <a:latin typeface="Calibri"/>
              </a:rPr>
              <a:t>Combined</a:t>
            </a:r>
          </a:p>
          <a:p>
            <a:pPr algn="ctr">
              <a:spcAft>
                <a:spcPts val="0"/>
              </a:spcAft>
            </a:pPr>
            <a:r>
              <a:rPr sz="1400" b="1" i="0">
                <a:solidFill>
                  <a:srgbClr val="14213D"/>
                </a:solidFill>
                <a:latin typeface="Calibri"/>
              </a:rPr>
              <a:t>portfolio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25711" y="4114800"/>
            <a:ext cx="120700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 i="0">
                <a:solidFill>
                  <a:srgbClr val="5C677D"/>
                </a:solidFill>
                <a:latin typeface="Calibri"/>
              </a:rPr>
              <a:t>Slide 15</a:t>
            </a:r>
          </a:p>
        </p:txBody>
      </p:sp>
      <p:sp>
        <p:nvSpPr>
          <p:cNvPr id="29" name="Oval 28"/>
          <p:cNvSpPr/>
          <p:nvPr/>
        </p:nvSpPr>
        <p:spPr>
          <a:xfrm>
            <a:off x="10661903" y="2514600"/>
            <a:ext cx="658368" cy="658368"/>
          </a:xfrm>
          <a:prstGeom prst="ellipse">
            <a:avLst/>
          </a:prstGeom>
          <a:solidFill>
            <a:srgbClr val="1421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387583" y="3383280"/>
            <a:ext cx="1207008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 i="0">
                <a:solidFill>
                  <a:srgbClr val="14213D"/>
                </a:solidFill>
                <a:latin typeface="Calibri"/>
              </a:rPr>
              <a:t>Conclusions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387583" y="4114800"/>
            <a:ext cx="120700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 i="0">
                <a:solidFill>
                  <a:srgbClr val="5C677D"/>
                </a:solidFill>
                <a:latin typeface="Calibri"/>
              </a:rPr>
              <a:t>Slide 16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48640" y="4892040"/>
            <a:ext cx="5440680" cy="1097280"/>
          </a:xfrm>
          <a:prstGeom prst="roundRect">
            <a:avLst>
              <a:gd name="adj" fmla="val 8000"/>
            </a:avLst>
          </a:prstGeom>
          <a:solidFill>
            <a:srgbClr val="EE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77240" y="5029200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14213D"/>
                </a:solidFill>
                <a:latin typeface="Calibri"/>
              </a:rPr>
              <a:t>Reza Zamani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" y="5413248"/>
            <a:ext cx="5029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B1F27"/>
                </a:solidFill>
                <a:latin typeface="Calibri"/>
              </a:rPr>
              <a:t>Motivation, questions and hypotheses; Strategy A (G10 FX) and its risk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172200" y="4892040"/>
            <a:ext cx="5440680" cy="1097280"/>
          </a:xfrm>
          <a:prstGeom prst="roundRect">
            <a:avLst>
              <a:gd name="adj" fmla="val 8000"/>
            </a:avLst>
          </a:prstGeom>
          <a:solidFill>
            <a:srgbClr val="EE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0" y="5029200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14213D"/>
                </a:solidFill>
                <a:latin typeface="Calibri"/>
              </a:rPr>
              <a:t>Paraj Goyal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0" y="5413248"/>
            <a:ext cx="5029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B1F27"/>
                </a:solidFill>
                <a:latin typeface="Calibri"/>
              </a:rPr>
              <a:t>Data and methodology; Strategy C (crypto) and its risk; combined portfolio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" y="614476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5C677D"/>
                </a:solidFill>
                <a:latin typeface="Calibri"/>
              </a:rPr>
              <a:t>Proposed split · conclusions presented together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9692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14213D"/>
                </a:solidFill>
                <a:latin typeface="Cambria"/>
              </a:rPr>
              <a:t>Carry pays because it crashes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5C677D"/>
                </a:solidFill>
                <a:latin typeface="Calibri"/>
              </a:rPr>
              <a:t>Same economic mechanism, two very different markets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271455" y="457200"/>
            <a:ext cx="1371600" cy="384048"/>
          </a:xfrm>
          <a:prstGeom prst="roundRect">
            <a:avLst>
              <a:gd name="adj" fmla="val 8000"/>
            </a:avLst>
          </a:prstGeom>
          <a:solidFill>
            <a:srgbClr val="E39B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200" b="1">
                <a:solidFill>
                  <a:srgbClr val="14213D"/>
                </a:solidFill>
                <a:latin typeface="Calibri"/>
              </a:rPr>
              <a:t>Reza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937760" cy="3474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400"/>
              </a:spcAft>
            </a:pPr>
            <a:r>
              <a:rPr sz="1700" b="0" i="0">
                <a:solidFill>
                  <a:srgbClr val="1B1F27"/>
                </a:solidFill>
                <a:latin typeface="Calibri"/>
              </a:rPr>
              <a:t>•  High-yield assets earn a premium over low-yield ones.</a:t>
            </a:r>
          </a:p>
          <a:p>
            <a:pPr algn="l">
              <a:spcAft>
                <a:spcPts val="1400"/>
              </a:spcAft>
            </a:pPr>
            <a:r>
              <a:rPr sz="1700" b="0" i="0">
                <a:solidFill>
                  <a:srgbClr val="1B1F27"/>
                </a:solidFill>
                <a:latin typeface="Calibri"/>
              </a:rPr>
              <a:t>•  The premium is compensation for crash risk: when many investors hold the same trade, forced unwinding produces sudden losses (Brunnermeier, Nagel &amp; Pedersen 2008).</a:t>
            </a:r>
          </a:p>
          <a:p>
            <a:pPr algn="l">
              <a:spcAft>
                <a:spcPts val="1400"/>
              </a:spcAft>
            </a:pPr>
            <a:r>
              <a:rPr sz="1700" b="1" i="0">
                <a:solidFill>
                  <a:srgbClr val="1B1F27"/>
                </a:solidFill>
                <a:latin typeface="Calibri"/>
              </a:rPr>
              <a:t>•  Hypothesis: crowding is measurable, and crowded carry should crash more.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18120" y="1828800"/>
            <a:ext cx="1828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14213D"/>
                </a:solidFill>
                <a:latin typeface="Calibri"/>
              </a:rPr>
              <a:t>A: G10 FX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738360" y="1828800"/>
            <a:ext cx="1920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E39B17"/>
                </a:solidFill>
                <a:latin typeface="Calibri"/>
              </a:rPr>
              <a:t>C: Crypto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0" y="2432304"/>
            <a:ext cx="5715000" cy="603504"/>
          </a:xfrm>
          <a:prstGeom prst="roundRect">
            <a:avLst>
              <a:gd name="adj" fmla="val 8000"/>
            </a:avLst>
          </a:prstGeom>
          <a:solidFill>
            <a:srgbClr val="EE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26480" y="2542032"/>
            <a:ext cx="1645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5C677D"/>
                </a:solidFill>
                <a:latin typeface="Calibri"/>
              </a:rPr>
              <a:t>Carry signal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18120" y="2542032"/>
            <a:ext cx="1828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B1F27"/>
                </a:solidFill>
                <a:latin typeface="Calibri"/>
              </a:rPr>
              <a:t>3-month rate differential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38360" y="2542032"/>
            <a:ext cx="1828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B1F27"/>
                </a:solidFill>
                <a:latin typeface="Calibri"/>
              </a:rPr>
              <a:t>Perpetual funding rate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0" y="3145536"/>
            <a:ext cx="5715000" cy="603504"/>
          </a:xfrm>
          <a:prstGeom prst="roundRect">
            <a:avLst>
              <a:gd name="adj" fmla="val 8000"/>
            </a:avLst>
          </a:prstGeom>
          <a:solidFill>
            <a:srgbClr val="EE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26480" y="3255264"/>
            <a:ext cx="1645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5C677D"/>
                </a:solidFill>
                <a:latin typeface="Calibri"/>
              </a:rPr>
              <a:t>Crowding data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18120" y="3255264"/>
            <a:ext cx="1828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B1F27"/>
                </a:solidFill>
                <a:latin typeface="Calibri"/>
              </a:rPr>
              <a:t>CFTC speculator positions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38360" y="3255264"/>
            <a:ext cx="1828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B1F27"/>
                </a:solidFill>
                <a:latin typeface="Calibri"/>
              </a:rPr>
              <a:t>Funding = leveraged demand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43600" y="3858768"/>
            <a:ext cx="5715000" cy="603504"/>
          </a:xfrm>
          <a:prstGeom prst="roundRect">
            <a:avLst>
              <a:gd name="adj" fmla="val 8000"/>
            </a:avLst>
          </a:prstGeom>
          <a:solidFill>
            <a:srgbClr val="EE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26480" y="3968496"/>
            <a:ext cx="1645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5C677D"/>
                </a:solidFill>
                <a:latin typeface="Calibri"/>
              </a:rPr>
              <a:t>Universe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18120" y="3968496"/>
            <a:ext cx="1828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B1F27"/>
                </a:solidFill>
                <a:latin typeface="Calibri"/>
              </a:rPr>
              <a:t>7 currencies vs USD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738360" y="3968496"/>
            <a:ext cx="1828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B1F27"/>
                </a:solidFill>
                <a:latin typeface="Calibri"/>
              </a:rPr>
              <a:t>12 coins incl. LUNA, FTT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943600" y="4572000"/>
            <a:ext cx="5715000" cy="603504"/>
          </a:xfrm>
          <a:prstGeom prst="roundRect">
            <a:avLst>
              <a:gd name="adj" fmla="val 8000"/>
            </a:avLst>
          </a:prstGeom>
          <a:solidFill>
            <a:srgbClr val="EE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26480" y="4681728"/>
            <a:ext cx="1645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5C677D"/>
                </a:solidFill>
                <a:latin typeface="Calibri"/>
              </a:rPr>
              <a:t>Frequency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18120" y="4681728"/>
            <a:ext cx="1828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B1F27"/>
                </a:solidFill>
                <a:latin typeface="Calibri"/>
              </a:rPr>
              <a:t>Monthly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738360" y="4681728"/>
            <a:ext cx="1828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B1F27"/>
                </a:solidFill>
                <a:latin typeface="Calibri"/>
              </a:rPr>
              <a:t>Weekly rebalance, daily P&amp;L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9692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14213D"/>
                </a:solidFill>
                <a:latin typeface="Cambria"/>
              </a:rPr>
              <a:t>Research questions and hypotheses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5C677D"/>
                </a:solidFill>
                <a:latin typeface="Calibri"/>
              </a:rPr>
              <a:t>Stated before running any backtest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271455" y="457200"/>
            <a:ext cx="1371600" cy="384048"/>
          </a:xfrm>
          <a:prstGeom prst="roundRect">
            <a:avLst>
              <a:gd name="adj" fmla="val 8000"/>
            </a:avLst>
          </a:prstGeom>
          <a:solidFill>
            <a:srgbClr val="E39B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200" b="1">
                <a:solidFill>
                  <a:srgbClr val="14213D"/>
                </a:solidFill>
                <a:latin typeface="Calibri"/>
              </a:rPr>
              <a:t>Reza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83080"/>
            <a:ext cx="5394960" cy="4526280"/>
          </a:xfrm>
          <a:prstGeom prst="roundRect">
            <a:avLst>
              <a:gd name="adj" fmla="val 8000"/>
            </a:avLst>
          </a:prstGeom>
          <a:solidFill>
            <a:srgbClr val="EE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59" y="1920240"/>
            <a:ext cx="49377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14213D"/>
                </a:solidFill>
                <a:latin typeface="Calibri"/>
              </a:rPr>
              <a:t>Strategy A · G10 FX carry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59" y="2423160"/>
            <a:ext cx="6400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5C677D"/>
                </a:solidFill>
                <a:latin typeface="Calibri"/>
              </a:rPr>
              <a:t>RQ1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2423160"/>
            <a:ext cx="4251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B1F27"/>
                </a:solidFill>
                <a:latin typeface="Calibri"/>
              </a:rPr>
              <a:t>Does G10 carry earn a premium after costs, and match the academic carry factor?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59" y="3081528"/>
            <a:ext cx="6400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5C677D"/>
                </a:solidFill>
                <a:latin typeface="Calibri"/>
              </a:rPr>
              <a:t>RQ2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63040" y="3081528"/>
            <a:ext cx="4251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B1F27"/>
                </a:solidFill>
                <a:latin typeface="Calibri"/>
              </a:rPr>
              <a:t>Does CFTC crowding predict weaker carry, and does cutting exposure help out of sample?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59" y="3739896"/>
            <a:ext cx="6400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5C677D"/>
                </a:solidFill>
                <a:latin typeface="Calibri"/>
              </a:rPr>
              <a:t>RQ3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3739896"/>
            <a:ext cx="4251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B1F27"/>
                </a:solidFill>
                <a:latin typeface="Calibri"/>
              </a:rPr>
              <a:t>Is carry exposed to volatility shocks and the dollar factor?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59" y="4443983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5C677D"/>
                </a:solidFill>
                <a:latin typeface="Calibri"/>
              </a:rPr>
              <a:t>Hypotheses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59" y="4782312"/>
            <a:ext cx="49377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B1F27"/>
                </a:solidFill>
                <a:latin typeface="Calibri"/>
              </a:rPr>
              <a:t>•  H1: positive carry premium (H0: zero)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B1F27"/>
                </a:solidFill>
                <a:latin typeface="Calibri"/>
              </a:rPr>
              <a:t>•  H1: weaker, more negatively skewed carry after crowded months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B1F27"/>
                </a:solidFill>
                <a:latin typeface="Calibri"/>
              </a:rPr>
              <a:t>•  H1: negative beta to volatility innovations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63640" y="1783080"/>
            <a:ext cx="5394960" cy="4526280"/>
          </a:xfrm>
          <a:prstGeom prst="roundRect">
            <a:avLst>
              <a:gd name="adj" fmla="val 8000"/>
            </a:avLst>
          </a:prstGeom>
          <a:solidFill>
            <a:srgbClr val="EE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37959" y="1920240"/>
            <a:ext cx="49377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B7700C"/>
                </a:solidFill>
                <a:latin typeface="Calibri"/>
              </a:rPr>
              <a:t>Strategy C · crypto funding carry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37959" y="2423160"/>
            <a:ext cx="6400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5C677D"/>
                </a:solidFill>
                <a:latin typeface="Calibri"/>
              </a:rPr>
              <a:t>RQ4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78040" y="2423160"/>
            <a:ext cx="4251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B1F27"/>
                </a:solidFill>
                <a:latin typeface="Calibri"/>
              </a:rPr>
              <a:t>Does short-high / long-low funding earn a premium after costs, from funding or price?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37959" y="3081528"/>
            <a:ext cx="6400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5C677D"/>
                </a:solidFill>
                <a:latin typeface="Calibri"/>
              </a:rPr>
              <a:t>RQ5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78040" y="3081528"/>
            <a:ext cx="4251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B1F27"/>
                </a:solidFill>
                <a:latin typeface="Calibri"/>
              </a:rPr>
              <a:t>What drives its losses, and does a pre-specified risk control help?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37959" y="3739896"/>
            <a:ext cx="6400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5C677D"/>
                </a:solidFill>
                <a:latin typeface="Calibri"/>
              </a:rPr>
              <a:t>RQ6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78040" y="3739896"/>
            <a:ext cx="4251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B1F27"/>
                </a:solidFill>
                <a:latin typeface="Calibri"/>
              </a:rPr>
              <a:t>Are FX and crypto carry correlated; does combining them diversify?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37959" y="4443983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5C677D"/>
                </a:solidFill>
                <a:latin typeface="Calibri"/>
              </a:rPr>
              <a:t>Hypotheses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37959" y="4782312"/>
            <a:ext cx="49377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B1F27"/>
                </a:solidFill>
                <a:latin typeface="Calibri"/>
              </a:rPr>
              <a:t>•  H1: positive premium, mainly from funding (H0: zero)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B1F27"/>
                </a:solidFill>
                <a:latin typeface="Calibri"/>
              </a:rPr>
              <a:t>•  H1: little BTC beta; crashes when crowded positions unwind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9692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14213D"/>
                </a:solidFill>
                <a:latin typeface="Cambria"/>
              </a:rPr>
              <a:t>Data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5C677D"/>
                </a:solidFill>
                <a:latin typeface="Calibri"/>
              </a:rPr>
              <a:t>All downloaded 2026-10-02; cleaned snapshot committed in data/clean/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271455" y="457200"/>
            <a:ext cx="1371600" cy="384048"/>
          </a:xfrm>
          <a:prstGeom prst="roundRect">
            <a:avLst>
              <a:gd name="adj" fmla="val 8000"/>
            </a:avLst>
          </a:prstGeom>
          <a:solidFill>
            <a:srgbClr val="E39B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200" b="1">
                <a:solidFill>
                  <a:srgbClr val="14213D"/>
                </a:solidFill>
                <a:latin typeface="Calibri"/>
              </a:rPr>
              <a:t>Paraj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783080"/>
          <a:ext cx="1106424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3108960"/>
                <a:gridCol w="2834640"/>
                <a:gridCol w="2011680"/>
              </a:tblGrid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Data</a:t>
                      </a:r>
                    </a:p>
                  </a:txBody>
                  <a:tcPr marL="73152" marR="73152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Source</a:t>
                      </a:r>
                    </a:p>
                  </a:txBody>
                  <a:tcPr marL="73152" marR="73152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Coverage</a:t>
                      </a:r>
                    </a:p>
                  </a:txBody>
                  <a:tcPr marL="73152" marR="73152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Used for</a:t>
                      </a:r>
                    </a:p>
                  </a:txBody>
                  <a:tcPr marL="73152" marR="73152">
                    <a:solidFill>
                      <a:srgbClr val="14213D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B1F27"/>
                          </a:solidFill>
                          <a:latin typeface="Calibri"/>
                        </a:rPr>
                        <a:t>FX spot (7 currencies)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B1F27"/>
                          </a:solidFill>
                          <a:latin typeface="Calibri"/>
                        </a:rPr>
                        <a:t>FRED, Fed H.10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B1F27"/>
                          </a:solidFill>
                          <a:latin typeface="Calibri"/>
                        </a:rPr>
                        <a:t>1971–2026 (EUR from 1999)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B1F27"/>
                          </a:solidFill>
                          <a:latin typeface="Calibri"/>
                        </a:rPr>
                        <a:t>A: returns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B1F27"/>
                          </a:solidFill>
                          <a:latin typeface="Calibri"/>
                        </a:rPr>
                        <a:t>3-month interbank rates</a:t>
                      </a:r>
                    </a:p>
                  </a:txBody>
                  <a:tcPr marL="73152" marR="73152"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B1F27"/>
                          </a:solidFill>
                          <a:latin typeface="Calibri"/>
                        </a:rPr>
                        <a:t>OECD via FRED</a:t>
                      </a:r>
                    </a:p>
                  </a:txBody>
                  <a:tcPr marL="73152" marR="73152"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B1F27"/>
                          </a:solidFill>
                          <a:latin typeface="Calibri"/>
                        </a:rPr>
                        <a:t>JPY from 2002, CHF from 1999</a:t>
                      </a:r>
                    </a:p>
                  </a:txBody>
                  <a:tcPr marL="73152" marR="73152"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B1F27"/>
                          </a:solidFill>
                          <a:latin typeface="Calibri"/>
                        </a:rPr>
                        <a:t>A: carry signal</a:t>
                      </a:r>
                    </a:p>
                  </a:txBody>
                  <a:tcPr marL="73152" marR="73152">
                    <a:solidFill>
                      <a:srgbClr val="EEF1F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B1F27"/>
                          </a:solidFill>
                          <a:latin typeface="Calibri"/>
                        </a:rPr>
                        <a:t>Speculative positioning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B1F27"/>
                          </a:solidFill>
                          <a:latin typeface="Calibri"/>
                        </a:rPr>
                        <a:t>CFTC Commitments of Traders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B1F27"/>
                          </a:solidFill>
                          <a:latin typeface="Calibri"/>
                        </a:rPr>
                        <a:t>1986–2026 (NZD from 1999)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B1F27"/>
                          </a:solidFill>
                          <a:latin typeface="Calibri"/>
                        </a:rPr>
                        <a:t>A: crowding (alt. data)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B1F27"/>
                          </a:solidFill>
                          <a:latin typeface="Calibri"/>
                        </a:rPr>
                        <a:t>Prices, volume, funding (12 coins + USDC)</a:t>
                      </a:r>
                    </a:p>
                  </a:txBody>
                  <a:tcPr marL="73152" marR="73152"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B1F27"/>
                          </a:solidFill>
                          <a:latin typeface="Calibri"/>
                        </a:rPr>
                        <a:t>Binance public archive</a:t>
                      </a:r>
                    </a:p>
                  </a:txBody>
                  <a:tcPr marL="73152" marR="73152"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B1F27"/>
                          </a:solidFill>
                          <a:latin typeface="Calibri"/>
                        </a:rPr>
                        <a:t>2020-01 to 2026-08</a:t>
                      </a:r>
                    </a:p>
                  </a:txBody>
                  <a:tcPr marL="73152" marR="73152"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B1F27"/>
                          </a:solidFill>
                          <a:latin typeface="Calibri"/>
                        </a:rPr>
                        <a:t>C: signal and returns</a:t>
                      </a:r>
                    </a:p>
                  </a:txBody>
                  <a:tcPr marL="73152" marR="73152">
                    <a:solidFill>
                      <a:srgbClr val="EEF1F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B1F27"/>
                          </a:solidFill>
                          <a:latin typeface="Calibri"/>
                        </a:rPr>
                        <a:t>Carry factor portfolios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B1F27"/>
                          </a:solidFill>
                          <a:latin typeface="Calibri"/>
                        </a:rPr>
                        <a:t>Lustig–Roussanov–Verdelhan (course file)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B1F27"/>
                          </a:solidFill>
                          <a:latin typeface="Calibri"/>
                        </a:rPr>
                        <a:t>1983–2021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B1F27"/>
                          </a:solidFill>
                          <a:latin typeface="Calibri"/>
                        </a:rPr>
                        <a:t>Validation, risk factors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548640" y="4572000"/>
            <a:ext cx="3520440" cy="1417320"/>
          </a:xfrm>
          <a:prstGeom prst="roundRect">
            <a:avLst>
              <a:gd name="adj" fmla="val 8000"/>
            </a:avLst>
          </a:prstGeom>
          <a:solidFill>
            <a:srgbClr val="EE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4736592"/>
            <a:ext cx="3063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14213D"/>
                </a:solidFill>
                <a:latin typeface="Cambria"/>
              </a:rPr>
              <a:t>1986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5413248"/>
            <a:ext cx="30632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C677D"/>
                </a:solidFill>
                <a:latin typeface="Calibri"/>
              </a:rPr>
              <a:t>CFTC history after matching the pre-2000 'International Monetary Market' contracts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3400" y="4572000"/>
            <a:ext cx="3520440" cy="1417320"/>
          </a:xfrm>
          <a:prstGeom prst="roundRect">
            <a:avLst>
              <a:gd name="adj" fmla="val 8000"/>
            </a:avLst>
          </a:prstGeom>
          <a:solidFill>
            <a:srgbClr val="EE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0" y="4736592"/>
            <a:ext cx="3063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14213D"/>
                </a:solidFill>
                <a:latin typeface="Cambria"/>
              </a:rPr>
              <a:t>≈ 12–15%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5413248"/>
            <a:ext cx="30632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C677D"/>
                </a:solidFill>
                <a:latin typeface="Calibri"/>
              </a:rPr>
              <a:t>Average annual funding on the large coins (BTC 11.8%, ETH 13.9%, XRP 14.7%)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38160" y="4572000"/>
            <a:ext cx="3474720" cy="1417320"/>
          </a:xfrm>
          <a:prstGeom prst="roundRect">
            <a:avLst>
              <a:gd name="adj" fmla="val 8000"/>
            </a:avLst>
          </a:prstGeom>
          <a:solidFill>
            <a:srgbClr val="EE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66760" y="4736592"/>
            <a:ext cx="30175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14213D"/>
                </a:solidFill>
                <a:latin typeface="Cambria"/>
              </a:rPr>
              <a:t>0.985–1.002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66760" y="5413248"/>
            <a:ext cx="30175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C677D"/>
                </a:solidFill>
                <a:latin typeface="Calibri"/>
              </a:rPr>
              <a:t>USDC price range: sanity check that the crypto data are read correctly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9692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14213D"/>
                </a:solidFill>
                <a:latin typeface="Cambria"/>
              </a:rPr>
              <a:t>Methodology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5C677D"/>
                </a:solidFill>
                <a:latin typeface="Calibri"/>
              </a:rPr>
              <a:t>Research design chosen to keep the tests honest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271455" y="457200"/>
            <a:ext cx="1371600" cy="384048"/>
          </a:xfrm>
          <a:prstGeom prst="roundRect">
            <a:avLst>
              <a:gd name="adj" fmla="val 8000"/>
            </a:avLst>
          </a:prstGeom>
          <a:solidFill>
            <a:srgbClr val="E39B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200" b="1">
                <a:solidFill>
                  <a:srgbClr val="14213D"/>
                </a:solidFill>
                <a:latin typeface="Calibri"/>
              </a:rPr>
              <a:t>Paraj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83080"/>
            <a:ext cx="3520440" cy="1874519"/>
          </a:xfrm>
          <a:prstGeom prst="roundRect">
            <a:avLst>
              <a:gd name="adj" fmla="val 8000"/>
            </a:avLst>
          </a:prstGeom>
          <a:solidFill>
            <a:srgbClr val="EE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965960"/>
            <a:ext cx="31089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14213D"/>
                </a:solidFill>
                <a:latin typeface="Calibri"/>
              </a:rPr>
              <a:t>Pre-specified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468880"/>
            <a:ext cx="3108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B1F27"/>
                </a:solidFill>
                <a:latin typeface="Calibri"/>
              </a:rPr>
              <a:t>All legs, windows, thresholds, lookbacks and costs fixed before the first backtest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79" y="1783080"/>
            <a:ext cx="3520440" cy="1874519"/>
          </a:xfrm>
          <a:prstGeom prst="roundRect">
            <a:avLst>
              <a:gd name="adj" fmla="val 8000"/>
            </a:avLst>
          </a:prstGeom>
          <a:solidFill>
            <a:srgbClr val="EE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26279" y="1965960"/>
            <a:ext cx="31089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14213D"/>
                </a:solidFill>
                <a:latin typeface="Calibri"/>
              </a:rPr>
              <a:t>In- vs out-of-sample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26279" y="2468880"/>
            <a:ext cx="3108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B1F27"/>
                </a:solidFill>
                <a:latin typeface="Calibri"/>
              </a:rPr>
              <a:t>A: 1999–2010 / 2011–2026.  C: 2020–2023 / 2024–2026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19" y="1783080"/>
            <a:ext cx="3520440" cy="1874519"/>
          </a:xfrm>
          <a:prstGeom prst="roundRect">
            <a:avLst>
              <a:gd name="adj" fmla="val 8000"/>
            </a:avLst>
          </a:prstGeom>
          <a:solidFill>
            <a:srgbClr val="EE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75319" y="1965960"/>
            <a:ext cx="31089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14213D"/>
                </a:solidFill>
                <a:latin typeface="Calibri"/>
              </a:rPr>
              <a:t>Transaction costs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75319" y="2468880"/>
            <a:ext cx="3108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B1F27"/>
                </a:solidFill>
                <a:latin typeface="Calibri"/>
              </a:rPr>
              <a:t>3 bp per unit traded in FX, 5 bp in crypto; gross and net reported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886200"/>
            <a:ext cx="3520440" cy="1874519"/>
          </a:xfrm>
          <a:prstGeom prst="roundRect">
            <a:avLst>
              <a:gd name="adj" fmla="val 8000"/>
            </a:avLst>
          </a:prstGeom>
          <a:solidFill>
            <a:srgbClr val="EE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4069080"/>
            <a:ext cx="31089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14213D"/>
                </a:solidFill>
                <a:latin typeface="Calibri"/>
              </a:rPr>
              <a:t>No look-ahead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572000"/>
            <a:ext cx="3108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B1F27"/>
                </a:solidFill>
                <a:latin typeface="Calibri"/>
              </a:rPr>
              <a:t>Weights at t earn t+1; CFTC used after its Friday release; funding up to t−1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7679" y="3886200"/>
            <a:ext cx="3520440" cy="1874519"/>
          </a:xfrm>
          <a:prstGeom prst="roundRect">
            <a:avLst>
              <a:gd name="adj" fmla="val 8000"/>
            </a:avLst>
          </a:prstGeom>
          <a:solidFill>
            <a:srgbClr val="EE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26279" y="4069080"/>
            <a:ext cx="31089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14213D"/>
                </a:solidFill>
                <a:latin typeface="Calibri"/>
              </a:rPr>
              <a:t>Survivorship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26279" y="4572000"/>
            <a:ext cx="3108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B1F27"/>
                </a:solidFill>
                <a:latin typeface="Calibri"/>
              </a:rPr>
              <a:t>LUNA and FTT kept; a coin trades only with a price and positive volume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46719" y="3886200"/>
            <a:ext cx="3520440" cy="1874519"/>
          </a:xfrm>
          <a:prstGeom prst="roundRect">
            <a:avLst>
              <a:gd name="adj" fmla="val 8000"/>
            </a:avLst>
          </a:prstGeom>
          <a:solidFill>
            <a:srgbClr val="EE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75319" y="4069080"/>
            <a:ext cx="31089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14213D"/>
                </a:solidFill>
                <a:latin typeface="Calibri"/>
              </a:rPr>
              <a:t>Robustness and validation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75319" y="4572000"/>
            <a:ext cx="3108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B1F27"/>
                </a:solidFill>
                <a:latin typeface="Calibri"/>
              </a:rPr>
              <a:t>Grids reported, not used for tuning; A checked against the LRV carry factor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9692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14213D"/>
                </a:solidFill>
                <a:latin typeface="Cambria"/>
              </a:rPr>
              <a:t>Strategy A: crowding-filtered G10 carry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5C677D"/>
                </a:solidFill>
                <a:latin typeface="Calibri"/>
              </a:rPr>
              <a:t>JPY, EUR, GBP, CHF, CAD, AUD, NZD vs USD, monthly, 1999–2026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271455" y="457200"/>
            <a:ext cx="1371600" cy="384048"/>
          </a:xfrm>
          <a:prstGeom prst="roundRect">
            <a:avLst>
              <a:gd name="adj" fmla="val 8000"/>
            </a:avLst>
          </a:prstGeom>
          <a:solidFill>
            <a:srgbClr val="E39B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200" b="1">
                <a:solidFill>
                  <a:srgbClr val="14213D"/>
                </a:solidFill>
                <a:latin typeface="Calibri"/>
              </a:rPr>
              <a:t>Reza</a:t>
            </a:r>
          </a:p>
        </p:txBody>
      </p:sp>
      <p:sp>
        <p:nvSpPr>
          <p:cNvPr id="5" name="Oval 4"/>
          <p:cNvSpPr/>
          <p:nvPr/>
        </p:nvSpPr>
        <p:spPr>
          <a:xfrm>
            <a:off x="548640" y="1874519"/>
            <a:ext cx="502920" cy="502920"/>
          </a:xfrm>
          <a:prstGeom prst="ellipse">
            <a:avLst/>
          </a:prstGeom>
          <a:solidFill>
            <a:srgbClr val="1421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1856231"/>
            <a:ext cx="5852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14213D"/>
                </a:solidFill>
                <a:latin typeface="Calibri"/>
              </a:rPr>
              <a:t>Carry portfolio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2221991"/>
            <a:ext cx="5852160" cy="7315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1B1F27"/>
                </a:solidFill>
                <a:latin typeface="Calibri"/>
              </a:rPr>
              <a:t>Each month-end: long the 2 highest-rate currencies, short the 2 lowest. Equal weights, dollar-neutral, 3 bp costs.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2971800"/>
            <a:ext cx="502920" cy="502920"/>
          </a:xfrm>
          <a:prstGeom prst="ellipse">
            <a:avLst/>
          </a:prstGeom>
          <a:solidFill>
            <a:srgbClr val="1421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80160" y="2953512"/>
            <a:ext cx="5852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14213D"/>
                </a:solidFill>
                <a:latin typeface="Calibri"/>
              </a:rPr>
              <a:t>Crowding signal (alternative data)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3319272"/>
            <a:ext cx="5852160" cy="7315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1B1F27"/>
                </a:solidFill>
                <a:latin typeface="Calibri"/>
              </a:rPr>
              <a:t>CFTC net speculative position / open interest, 36-month z-score, used only after the Friday release.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4069079"/>
            <a:ext cx="502920" cy="502920"/>
          </a:xfrm>
          <a:prstGeom prst="ellipse">
            <a:avLst/>
          </a:prstGeom>
          <a:solidFill>
            <a:srgbClr val="1421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4050791"/>
            <a:ext cx="5852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14213D"/>
                </a:solidFill>
                <a:latin typeface="Calibri"/>
              </a:rPr>
              <a:t>Portfolio crowding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80160" y="4416551"/>
            <a:ext cx="5852160" cy="7315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1B1F27"/>
                </a:solidFill>
                <a:latin typeface="Calibri"/>
              </a:rPr>
              <a:t>Average z of the long leg minus average z of the short leg.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5166359"/>
            <a:ext cx="502920" cy="502920"/>
          </a:xfrm>
          <a:prstGeom prst="ellipse">
            <a:avLst/>
          </a:prstGeom>
          <a:solidFill>
            <a:srgbClr val="1421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80160" y="5148072"/>
            <a:ext cx="5852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14213D"/>
                </a:solidFill>
                <a:latin typeface="Calibri"/>
              </a:rPr>
              <a:t>Filter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5513831"/>
            <a:ext cx="5852160" cy="7315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1B1F27"/>
                </a:solidFill>
                <a:latin typeface="Calibri"/>
              </a:rPr>
              <a:t>Crowding &gt; 1: cut positions to half. All parameters fixed before testing; out-of-sample from 2011.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863840" y="1874519"/>
            <a:ext cx="3749039" cy="1417320"/>
          </a:xfrm>
          <a:prstGeom prst="roundRect">
            <a:avLst>
              <a:gd name="adj" fmla="val 8000"/>
            </a:avLst>
          </a:prstGeom>
          <a:solidFill>
            <a:srgbClr val="EE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92440" y="2039112"/>
            <a:ext cx="3291839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14213D"/>
                </a:solidFill>
                <a:latin typeface="Cambria"/>
              </a:rPr>
              <a:t>1986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92440" y="2715768"/>
            <a:ext cx="3291839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C677D"/>
                </a:solidFill>
                <a:latin typeface="Calibri"/>
              </a:rPr>
              <a:t>CFTC positioning history (after fixing the pre-2000 CME exchange name)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863840" y="3520440"/>
            <a:ext cx="3749039" cy="1417320"/>
          </a:xfrm>
          <a:prstGeom prst="roundRect">
            <a:avLst>
              <a:gd name="adj" fmla="val 8000"/>
            </a:avLst>
          </a:prstGeom>
          <a:solidFill>
            <a:srgbClr val="EE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92440" y="3685032"/>
            <a:ext cx="3291839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14213D"/>
                </a:solidFill>
                <a:latin typeface="Cambria"/>
              </a:rPr>
              <a:t>33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92440" y="4361688"/>
            <a:ext cx="3291839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C677D"/>
                </a:solidFill>
                <a:latin typeface="Calibri"/>
              </a:rPr>
              <a:t>crowded months out of 247 with a crowding signal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9692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14213D"/>
                </a:solidFill>
                <a:latin typeface="Cambria"/>
              </a:rPr>
              <a:t>Crowding filter helps out of sample, not in 2008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271455" y="457200"/>
            <a:ext cx="1371600" cy="384048"/>
          </a:xfrm>
          <a:prstGeom prst="roundRect">
            <a:avLst>
              <a:gd name="adj" fmla="val 8000"/>
            </a:avLst>
          </a:prstGeom>
          <a:solidFill>
            <a:srgbClr val="E39B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200" b="1">
                <a:solidFill>
                  <a:srgbClr val="14213D"/>
                </a:solidFill>
                <a:latin typeface="Calibri"/>
              </a:rPr>
              <a:t>Reza</a:t>
            </a:r>
          </a:p>
        </p:txBody>
      </p:sp>
      <p:pic>
        <p:nvPicPr>
          <p:cNvPr id="4" name="Picture 3" descr="a_cu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25880"/>
            <a:ext cx="7223760" cy="3876164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8001000" y="1417320"/>
            <a:ext cx="3657600" cy="1417320"/>
          </a:xfrm>
          <a:prstGeom prst="roundRect">
            <a:avLst>
              <a:gd name="adj" fmla="val 8000"/>
            </a:avLst>
          </a:prstGeom>
          <a:solidFill>
            <a:srgbClr val="EE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0" y="1581912"/>
            <a:ext cx="32004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14213D"/>
                </a:solidFill>
                <a:latin typeface="Cambria"/>
              </a:rPr>
              <a:t>0.27 → 0.32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0" y="2258568"/>
            <a:ext cx="32004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C677D"/>
                </a:solidFill>
                <a:latin typeface="Calibri"/>
              </a:rPr>
              <a:t>Out-of-sample Sharpe, net: carry vs crowd-filtered (2011–2026)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01000" y="3017520"/>
            <a:ext cx="3657600" cy="1417320"/>
          </a:xfrm>
          <a:prstGeom prst="roundRect">
            <a:avLst>
              <a:gd name="adj" fmla="val 8000"/>
            </a:avLst>
          </a:prstGeom>
          <a:solidFill>
            <a:srgbClr val="EE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0" y="3182112"/>
            <a:ext cx="32004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14213D"/>
                </a:solidFill>
                <a:latin typeface="Cambria"/>
              </a:rPr>
              <a:t>0.30% vs 0.02%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0" y="3858768"/>
            <a:ext cx="32004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C677D"/>
                </a:solidFill>
                <a:latin typeface="Calibri"/>
              </a:rPr>
              <a:t>Next-month carry after non-crowded vs crowded months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01000" y="4617720"/>
            <a:ext cx="3657600" cy="1417320"/>
          </a:xfrm>
          <a:prstGeom prst="roundRect">
            <a:avLst>
              <a:gd name="adj" fmla="val 8000"/>
            </a:avLst>
          </a:prstGeom>
          <a:solidFill>
            <a:srgbClr val="EE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0" y="4782312"/>
            <a:ext cx="32004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B83227"/>
                </a:solidFill>
                <a:latin typeface="Cambria"/>
              </a:rPr>
              <a:t>-37%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0" y="5458968"/>
            <a:ext cx="32004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C677D"/>
                </a:solidFill>
                <a:latin typeface="Calibri"/>
              </a:rPr>
              <a:t>Max drawdown either way: the 2008 crash began from a non-crowded reading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9692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14213D"/>
                </a:solidFill>
                <a:latin typeface="Cambria"/>
              </a:rPr>
              <a:t>Our carry matches the academic carry factor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5C677D"/>
                </a:solidFill>
                <a:latin typeface="Calibri"/>
              </a:rPr>
              <a:t>Strategy A vs Lustig–Roussanov–Verdelhan developed HML, net, 1999–2021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271455" y="457200"/>
            <a:ext cx="1371600" cy="384048"/>
          </a:xfrm>
          <a:prstGeom prst="roundRect">
            <a:avLst>
              <a:gd name="adj" fmla="val 8000"/>
            </a:avLst>
          </a:prstGeom>
          <a:solidFill>
            <a:srgbClr val="E39B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200" b="1">
                <a:solidFill>
                  <a:srgbClr val="14213D"/>
                </a:solidFill>
                <a:latin typeface="Calibri"/>
              </a:rPr>
              <a:t>Reza</a:t>
            </a:r>
          </a:p>
        </p:txBody>
      </p:sp>
      <p:pic>
        <p:nvPicPr>
          <p:cNvPr id="5" name="Picture 4" descr="a_lrv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737360"/>
            <a:ext cx="6766560" cy="402336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772400" y="1783080"/>
            <a:ext cx="3840480" cy="1417320"/>
          </a:xfrm>
          <a:prstGeom prst="roundRect">
            <a:avLst>
              <a:gd name="adj" fmla="val 8000"/>
            </a:avLst>
          </a:prstGeom>
          <a:solidFill>
            <a:srgbClr val="EE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01000" y="1947672"/>
            <a:ext cx="33832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14213D"/>
                </a:solidFill>
                <a:latin typeface="Cambria"/>
              </a:rPr>
              <a:t>0.82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01000" y="2624328"/>
            <a:ext cx="33832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C677D"/>
                </a:solidFill>
                <a:latin typeface="Calibri"/>
              </a:rPr>
              <a:t>Monthly correlation with LRV developed HML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772400" y="3520440"/>
          <a:ext cx="3840480" cy="16459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005840"/>
                <a:gridCol w="1005840"/>
              </a:tblGrid>
              <a:tr h="329183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Net, 1999–2021</a:t>
                      </a:r>
                    </a:p>
                  </a:txBody>
                  <a:tcPr marL="73152" marR="73152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Ours</a:t>
                      </a:r>
                    </a:p>
                  </a:txBody>
                  <a:tcPr marL="73152" marR="73152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LRV</a:t>
                      </a:r>
                    </a:p>
                  </a:txBody>
                  <a:tcPr marL="73152" marR="73152">
                    <a:solidFill>
                      <a:srgbClr val="14213D"/>
                    </a:solidFill>
                  </a:tcPr>
                </a:tc>
              </a:tr>
              <a:tr h="329183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B1F27"/>
                          </a:solidFill>
                          <a:latin typeface="Calibri"/>
                        </a:rPr>
                        <a:t>Ann. mean (%)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B1F27"/>
                          </a:solidFill>
                          <a:latin typeface="Calibri"/>
                        </a:rPr>
                        <a:t>3.2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B1F27"/>
                          </a:solidFill>
                          <a:latin typeface="Calibri"/>
                        </a:rPr>
                        <a:t>2.3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29183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B1F27"/>
                          </a:solidFill>
                          <a:latin typeface="Calibri"/>
                        </a:rPr>
                        <a:t>Ann. vol (%)</a:t>
                      </a:r>
                    </a:p>
                  </a:txBody>
                  <a:tcPr marL="73152" marR="73152"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B1F27"/>
                          </a:solidFill>
                          <a:latin typeface="Calibri"/>
                        </a:rPr>
                        <a:t>9.5</a:t>
                      </a:r>
                    </a:p>
                  </a:txBody>
                  <a:tcPr marL="73152" marR="73152"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B1F27"/>
                          </a:solidFill>
                          <a:latin typeface="Calibri"/>
                        </a:rPr>
                        <a:t>10.0</a:t>
                      </a:r>
                    </a:p>
                  </a:txBody>
                  <a:tcPr marL="73152" marR="73152">
                    <a:solidFill>
                      <a:srgbClr val="EEF1F6"/>
                    </a:solidFill>
                  </a:tcPr>
                </a:tc>
              </a:tr>
              <a:tr h="329183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B1F27"/>
                          </a:solidFill>
                          <a:latin typeface="Calibri"/>
                        </a:rPr>
                        <a:t>Sharpe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B1F27"/>
                          </a:solidFill>
                          <a:latin typeface="Calibri"/>
                        </a:rPr>
                        <a:t>0.34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B1F27"/>
                          </a:solidFill>
                          <a:latin typeface="Calibri"/>
                        </a:rPr>
                        <a:t>0.23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29187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B1F27"/>
                          </a:solidFill>
                          <a:latin typeface="Calibri"/>
                        </a:rPr>
                        <a:t>Max drawdown (%)</a:t>
                      </a:r>
                    </a:p>
                  </a:txBody>
                  <a:tcPr marL="73152" marR="73152"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B1F27"/>
                          </a:solidFill>
                          <a:latin typeface="Calibri"/>
                        </a:rPr>
                        <a:t>-37</a:t>
                      </a:r>
                    </a:p>
                  </a:txBody>
                  <a:tcPr marL="73152" marR="73152"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B1F27"/>
                          </a:solidFill>
                          <a:latin typeface="Calibri"/>
                        </a:rPr>
                        <a:t>-39</a:t>
                      </a:r>
                    </a:p>
                  </a:txBody>
                  <a:tcPr marL="73152" marR="73152">
                    <a:solidFill>
                      <a:srgbClr val="EEF1F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9692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14213D"/>
                </a:solidFill>
                <a:latin typeface="Cambria"/>
              </a:rPr>
              <a:t>Strategy C: crypto funding carry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5C677D"/>
                </a:solidFill>
                <a:latin typeface="Calibri"/>
              </a:rPr>
              <a:t>12 Binance USDT perpetuals, 2020–2026; USDC as a sanity check only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271455" y="457200"/>
            <a:ext cx="1371600" cy="384048"/>
          </a:xfrm>
          <a:prstGeom prst="roundRect">
            <a:avLst>
              <a:gd name="adj" fmla="val 8000"/>
            </a:avLst>
          </a:prstGeom>
          <a:solidFill>
            <a:srgbClr val="E39B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200" b="1">
                <a:solidFill>
                  <a:srgbClr val="14213D"/>
                </a:solidFill>
                <a:latin typeface="Calibri"/>
              </a:rPr>
              <a:t>Paraj</a:t>
            </a:r>
          </a:p>
        </p:txBody>
      </p:sp>
      <p:sp>
        <p:nvSpPr>
          <p:cNvPr id="5" name="Oval 4"/>
          <p:cNvSpPr/>
          <p:nvPr/>
        </p:nvSpPr>
        <p:spPr>
          <a:xfrm>
            <a:off x="548640" y="1874519"/>
            <a:ext cx="502920" cy="502920"/>
          </a:xfrm>
          <a:prstGeom prst="ellipse">
            <a:avLst/>
          </a:prstGeom>
          <a:solidFill>
            <a:srgbClr val="1421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1856231"/>
            <a:ext cx="5852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14213D"/>
                </a:solidFill>
                <a:latin typeface="Calibri"/>
              </a:rPr>
              <a:t>Signal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2221991"/>
            <a:ext cx="5852160" cy="7315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1B1F27"/>
                </a:solidFill>
                <a:latin typeface="Calibri"/>
              </a:rPr>
              <a:t>Trailing 7-day average funding rate, data up to the day before.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2971800"/>
            <a:ext cx="502920" cy="502920"/>
          </a:xfrm>
          <a:prstGeom prst="ellipse">
            <a:avLst/>
          </a:prstGeom>
          <a:solidFill>
            <a:srgbClr val="1421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80160" y="2953512"/>
            <a:ext cx="5852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14213D"/>
                </a:solidFill>
                <a:latin typeface="Calibri"/>
              </a:rPr>
              <a:t>Portfolio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3319272"/>
            <a:ext cx="5852160" cy="7315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1B1F27"/>
                </a:solidFill>
                <a:latin typeface="Calibri"/>
              </a:rPr>
              <a:t>Each Sunday: short the top third, long the bottom third by funding. Equal weights, dollar-neutral, 5 bp costs.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4069079"/>
            <a:ext cx="502920" cy="502920"/>
          </a:xfrm>
          <a:prstGeom prst="ellipse">
            <a:avLst/>
          </a:prstGeom>
          <a:solidFill>
            <a:srgbClr val="1421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4050791"/>
            <a:ext cx="5852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14213D"/>
                </a:solidFill>
                <a:latin typeface="Calibri"/>
              </a:rPr>
              <a:t>P&amp;L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80160" y="4416551"/>
            <a:ext cx="5852160" cy="7315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1B1F27"/>
                </a:solidFill>
                <a:latin typeface="Calibri"/>
              </a:rPr>
              <a:t>Side × price return − side × funding paid. A short receives positive funding.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5166359"/>
            <a:ext cx="502920" cy="502920"/>
          </a:xfrm>
          <a:prstGeom prst="ellipse">
            <a:avLst/>
          </a:prstGeom>
          <a:solidFill>
            <a:srgbClr val="1421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80160" y="5148072"/>
            <a:ext cx="5852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14213D"/>
                </a:solidFill>
                <a:latin typeface="Calibri"/>
              </a:rPr>
              <a:t>No survivorship bias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5513831"/>
            <a:ext cx="5852160" cy="7315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1B1F27"/>
                </a:solidFill>
                <a:latin typeface="Calibri"/>
              </a:rPr>
              <a:t>LUNA and FTT included; a coin trades only on days with a price and volume &gt; 0.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863840" y="1874519"/>
            <a:ext cx="3749039" cy="1417320"/>
          </a:xfrm>
          <a:prstGeom prst="roundRect">
            <a:avLst>
              <a:gd name="adj" fmla="val 8000"/>
            </a:avLst>
          </a:prstGeom>
          <a:solidFill>
            <a:srgbClr val="EE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92440" y="2039112"/>
            <a:ext cx="3291839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14213D"/>
                </a:solidFill>
                <a:latin typeface="Cambria"/>
              </a:rPr>
              <a:t>≈ 12–15%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92440" y="2715768"/>
            <a:ext cx="3291839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C677D"/>
                </a:solidFill>
                <a:latin typeface="Calibri"/>
              </a:rPr>
              <a:t>Average annual funding on BTC, ETH, XRP, LTC, LINK: the crypto 'interest rate'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863840" y="3520440"/>
            <a:ext cx="3749039" cy="1417320"/>
          </a:xfrm>
          <a:prstGeom prst="roundRect">
            <a:avLst>
              <a:gd name="adj" fmla="val 8000"/>
            </a:avLst>
          </a:prstGeom>
          <a:solidFill>
            <a:srgbClr val="EE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92440" y="3685032"/>
            <a:ext cx="3291839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14213D"/>
                </a:solidFill>
                <a:latin typeface="Cambria"/>
              </a:rPr>
              <a:t>2022-11-14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92440" y="4361688"/>
            <a:ext cx="3291839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C677D"/>
                </a:solidFill>
                <a:latin typeface="Calibri"/>
              </a:rPr>
              <a:t>FTT's last traded day; the archive shows a frozen price afterwards, which we exclude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9692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14213D"/>
                </a:solidFill>
                <a:latin typeface="Cambria"/>
              </a:rPr>
              <a:t>Crypto carry: weak in-sample, strong since 2024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271455" y="457200"/>
            <a:ext cx="1371600" cy="384048"/>
          </a:xfrm>
          <a:prstGeom prst="roundRect">
            <a:avLst>
              <a:gd name="adj" fmla="val 8000"/>
            </a:avLst>
          </a:prstGeom>
          <a:solidFill>
            <a:srgbClr val="E39B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200" b="1">
                <a:solidFill>
                  <a:srgbClr val="14213D"/>
                </a:solidFill>
                <a:latin typeface="Calibri"/>
              </a:rPr>
              <a:t>Paraj</a:t>
            </a:r>
          </a:p>
        </p:txBody>
      </p:sp>
      <p:pic>
        <p:nvPicPr>
          <p:cNvPr id="4" name="Picture 3" descr="c_cu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25880"/>
            <a:ext cx="7223760" cy="3876164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8001000" y="1417320"/>
            <a:ext cx="3657600" cy="1417320"/>
          </a:xfrm>
          <a:prstGeom prst="roundRect">
            <a:avLst>
              <a:gd name="adj" fmla="val 8000"/>
            </a:avLst>
          </a:prstGeom>
          <a:solidFill>
            <a:srgbClr val="EE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0" y="1581912"/>
            <a:ext cx="32004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14213D"/>
                </a:solidFill>
                <a:latin typeface="Cambria"/>
              </a:rPr>
              <a:t>0.14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0" y="2258568"/>
            <a:ext cx="32004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C677D"/>
                </a:solidFill>
                <a:latin typeface="Calibri"/>
              </a:rPr>
              <a:t>Full-sample net Sharpe (4.1% a year, 30% vol)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01000" y="3017520"/>
            <a:ext cx="3657600" cy="1417320"/>
          </a:xfrm>
          <a:prstGeom prst="roundRect">
            <a:avLst>
              <a:gd name="adj" fmla="val 8000"/>
            </a:avLst>
          </a:prstGeom>
          <a:solidFill>
            <a:srgbClr val="EE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0" y="3182112"/>
            <a:ext cx="32004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14213D"/>
                </a:solidFill>
                <a:latin typeface="Cambria"/>
              </a:rPr>
              <a:t>0.81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0" y="3858768"/>
            <a:ext cx="32004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C677D"/>
                </a:solidFill>
                <a:latin typeface="Calibri"/>
              </a:rPr>
              <a:t>Out-of-sample net Sharpe, 2024–2026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01000" y="4617720"/>
            <a:ext cx="3657600" cy="1417320"/>
          </a:xfrm>
          <a:prstGeom prst="roundRect">
            <a:avLst>
              <a:gd name="adj" fmla="val 8000"/>
            </a:avLst>
          </a:prstGeom>
          <a:solidFill>
            <a:srgbClr val="EE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0" y="4782312"/>
            <a:ext cx="32004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B83227"/>
                </a:solidFill>
                <a:latin typeface="Cambria"/>
              </a:rPr>
              <a:t>-27%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0" y="5458968"/>
            <a:ext cx="32004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C677D"/>
                </a:solidFill>
                <a:latin typeface="Calibri"/>
              </a:rPr>
              <a:t>Worst week (LUNA, May 2022): the strategy was long LUNA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9692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14213D"/>
                </a:solidFill>
                <a:latin typeface="Cambria"/>
              </a:rPr>
              <a:t>Funding is earned, but price moves dominate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5C677D"/>
                </a:solidFill>
                <a:latin typeface="Calibri"/>
              </a:rPr>
              <a:t>Return decomposition and robustness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271455" y="457200"/>
            <a:ext cx="1371600" cy="384048"/>
          </a:xfrm>
          <a:prstGeom prst="roundRect">
            <a:avLst>
              <a:gd name="adj" fmla="val 8000"/>
            </a:avLst>
          </a:prstGeom>
          <a:solidFill>
            <a:srgbClr val="E39B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200" b="1">
                <a:solidFill>
                  <a:srgbClr val="14213D"/>
                </a:solidFill>
                <a:latin typeface="Calibri"/>
              </a:rPr>
              <a:t>Paraj</a:t>
            </a:r>
          </a:p>
        </p:txBody>
      </p:sp>
      <p:pic>
        <p:nvPicPr>
          <p:cNvPr id="5" name="Picture 4" descr="c_decom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91640"/>
            <a:ext cx="5577840" cy="3660458"/>
          </a:xfrm>
          <a:prstGeom prst="rect">
            <a:avLst/>
          </a:prstGeom>
        </p:spPr>
      </p:pic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0" y="1783080"/>
          <a:ext cx="5303520" cy="13167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097280"/>
                <a:gridCol w="1097280"/>
                <a:gridCol w="1097280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% per year</a:t>
                      </a:r>
                    </a:p>
                  </a:txBody>
                  <a:tcPr marL="73152" marR="73152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Funding</a:t>
                      </a:r>
                    </a:p>
                  </a:txBody>
                  <a:tcPr marL="73152" marR="73152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Price</a:t>
                      </a:r>
                    </a:p>
                  </a:txBody>
                  <a:tcPr marL="73152" marR="73152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Net</a:t>
                      </a:r>
                    </a:p>
                  </a:txBody>
                  <a:tcPr marL="73152" marR="73152">
                    <a:solidFill>
                      <a:srgbClr val="14213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B1F27"/>
                          </a:solidFill>
                          <a:latin typeface="Calibri"/>
                        </a:rPr>
                        <a:t>Full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B1F27"/>
                          </a:solidFill>
                          <a:latin typeface="Calibri"/>
                        </a:rPr>
                        <a:t>+8.5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B1F27"/>
                          </a:solidFill>
                          <a:latin typeface="Calibri"/>
                        </a:rPr>
                        <a:t>-2.2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B1F27"/>
                          </a:solidFill>
                          <a:latin typeface="Calibri"/>
                        </a:rPr>
                        <a:t>+4.1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B1F27"/>
                          </a:solidFill>
                          <a:latin typeface="Calibri"/>
                        </a:rPr>
                        <a:t>In-sample</a:t>
                      </a:r>
                    </a:p>
                  </a:txBody>
                  <a:tcPr marL="73152" marR="73152"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B1F27"/>
                          </a:solidFill>
                          <a:latin typeface="Calibri"/>
                        </a:rPr>
                        <a:t>+12.3</a:t>
                      </a:r>
                    </a:p>
                  </a:txBody>
                  <a:tcPr marL="73152" marR="73152"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B1F27"/>
                          </a:solidFill>
                          <a:latin typeface="Calibri"/>
                        </a:rPr>
                        <a:t>-12.5</a:t>
                      </a:r>
                    </a:p>
                  </a:txBody>
                  <a:tcPr marL="73152" marR="73152"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B1F27"/>
                          </a:solidFill>
                          <a:latin typeface="Calibri"/>
                        </a:rPr>
                        <a:t>-2.5</a:t>
                      </a:r>
                    </a:p>
                  </a:txBody>
                  <a:tcPr marL="73152" marR="73152">
                    <a:solidFill>
                      <a:srgbClr val="EEF1F6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B1F27"/>
                          </a:solidFill>
                          <a:latin typeface="Calibri"/>
                        </a:rPr>
                        <a:t>Out-of-sample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B1F27"/>
                          </a:solidFill>
                          <a:latin typeface="Calibri"/>
                        </a:rPr>
                        <a:t>+3.1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B1F27"/>
                          </a:solidFill>
                          <a:latin typeface="Calibri"/>
                        </a:rPr>
                        <a:t>+13.0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B1F27"/>
                          </a:solidFill>
                          <a:latin typeface="Calibri"/>
                        </a:rPr>
                        <a:t>+13.9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0" y="3429000"/>
          <a:ext cx="5303520" cy="21122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1280160"/>
                <a:gridCol w="1280160"/>
              </a:tblGrid>
              <a:tr h="301752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Lookback × rebalance</a:t>
                      </a:r>
                    </a:p>
                  </a:txBody>
                  <a:tcPr marL="73152" marR="73152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Sharpe net</a:t>
                      </a:r>
                    </a:p>
                  </a:txBody>
                  <a:tcPr marL="73152" marR="73152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Sharpe OOS</a:t>
                      </a:r>
                    </a:p>
                  </a:txBody>
                  <a:tcPr marL="73152" marR="73152">
                    <a:solidFill>
                      <a:srgbClr val="14213D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B1F27"/>
                          </a:solidFill>
                          <a:latin typeface="Calibri"/>
                        </a:rPr>
                        <a:t>3 days, daily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B1F27"/>
                          </a:solidFill>
                          <a:latin typeface="Calibri"/>
                        </a:rPr>
                        <a:t>0.68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B1F27"/>
                          </a:solidFill>
                          <a:latin typeface="Calibri"/>
                        </a:rPr>
                        <a:t>0.41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B1F27"/>
                          </a:solidFill>
                          <a:latin typeface="Calibri"/>
                        </a:rPr>
                        <a:t>3 days, weekly</a:t>
                      </a:r>
                    </a:p>
                  </a:txBody>
                  <a:tcPr marL="73152" marR="73152"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B1F27"/>
                          </a:solidFill>
                          <a:latin typeface="Calibri"/>
                        </a:rPr>
                        <a:t>0.49</a:t>
                      </a:r>
                    </a:p>
                  </a:txBody>
                  <a:tcPr marL="73152" marR="73152"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B1F27"/>
                          </a:solidFill>
                          <a:latin typeface="Calibri"/>
                        </a:rPr>
                        <a:t>1.29</a:t>
                      </a:r>
                    </a:p>
                  </a:txBody>
                  <a:tcPr marL="73152" marR="73152">
                    <a:solidFill>
                      <a:srgbClr val="EEF1F6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B1F27"/>
                          </a:solidFill>
                          <a:latin typeface="Calibri"/>
                        </a:rPr>
                        <a:t>7 days, daily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B1F27"/>
                          </a:solidFill>
                          <a:latin typeface="Calibri"/>
                        </a:rPr>
                        <a:t>0.56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B1F27"/>
                          </a:solidFill>
                          <a:latin typeface="Calibri"/>
                        </a:rPr>
                        <a:t>0.92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B1F27"/>
                          </a:solidFill>
                          <a:latin typeface="Calibri"/>
                        </a:rPr>
                        <a:t>7 days, weekly (base)</a:t>
                      </a:r>
                    </a:p>
                  </a:txBody>
                  <a:tcPr marL="73152" marR="73152"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B1F27"/>
                          </a:solidFill>
                          <a:latin typeface="Calibri"/>
                        </a:rPr>
                        <a:t>0.14</a:t>
                      </a:r>
                    </a:p>
                  </a:txBody>
                  <a:tcPr marL="73152" marR="73152"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B1F27"/>
                          </a:solidFill>
                          <a:latin typeface="Calibri"/>
                        </a:rPr>
                        <a:t>0.81</a:t>
                      </a:r>
                    </a:p>
                  </a:txBody>
                  <a:tcPr marL="73152" marR="73152">
                    <a:solidFill>
                      <a:srgbClr val="EEF1F6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B1F27"/>
                          </a:solidFill>
                          <a:latin typeface="Calibri"/>
                        </a:rPr>
                        <a:t>30 days, daily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B1F27"/>
                          </a:solidFill>
                          <a:latin typeface="Calibri"/>
                        </a:rPr>
                        <a:t>0.28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B1F27"/>
                          </a:solidFill>
                          <a:latin typeface="Calibri"/>
                        </a:rPr>
                        <a:t>0.83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B1F27"/>
                          </a:solidFill>
                          <a:latin typeface="Calibri"/>
                        </a:rPr>
                        <a:t>30 days, weekly</a:t>
                      </a:r>
                    </a:p>
                  </a:txBody>
                  <a:tcPr marL="73152" marR="73152"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B1F27"/>
                          </a:solidFill>
                          <a:latin typeface="Calibri"/>
                        </a:rPr>
                        <a:t>0.07</a:t>
                      </a:r>
                    </a:p>
                  </a:txBody>
                  <a:tcPr marL="73152" marR="73152"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B1F27"/>
                          </a:solidFill>
                          <a:latin typeface="Calibri"/>
                        </a:rPr>
                        <a:t>0.42</a:t>
                      </a:r>
                    </a:p>
                  </a:txBody>
                  <a:tcPr marL="73152" marR="73152">
                    <a:solidFill>
                      <a:srgbClr val="EEF1F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9692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14213D"/>
                </a:solidFill>
                <a:latin typeface="Cambria"/>
              </a:rPr>
              <a:t>Strategy A loses when volatility spikes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5C677D"/>
                </a:solidFill>
                <a:latin typeface="Calibri"/>
              </a:rPr>
              <a:t>Monthly net carry regressed on risk factors, Newey-West t-stats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271455" y="457200"/>
            <a:ext cx="1371600" cy="384048"/>
          </a:xfrm>
          <a:prstGeom prst="roundRect">
            <a:avLst>
              <a:gd name="adj" fmla="val 8000"/>
            </a:avLst>
          </a:prstGeom>
          <a:solidFill>
            <a:srgbClr val="E39B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200" b="1">
                <a:solidFill>
                  <a:srgbClr val="14213D"/>
                </a:solidFill>
                <a:latin typeface="Calibri"/>
              </a:rPr>
              <a:t>Reza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83080"/>
            <a:ext cx="2743200" cy="1417320"/>
          </a:xfrm>
          <a:prstGeom prst="roundRect">
            <a:avLst>
              <a:gd name="adj" fmla="val 8000"/>
            </a:avLst>
          </a:prstGeom>
          <a:solidFill>
            <a:srgbClr val="EE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947672"/>
            <a:ext cx="22860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B83227"/>
                </a:solidFill>
                <a:latin typeface="Cambria"/>
              </a:rPr>
              <a:t>-1.55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624328"/>
            <a:ext cx="22860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C677D"/>
                </a:solidFill>
                <a:latin typeface="Calibri"/>
              </a:rPr>
              <a:t>Beta to equity-volatility changes (t = -3.7)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520440" y="1783080"/>
            <a:ext cx="2743200" cy="1417320"/>
          </a:xfrm>
          <a:prstGeom prst="roundRect">
            <a:avLst>
              <a:gd name="adj" fmla="val 8000"/>
            </a:avLst>
          </a:prstGeom>
          <a:solidFill>
            <a:srgbClr val="EE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749039" y="1947672"/>
            <a:ext cx="22860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14213D"/>
                </a:solidFill>
                <a:latin typeface="Cambria"/>
              </a:rPr>
              <a:t>0.35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49039" y="2624328"/>
            <a:ext cx="22860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C677D"/>
                </a:solidFill>
                <a:latin typeface="Calibri"/>
              </a:rPr>
              <a:t>Beta to the dollar factor (t = 4.1)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429000"/>
            <a:ext cx="2743200" cy="1417320"/>
          </a:xfrm>
          <a:prstGeom prst="roundRect">
            <a:avLst>
              <a:gd name="adj" fmla="val 8000"/>
            </a:avLst>
          </a:prstGeom>
          <a:solidFill>
            <a:srgbClr val="EE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3593592"/>
            <a:ext cx="22860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14213D"/>
                </a:solidFill>
                <a:latin typeface="Cambria"/>
              </a:rPr>
              <a:t>0.25%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270248"/>
            <a:ext cx="22860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C677D"/>
                </a:solidFill>
                <a:latin typeface="Calibri"/>
              </a:rPr>
              <a:t>Monthly alpha (t = 1.7): not significant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520440" y="3429000"/>
            <a:ext cx="2743200" cy="1417320"/>
          </a:xfrm>
          <a:prstGeom prst="roundRect">
            <a:avLst>
              <a:gd name="adj" fmla="val 8000"/>
            </a:avLst>
          </a:prstGeom>
          <a:solidFill>
            <a:srgbClr val="EE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749039" y="3593592"/>
            <a:ext cx="22860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14213D"/>
                </a:solidFill>
                <a:latin typeface="Cambria"/>
              </a:rPr>
              <a:t>0.18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49039" y="4270248"/>
            <a:ext cx="22860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C677D"/>
                </a:solidFill>
                <a:latin typeface="Calibri"/>
              </a:rPr>
              <a:t>R² of the two-factor model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5166360"/>
            <a:ext cx="57607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5C677D"/>
                </a:solidFill>
                <a:latin typeface="Calibri"/>
              </a:rPr>
              <a:t>Worst months: Oct 2008, Aug 2007, May 2000, Jan 2009, and the Jan 2015 Swiss franc de-peg.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66560" y="1783080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14213D"/>
                </a:solidFill>
                <a:latin typeface="Calibri"/>
              </a:rPr>
              <a:t>The 2008 carry crash: -20.5% (Jul 2008 – Mar 2009)</a:t>
            </a:r>
          </a:p>
        </p:txBody>
      </p:sp>
      <p:pic>
        <p:nvPicPr>
          <p:cNvPr id="19" name="Picture 18" descr="a_20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2240280"/>
            <a:ext cx="5029200" cy="3233057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9692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14213D"/>
                </a:solidFill>
                <a:latin typeface="Cambria"/>
              </a:rPr>
              <a:t>A pre-specified risk control did not help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5C677D"/>
                </a:solidFill>
                <a:latin typeface="Calibri"/>
              </a:rPr>
              <a:t>Cap each coin at 1/6 of a leg; no longs with funding below −50% a year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271455" y="457200"/>
            <a:ext cx="1371600" cy="384048"/>
          </a:xfrm>
          <a:prstGeom prst="roundRect">
            <a:avLst>
              <a:gd name="adj" fmla="val 8000"/>
            </a:avLst>
          </a:prstGeom>
          <a:solidFill>
            <a:srgbClr val="E39B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200" b="1">
                <a:solidFill>
                  <a:srgbClr val="14213D"/>
                </a:solidFill>
                <a:latin typeface="Calibri"/>
              </a:rPr>
              <a:t>Paraj</a:t>
            </a:r>
          </a:p>
        </p:txBody>
      </p:sp>
      <p:pic>
        <p:nvPicPr>
          <p:cNvPr id="5" name="Picture 4" descr="c_contri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91640"/>
            <a:ext cx="5120640" cy="3925824"/>
          </a:xfrm>
          <a:prstGeom prst="rect">
            <a:avLst/>
          </a:prstGeom>
        </p:spPr>
      </p:pic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943600" y="1783080"/>
          <a:ext cx="5760720" cy="16459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/>
                <a:gridCol w="1554480"/>
                <a:gridCol w="1554480"/>
              </a:tblGrid>
              <a:tr h="329183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Net</a:t>
                      </a:r>
                    </a:p>
                  </a:txBody>
                  <a:tcPr marL="73152" marR="73152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Base</a:t>
                      </a:r>
                    </a:p>
                  </a:txBody>
                  <a:tcPr marL="73152" marR="73152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Controlled</a:t>
                      </a:r>
                    </a:p>
                  </a:txBody>
                  <a:tcPr marL="73152" marR="73152">
                    <a:solidFill>
                      <a:srgbClr val="14213D"/>
                    </a:solidFill>
                  </a:tcPr>
                </a:tc>
              </a:tr>
              <a:tr h="329183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B1F27"/>
                          </a:solidFill>
                          <a:latin typeface="Calibri"/>
                        </a:rPr>
                        <a:t>Sharpe, full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B1F27"/>
                          </a:solidFill>
                          <a:latin typeface="Calibri"/>
                        </a:rPr>
                        <a:t>0.14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B1F27"/>
                          </a:solidFill>
                          <a:latin typeface="Calibri"/>
                        </a:rPr>
                        <a:t>-0.16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29183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B1F27"/>
                          </a:solidFill>
                          <a:latin typeface="Calibri"/>
                        </a:rPr>
                        <a:t>Sharpe, out-of-sample</a:t>
                      </a:r>
                    </a:p>
                  </a:txBody>
                  <a:tcPr marL="73152" marR="73152"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B1F27"/>
                          </a:solidFill>
                          <a:latin typeface="Calibri"/>
                        </a:rPr>
                        <a:t>0.81</a:t>
                      </a:r>
                    </a:p>
                  </a:txBody>
                  <a:tcPr marL="73152" marR="73152"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B1F27"/>
                          </a:solidFill>
                          <a:latin typeface="Calibri"/>
                        </a:rPr>
                        <a:t>0.74</a:t>
                      </a:r>
                    </a:p>
                  </a:txBody>
                  <a:tcPr marL="73152" marR="73152">
                    <a:solidFill>
                      <a:srgbClr val="EEF1F6"/>
                    </a:solidFill>
                  </a:tcPr>
                </a:tc>
              </a:tr>
              <a:tr h="329183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B1F27"/>
                          </a:solidFill>
                          <a:latin typeface="Calibri"/>
                        </a:rPr>
                        <a:t>Max drawdown (%)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B1F27"/>
                          </a:solidFill>
                          <a:latin typeface="Calibri"/>
                        </a:rPr>
                        <a:t>-67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B1F27"/>
                          </a:solidFill>
                          <a:latin typeface="Calibri"/>
                        </a:rPr>
                        <a:t>-43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29187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B1F27"/>
                          </a:solidFill>
                          <a:latin typeface="Calibri"/>
                        </a:rPr>
                        <a:t>LUNA week (%)</a:t>
                      </a:r>
                    </a:p>
                  </a:txBody>
                  <a:tcPr marL="73152" marR="73152"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B1F27"/>
                          </a:solidFill>
                          <a:latin typeface="Calibri"/>
                        </a:rPr>
                        <a:t>-27.3</a:t>
                      </a:r>
                    </a:p>
                  </a:txBody>
                  <a:tcPr marL="73152" marR="73152"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B1F27"/>
                          </a:solidFill>
                          <a:latin typeface="Calibri"/>
                        </a:rPr>
                        <a:t>-18.9</a:t>
                      </a:r>
                    </a:p>
                  </a:txBody>
                  <a:tcPr marL="73152" marR="73152">
                    <a:solidFill>
                      <a:srgbClr val="EEF1F6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943600" y="3703320"/>
            <a:ext cx="5760720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1B1F27"/>
                </a:solidFill>
                <a:latin typeface="Calibri"/>
              </a:rPr>
              <a:t>•  The cap mostly halves exposure (3–4 coins per leg).</a:t>
            </a:r>
          </a:p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1B1F27"/>
                </a:solidFill>
                <a:latin typeface="Calibri"/>
              </a:rPr>
              <a:t>•  LUNA's funding crossed −50% mid-week, after the Sunday rebalance.</a:t>
            </a:r>
          </a:p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1B1F27"/>
                </a:solidFill>
                <a:latin typeface="Calibri"/>
              </a:rPr>
              <a:t>•  The filter blocked the biggest winners, BNB and SOL.</a:t>
            </a:r>
          </a:p>
          <a:p>
            <a:pPr algn="l">
              <a:spcAft>
                <a:spcPts val="800"/>
              </a:spcAft>
            </a:pPr>
            <a:r>
              <a:rPr sz="1500" b="1" i="0">
                <a:solidFill>
                  <a:srgbClr val="14213D"/>
                </a:solidFill>
                <a:latin typeface="Calibri"/>
              </a:rPr>
              <a:t>•  Lesson: deeply negative funding means crowded shorts, not distress.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9692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14213D"/>
                </a:solidFill>
                <a:latin typeface="Cambria"/>
              </a:rPr>
              <a:t>Combining FX and crypto carry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5C677D"/>
                </a:solidFill>
                <a:latin typeface="Calibri"/>
              </a:rPr>
              <a:t>Each scaled to 10% vol with lagged volatility, 50/50, 2021–2026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271455" y="457200"/>
            <a:ext cx="1371600" cy="384048"/>
          </a:xfrm>
          <a:prstGeom prst="roundRect">
            <a:avLst>
              <a:gd name="adj" fmla="val 8000"/>
            </a:avLst>
          </a:prstGeom>
          <a:solidFill>
            <a:srgbClr val="E39B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200" b="1">
                <a:solidFill>
                  <a:srgbClr val="14213D"/>
                </a:solidFill>
                <a:latin typeface="Calibri"/>
              </a:rPr>
              <a:t>Paraj</a:t>
            </a:r>
          </a:p>
        </p:txBody>
      </p:sp>
      <p:pic>
        <p:nvPicPr>
          <p:cNvPr id="5" name="Picture 4" descr="com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91640"/>
            <a:ext cx="7132320" cy="3922776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001000" y="1783080"/>
            <a:ext cx="3657600" cy="1417320"/>
          </a:xfrm>
          <a:prstGeom prst="roundRect">
            <a:avLst>
              <a:gd name="adj" fmla="val 8000"/>
            </a:avLst>
          </a:prstGeom>
          <a:solidFill>
            <a:srgbClr val="EE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0" y="1947672"/>
            <a:ext cx="32004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14213D"/>
                </a:solidFill>
                <a:latin typeface="Cambria"/>
              </a:rPr>
              <a:t>0.11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2624328"/>
            <a:ext cx="32004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C677D"/>
                </a:solidFill>
                <a:latin typeface="Calibri"/>
              </a:rPr>
              <a:t>Correlation between A and C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8001000" y="3429000"/>
          <a:ext cx="3657600" cy="13167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5880"/>
                <a:gridCol w="731520"/>
                <a:gridCol w="777240"/>
                <a:gridCol w="822960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Sharpe</a:t>
                      </a:r>
                    </a:p>
                  </a:txBody>
                  <a:tcPr marL="73152" marR="73152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Vol (%)</a:t>
                      </a:r>
                    </a:p>
                  </a:txBody>
                  <a:tcPr marL="73152" marR="73152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MaxDD (%)</a:t>
                      </a:r>
                    </a:p>
                  </a:txBody>
                  <a:tcPr marL="73152" marR="73152">
                    <a:solidFill>
                      <a:srgbClr val="14213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B1F27"/>
                          </a:solidFill>
                          <a:latin typeface="Calibri"/>
                        </a:rPr>
                        <a:t>A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B1F27"/>
                          </a:solidFill>
                          <a:latin typeface="Calibri"/>
                        </a:rPr>
                        <a:t>0.71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B1F27"/>
                          </a:solidFill>
                          <a:latin typeface="Calibri"/>
                        </a:rPr>
                        <a:t>9.4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B1F27"/>
                          </a:solidFill>
                          <a:latin typeface="Calibri"/>
                        </a:rPr>
                        <a:t>-11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B1F27"/>
                          </a:solidFill>
                          <a:latin typeface="Calibri"/>
                        </a:rPr>
                        <a:t>C</a:t>
                      </a:r>
                    </a:p>
                  </a:txBody>
                  <a:tcPr marL="73152" marR="73152"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B1F27"/>
                          </a:solidFill>
                          <a:latin typeface="Calibri"/>
                        </a:rPr>
                        <a:t>0.05</a:t>
                      </a:r>
                    </a:p>
                  </a:txBody>
                  <a:tcPr marL="73152" marR="73152"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B1F27"/>
                          </a:solidFill>
                          <a:latin typeface="Calibri"/>
                        </a:rPr>
                        <a:t>9.3</a:t>
                      </a:r>
                    </a:p>
                  </a:txBody>
                  <a:tcPr marL="73152" marR="73152"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B1F27"/>
                          </a:solidFill>
                          <a:latin typeface="Calibri"/>
                        </a:rPr>
                        <a:t>-21</a:t>
                      </a:r>
                    </a:p>
                  </a:txBody>
                  <a:tcPr marL="73152" marR="73152">
                    <a:solidFill>
                      <a:srgbClr val="EEF1F6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B1F27"/>
                          </a:solidFill>
                          <a:latin typeface="Calibri"/>
                        </a:rPr>
                        <a:t>Combined 50/50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B1F27"/>
                          </a:solidFill>
                          <a:latin typeface="Calibri"/>
                        </a:rPr>
                        <a:t>0.51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B1F27"/>
                          </a:solidFill>
                          <a:latin typeface="Calibri"/>
                        </a:rPr>
                        <a:t>7.0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B1F27"/>
                          </a:solidFill>
                          <a:latin typeface="Calibri"/>
                        </a:rPr>
                        <a:t>-11</a:t>
                      </a:r>
                    </a:p>
                  </a:txBody>
                  <a:tcPr marL="73152" marR="7315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1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9692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FFFFFF"/>
                </a:solidFill>
                <a:latin typeface="Cambria"/>
              </a:rPr>
              <a:t>Conclusions and limitations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271455" y="457200"/>
            <a:ext cx="1371600" cy="384048"/>
          </a:xfrm>
          <a:prstGeom prst="roundRect">
            <a:avLst>
              <a:gd name="adj" fmla="val 8000"/>
            </a:avLst>
          </a:prstGeom>
          <a:solidFill>
            <a:srgbClr val="E39B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200" b="1">
                <a:solidFill>
                  <a:srgbClr val="14213D"/>
                </a:solidFill>
                <a:latin typeface="Calibri"/>
              </a:rPr>
              <a:t>Both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54480"/>
            <a:ext cx="5394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E39B17"/>
                </a:solidFill>
                <a:latin typeface="Calibri"/>
              </a:rPr>
              <a:t>What we found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103120"/>
            <a:ext cx="5394960" cy="411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•  FX carry reproduces the academic factor (corr 0.82) and is exposed to volatility shocks.</a:t>
            </a:r>
          </a:p>
          <a:p>
            <a:pPr algn="l">
              <a:spcAft>
                <a:spcPts val="120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•  Crowding predicts weaker carry and modestly improves the out-of-sample Sharpe.</a:t>
            </a:r>
          </a:p>
          <a:p>
            <a:pPr algn="l">
              <a:spcAft>
                <a:spcPts val="120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•  Crypto funding carry is market-neutral, but its crashes are coin-specific: it ends up long what traders short hardest.</a:t>
            </a:r>
          </a:p>
          <a:p>
            <a:pPr algn="l">
              <a:spcAft>
                <a:spcPts val="120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•  FX and crypto carry are nearly uncorrelated (0.11).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554480"/>
            <a:ext cx="5212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E39B17"/>
                </a:solidFill>
                <a:latin typeface="Calibri"/>
              </a:rPr>
              <a:t>Limitations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2103120"/>
            <a:ext cx="5212080" cy="411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•  Short crypto history (2020–2026) and only 12 coins.</a:t>
            </a:r>
          </a:p>
          <a:p>
            <a:pPr algn="l">
              <a:spcAft>
                <a:spcPts val="120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•  Few crowded FX months (33); the 2008 crash was not flagged.</a:t>
            </a:r>
          </a:p>
          <a:p>
            <a:pPr algn="l">
              <a:spcAft>
                <a:spcPts val="120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•  Crypto results depend on lookback and rebalancing frequency.</a:t>
            </a:r>
          </a:p>
          <a:p>
            <a:pPr algn="l">
              <a:spcAft>
                <a:spcPts val="120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•  Costs are simple estimates; no funding-rate caps, borrow limits or exchange risk.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