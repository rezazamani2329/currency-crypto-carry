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1 opens. One sentence: we test whether carry trades crash when they are crowded, in G10 FX and in crypto.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both are carry: an FX forward earns the rate differential; a short perpetual earns the funding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data issue we fixed: before Aug 2000 CME currency futures are reported as 'International Monetary Market'.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Full-sample net Sharpe 0.37 vs 0.38. The filter roughly doubles 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file CurrencyPortfolios.xls. This validates our data pipeline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carry-crash exposure: funding currencies (JPY, CHF) rally when volatility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is paid every 8 hours between longs and shorts and keeps the perpetual close to spot. High funding = crowded leveraged 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LUNA's funding had turned negative as traders shorted it, so the rule held it long into the collapse. FTX week: -11.6%.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Shorter signals do better even after costs: funding information decays within days. We report the pre-specified 7-day weekly case as the main result and do not switch after seeing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are concentrated: LUNA -87, XRP -58, DOGE -44 percentage points. Beta to BTC is about zero (t = -0.75).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carry trades crash at different times, so the combination is much smoother; Strategy C was weak in this window, so the combination does not beat A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main message: carry is compensation for crash risk, and crowding is measurable in both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Cambria"/>
              </a:rPr>
              <a:t>Crowded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Reza Zamani  ·  Paraj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E0"/>
                </a:solidFill>
                <a:latin typeface="Calibri"/>
              </a:rPr>
              <a:t>MFE 230GB Currency Markets  ·  Final project  ·  October 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High-yield assets earn a premium over low-yield ones.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The premium is compensation for crash risk: when many investors hold the same trade, forced unwinding produces sudden losses (Brunnermeier, Nagel &amp; Pedersen 2008).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1B1F27"/>
                </a:solidFill>
                <a:latin typeface="Calibri"/>
              </a:rPr>
              <a:t>•  Hypothesis: crowding is measurable, and crowded carry should crash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9B17"/>
                </a:solidFill>
                <a:latin typeface="Calibri"/>
              </a:rPr>
              <a:t>C: Crypto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 rebalance, daily P&amp;L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monthly, 1999–2026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dollar-neutral, 3 bp costs.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 (alternative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36-month z-score, used only after the Friday release.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Crowding &gt; 1: cut positions to half. All parameters fixed before testing; out-of-sample from 2011.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positioning history (after fixing the pre-2000 CME exchange 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247 with a crowding signal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pic>
        <p:nvPicPr>
          <p:cNvPr id="4" name="Picture 3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 either way: the 2008 crash began from a non-crowded reading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Our carry matches the academic carry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Strategy A vs Lustig–Roussanov–Verdelhan developed HML, net,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pic>
        <p:nvPicPr>
          <p:cNvPr id="5" name="Picture 4" descr="a_lr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76656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7830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947672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24328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correlation with LRV developed HML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3520440"/>
          <a:ext cx="3840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Net, 1999–2021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LRV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mean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vol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regressed on risk factors, Newey-West t-stats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9" name="Picture 18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USDT perpetuals, 2020–2026; USDC as a sanity check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Trailing 7-day average funding rate, data up to the day before.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Sunday: short the top third, long the bottom third by funding. Equal weights, dollar-neutral, 5 bp costs.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Side × price return − side × funding paid. A short receives positive funding.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survivorship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LUNA and FTT included; a coin trades only on days with a price and volume &gt; 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BTC, ETH, XRP, LTC, LINK: the crypto 'interest rate'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2022-11-14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FTT's last traded day; the archive shows a frozen price afterwards, which we exclude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Crypto carry: weak in-sample, strong since 2024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4" name="Picture 3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Full-sample net Sharpe (4.1% a year, 30% vol)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net Sharpe,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 (LUNA, May 2022): the strategy was long LUNA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Return decomposition and robustness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366045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783080"/>
          <a:ext cx="53035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2900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Lookback × rebalance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OOS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weekly (base)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A pre-specified risk control did not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Cap each coin at 1/6 of a leg; no longs with funding below −50% a year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_con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120640" cy="39258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783080"/>
          <a:ext cx="57607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54480"/>
                <a:gridCol w="155448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out-of-sample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-67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-43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LUNA week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-27.3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-18.9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3703320"/>
            <a:ext cx="5760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cap mostly halves exposure (3–4 coins per leg).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LUNA's funding crossed −50% mid-week, after the Sunday rebalance.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filter blocked the biggest winners, BNB and SOL.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731520"/>
                <a:gridCol w="77724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