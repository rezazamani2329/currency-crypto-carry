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 1 opens. One sentence: we test whether carry trades crash when they are crowded, in G10 FX and in crypto.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both are carry: an FX forward earns the rate differential; a short perpetual earns the funding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data issue we fixed: before Aug 2000 CME currency futures are reported as 'International Monetary Market'.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Full-sample net Sharpe 0.37 vs 0.38. The filter roughly doubles turnover.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Course file CurrencyPortfolios.xls. This validates our data pipeline and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textbook carry-crash exposure: funding currencies (JPY, CHF) rally when volatility jumps.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Funding is paid every 8 hours between longs and shorts and keeps the perpetual close to spot. High funding = crowded leveraged longs.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LUNA's funding had turned negative as traders shorted it, so the rule held it long into the collapse. FTX week: -11.6%.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Shorter signals do better even after costs: funding information decays within days. We report the pre-specified 7-day weekly case as the main result and do not switch after seeing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Losses are concentrated: LUNA -87, XRP -58, DOGE -44 percentage points. Beta to BTC is about zero (t = -0.75).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carry trades crash at different times, so the combination is much smoother; Strategy C was weak in this window, so the combination does not beat A on Sharpe.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main message: carry is compensation for crash risk, and crowding is measurable in both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Crowded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C9D1E0"/>
                </a:solidFill>
                <a:latin typeface="Calibri"/>
              </a:rPr>
              <a:t>Crash risk in FX and crypto carry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39B17"/>
                </a:solidFill>
                <a:latin typeface="Calibri"/>
              </a:rPr>
              <a:t>Reza Zamani  ·  [partner]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1E0"/>
                </a:solidFill>
                <a:latin typeface="Calibri"/>
              </a:rPr>
              <a:t>MFE 230GB Currency Markets  ·  Final project  ·  October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Carry pays because it crashes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Same economic mechanism, two very different markets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B1F27"/>
                </a:solidFill>
                <a:latin typeface="Calibri"/>
              </a:rPr>
              <a:t>•  High-yield assets earn a premium over low-yield ones.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1B1F27"/>
                </a:solidFill>
                <a:latin typeface="Calibri"/>
              </a:rPr>
              <a:t>•  The premium is compensation for crash risk: when many investors hold the same trade, forced unwinding produces sudden losses (Brunnermeier, Nagel &amp; Pedersen 2008).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B1F27"/>
                </a:solidFill>
                <a:latin typeface="Calibri"/>
              </a:rPr>
              <a:t>•  Hypothesis: crowding is measurable, and crowded carry should crash more.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82880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A: G10 FX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18288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39B17"/>
                </a:solidFill>
                <a:latin typeface="Calibri"/>
              </a:rPr>
              <a:t>C: Crypto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432304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542032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Carry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5420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3-month rate differential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5420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Perpetual funding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145536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255264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Crowding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25526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CFTC speculator positions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3255264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Funding = leveraged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858768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96849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Universe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96849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7 currencies vs USD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3968496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12 coins incl. LUNA, FTT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572000"/>
            <a:ext cx="5715000" cy="603504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68172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677D"/>
                </a:solidFill>
                <a:latin typeface="Calibri"/>
              </a:rPr>
              <a:t>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6817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Monthly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6817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B1F27"/>
                </a:solidFill>
                <a:latin typeface="Calibri"/>
              </a:rPr>
              <a:t>Weekly rebalance, daily P&amp;L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Strategy A: crowding-filtered G10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JPY, EUR, GBP, CHF, CAD, AUD, NZD vs USD, monthly, 1999–2026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1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56231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Carry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21991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Each month-end: long the 2 highest-rate currencies, short the 2 lowest. Equal weights, dollar-neutral, 3 bp costs.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5351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Crowding signal (alternative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19272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CFTC net speculative position / open interest, 36-month z-score, used only after the Friday release.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6907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50791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Portfolio crowding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16551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Average z of the long leg minus average z of the short leg.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16635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14807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513831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Crowding &gt; 1: cut positions to half. All parameters fixed before testing; out-of-sample from 2011.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874519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3911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1986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15768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CFTC positioning history (after fixing the pre-2000 CME exchange name)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52044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68503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361688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crowded months out of 328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Crowding filter helps out of sample, not in 2008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1</a:t>
            </a:r>
          </a:p>
        </p:txBody>
      </p:sp>
      <p:pic>
        <p:nvPicPr>
          <p:cNvPr id="4" name="Picture 3" descr="a_c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223760" cy="38761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4173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819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0.27 → 0.32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25856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Out-of-sample Sharpe, net: carry vs crowd-filtered (2011–2026)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175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1821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0.30% vs 0.02%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85876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Next-month carry after non-crowded vs crowded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6177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823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3227"/>
                </a:solidFill>
                <a:latin typeface="Cambria"/>
              </a:rPr>
              <a:t>-37%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45896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Max drawdown either way: the 2008 crash began from a non-crowded reading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Our carry matches the academic carry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Strategy A vs Lustig–Roussanov–Verdelhan developed HML, net, 1999–2021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1</a:t>
            </a:r>
          </a:p>
        </p:txBody>
      </p:sp>
      <p:pic>
        <p:nvPicPr>
          <p:cNvPr id="5" name="Picture 4" descr="a_l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676656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78308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947672"/>
            <a:ext cx="3383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624328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Monthly correlation with LRV developed HML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3520440"/>
          <a:ext cx="38404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Net, 1999–2021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LRV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Ann. mean (%)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Ann. vol (%)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0.23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Max drawdown (%)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-37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-39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Strategy A loses when volatility spikes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Monthly net carry regressed on risk factors, Newey-West t-stats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3227"/>
                </a:solidFill>
                <a:latin typeface="Cambria"/>
              </a:rPr>
              <a:t>-1.55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Beta to equity-volatility changes (t = -3.7)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7830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4767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2432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Beta to the dollar factor (t = 4.1)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9359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7024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Monthly alpha (t = 1.7): not significant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4290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59359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27024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R² of the two-factor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5760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C677D"/>
                </a:solidFill>
                <a:latin typeface="Calibri"/>
              </a:rPr>
              <a:t>Worst months: Oct 2008, Aug 2007, May 2000, Jan 2009, and the Jan 2015 Swiss franc de-peg.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The 2008 carry crash: -20.5% (Jul 2008 – Mar 2009)</a:t>
            </a:r>
          </a:p>
        </p:txBody>
      </p:sp>
      <p:pic>
        <p:nvPicPr>
          <p:cNvPr id="19" name="Picture 18" descr="a_2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40280"/>
            <a:ext cx="5029200" cy="3233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Strategy C: crypto funding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12 Binance USDT perpetuals, 2020–2026; USDC as a sanity check only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2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56231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21991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Trailing 7-day average funding rate, data up to the day before.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5351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19272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Each Sunday: short the top third, long the bottom third by funding. Equal weights, dollar-neutral, 5 bp costs.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6907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050791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P&amp;L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16551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Side × price return − side × funding paid. A short receives positive funding.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166359"/>
            <a:ext cx="502920" cy="50292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14807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13D"/>
                </a:solidFill>
                <a:latin typeface="Calibri"/>
              </a:rPr>
              <a:t>No survivorship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513831"/>
            <a:ext cx="5852160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1F27"/>
                </a:solidFill>
                <a:latin typeface="Calibri"/>
              </a:rPr>
              <a:t>LUNA and FTT included; a coin trades only on days with a price and volume &gt; 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874519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3911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≈ 12–15%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15768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Average annual funding on BTC, ETH, XRP, LTC, LINK: the crypto 'interest rate'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3520440"/>
            <a:ext cx="3749039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685032"/>
            <a:ext cx="3291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2022-11-14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361688"/>
            <a:ext cx="3291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FTT's last traded day; the archive shows a frozen price afterwards, which we exclude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Crypto carry: weak in-sample, strong since 2024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2</a:t>
            </a:r>
          </a:p>
        </p:txBody>
      </p:sp>
      <p:pic>
        <p:nvPicPr>
          <p:cNvPr id="4" name="Picture 3" descr="c_c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223760" cy="387616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4173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819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25856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Full-sample net Sharpe (4.1% a year, 30% vol)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0175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1821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85876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Out-of-sample net Sharpe, 2024–2026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46177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78231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B83227"/>
                </a:solidFill>
                <a:latin typeface="Cambria"/>
              </a:rPr>
              <a:t>-27%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45896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Worst week (LUNA, May 2022): the strategy was long LUNA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Funding is earned, but price moves dominate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Return decomposition and robustness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2</a:t>
            </a:r>
          </a:p>
        </p:txBody>
      </p:sp>
      <p:pic>
        <p:nvPicPr>
          <p:cNvPr id="5" name="Picture 4" descr="c_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577840" cy="366045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783080"/>
          <a:ext cx="53035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per year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Funding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+8.5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-2.2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+4.1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In-sample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+12.3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-12.5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-2.5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Out-of-sample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+3.1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+13.0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+13.9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3429000"/>
          <a:ext cx="53035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28016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Lookback × rebalance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Sharpe net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Sharpe OOS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3 days, daily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3 days, weekly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1.29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7 days, daily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7 days, weekly (base)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30 days, daily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0.28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30 days, weekly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A pre-specified risk control did not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Cap each coin at 1/6 of a leg; no longs with funding below −50% a year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2</a:t>
            </a:r>
          </a:p>
        </p:txBody>
      </p:sp>
      <p:pic>
        <p:nvPicPr>
          <p:cNvPr id="5" name="Picture 4" descr="c_cont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5120640" cy="392582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783080"/>
          <a:ext cx="57607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554480"/>
                <a:gridCol w="1554480"/>
              </a:tblGrid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Controlled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Sharpe, full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-0.16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Sharpe, out-of-sample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Max drawdown (%)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-67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-43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LUNA week (%)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-27.3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F27"/>
                          </a:solidFill>
                          <a:latin typeface="Calibri"/>
                        </a:rPr>
                        <a:t>-18.9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3703320"/>
            <a:ext cx="5760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The cap mostly halves exposure (3–4 coins per leg).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LUNA's funding crossed −50% mid-week, after the Sunday rebalance.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B1F27"/>
                </a:solidFill>
                <a:latin typeface="Calibri"/>
              </a:rPr>
              <a:t>•  The filter blocked the biggest winners, BNB and SOL.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4213D"/>
                </a:solidFill>
                <a:latin typeface="Calibri"/>
              </a:rPr>
              <a:t>•  Lesson: deeply negative funding means crowded shorts, not distress.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Combining FX and crypto carry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</a:rPr>
              <a:t>Each scaled to 10% vol with lagged volatility, 50/50, 2021–2026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Person 2</a:t>
            </a:r>
          </a:p>
        </p:txBody>
      </p:sp>
      <p:pic>
        <p:nvPicPr>
          <p:cNvPr id="5" name="Picture 4" descr="co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132320" cy="39227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01000" y="17830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47672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0.11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24328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</a:rPr>
              <a:t>Correlation between A and 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01000" y="3429000"/>
          <a:ext cx="36576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731520"/>
                <a:gridCol w="77724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 (%)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MaxDD (%)</a:t>
                      </a:r>
                    </a:p>
                  </a:txBody>
                  <a:tcPr marL="73152" marR="73152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0.05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-21</a:t>
                      </a:r>
                    </a:p>
                  </a:txBody>
                  <a:tcPr marL="73152" marR="73152">
                    <a:solidFill>
                      <a:srgbClr val="EEF1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Combined 50/50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1F27"/>
                          </a:solidFill>
                          <a:latin typeface="Calibri"/>
                        </a:rPr>
                        <a:t>-11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Conclusions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71455" y="457200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E39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14213D"/>
                </a:solidFill>
                <a:latin typeface="Calibri"/>
              </a:rPr>
              <a:t>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39B17"/>
                </a:solidFill>
                <a:latin typeface="Calibri"/>
              </a:rPr>
              <a:t>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FX carry reproduces the academic factor (corr 0.82) and is exposed to volatility shocks.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Crowding predicts weaker carry and modestly improves the out-of-sample Sharpe.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Crypto funding carry is market-neutral, but its crashes are coin-specific: it ends up long what traders short hardest.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FX and crypto carry are nearly uncorrelated (0.11).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39B17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2120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Short crypto history (2020–2026) and only 12 coins.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Few crowded FX months (33); the 2008 crash was not flagged.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Crypto results depend on lookback and rebalancing frequency.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•  Costs are simple estimates; no funding-rate caps, borrow limits or exchange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