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Reza opens. One sentence: we test whether carry trades crash when they are crowded, in G10 FX and in crypto.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nine steps in one breath and say who presents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both are carry: an FX forward earns the rate differential; a short perpetual earns the funding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six questions quickly; stress that hypotheses and parameters were fixed before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FRED blocks scripted downloads, so FRED files were saved by hand. LUNA and FTT are kept to avoid survivorship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Methods: rate-differential sort, CFTC z-scores, funding sort, Newey-West regressions, risk targeting. Methodology: the design choices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data issue we fixed: before Aug 2000 CME currency futures are reported as 'International Monetary Market'.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Full-sample net Sharpe 0.37 vs 0.38. The filter roughly doubles turnover.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file CurrencyPortfolios.xls. This validates our data pipeline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Funding is paid every 8 hours between longs and shorts and keeps the perpetual close to spot. High funding = crowded leveraged 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LUNA's funding had turned negative as traders shorted it, so the rule held it long into the collapse. FTX week: -11.6%.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Shorter signals do better even after costs: funding information decays within days. We report the pre-specified 7-day weekly case as the main result and do not switch after seeing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carry-crash exposure: funding currencies (JPY, CHF) rally when volatility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are concentrated: LUNA -87, XRP -58, DOGE -44 percentage points. Beta to BTC is about zero (t = -0.75).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carry trades crash at different times, so the combination is much smoother; Strategy C was weak in this window, so the combination does not beat A on Sharpe.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main message: carry is compensation for crash risk, and crowding is measurable in both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Presentation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From the economic idea to two strategies, their risks and a combined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2816352"/>
            <a:ext cx="10094976" cy="45720"/>
          </a:xfrm>
          <a:prstGeom prst="rect">
            <a:avLst/>
          </a:prstGeom>
          <a:solidFill>
            <a:srgbClr val="C9D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Motivation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and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3–4</a:t>
            </a:r>
          </a:p>
        </p:txBody>
      </p:sp>
      <p:sp>
        <p:nvSpPr>
          <p:cNvPr id="8" name="Oval 7"/>
          <p:cNvSpPr/>
          <p:nvPr/>
        </p:nvSpPr>
        <p:spPr>
          <a:xfrm>
            <a:off x="1828800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4</a:t>
            </a:r>
          </a:p>
        </p:txBody>
      </p:sp>
      <p:sp>
        <p:nvSpPr>
          <p:cNvPr id="11" name="Oval 10"/>
          <p:cNvSpPr/>
          <p:nvPr/>
        </p:nvSpPr>
        <p:spPr>
          <a:xfrm>
            <a:off x="3090672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5</a:t>
            </a:r>
          </a:p>
        </p:txBody>
      </p:sp>
      <p:sp>
        <p:nvSpPr>
          <p:cNvPr id="14" name="Oval 13"/>
          <p:cNvSpPr/>
          <p:nvPr/>
        </p:nvSpPr>
        <p:spPr>
          <a:xfrm>
            <a:off x="4352544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Methodology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8224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6</a:t>
            </a:r>
          </a:p>
        </p:txBody>
      </p:sp>
      <p:sp>
        <p:nvSpPr>
          <p:cNvPr id="17" name="Oval 16"/>
          <p:cNvSpPr/>
          <p:nvPr/>
        </p:nvSpPr>
        <p:spPr>
          <a:xfrm>
            <a:off x="5614416" y="2514600"/>
            <a:ext cx="658368" cy="658368"/>
          </a:xfrm>
          <a:prstGeom prst="ellipse">
            <a:avLst/>
          </a:prstGeom>
          <a:solidFill>
            <a:srgbClr val="E39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0096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Strategy A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7–9</a:t>
            </a:r>
          </a:p>
        </p:txBody>
      </p:sp>
      <p:sp>
        <p:nvSpPr>
          <p:cNvPr id="20" name="Oval 19"/>
          <p:cNvSpPr/>
          <p:nvPr/>
        </p:nvSpPr>
        <p:spPr>
          <a:xfrm>
            <a:off x="6876288" y="2514600"/>
            <a:ext cx="658368" cy="658368"/>
          </a:xfrm>
          <a:prstGeom prst="ellipse">
            <a:avLst/>
          </a:prstGeom>
          <a:solidFill>
            <a:srgbClr val="E39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Strategy C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10–12</a:t>
            </a:r>
          </a:p>
        </p:txBody>
      </p:sp>
      <p:sp>
        <p:nvSpPr>
          <p:cNvPr id="23" name="Oval 22"/>
          <p:cNvSpPr/>
          <p:nvPr/>
        </p:nvSpPr>
        <p:spPr>
          <a:xfrm>
            <a:off x="8138159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39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39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13–14</a:t>
            </a:r>
          </a:p>
        </p:txBody>
      </p:sp>
      <p:sp>
        <p:nvSpPr>
          <p:cNvPr id="26" name="Oval 25"/>
          <p:cNvSpPr/>
          <p:nvPr/>
        </p:nvSpPr>
        <p:spPr>
          <a:xfrm>
            <a:off x="9400032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1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Combined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15</a:t>
            </a:r>
          </a:p>
        </p:txBody>
      </p:sp>
      <p:sp>
        <p:nvSpPr>
          <p:cNvPr id="29" name="Oval 28"/>
          <p:cNvSpPr/>
          <p:nvPr/>
        </p:nvSpPr>
        <p:spPr>
          <a:xfrm>
            <a:off x="10661903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7583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Conclusions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7583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16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92040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Reza Zamani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Motivation, questions and hypotheses; Strategy A (G10 FX) and its risk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892040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029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Paraj Goyal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41324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Data and methodology; Strategy C (crypto) and its risk; combined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14476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Proposed split · conclusions presented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Same economic mechanism, two very different markets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High-yield assets earn a premium over low-yield ones.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The premium is compensation for crash risk: when many investors hold the same trade, forced unwinding produces sudden losses (Brunnermeier, Nagel &amp; Pedersen 2008).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1B1F27"/>
                </a:solidFill>
                <a:latin typeface="Calibri"/>
              </a:rPr>
              <a:t>•  Hypothesis: crowding is measurable, and crowded carry should crash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39B17"/>
                </a:solidFill>
                <a:latin typeface="Calibri"/>
              </a:rPr>
              <a:t>C: Crypto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incl. LUNA, FTT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 rebalance, daily P&amp;L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Research questions and 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Stated before running any backtest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94960" cy="4526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4213D"/>
                </a:solidFill>
                <a:latin typeface="Calibri"/>
              </a:rPr>
              <a:t>Strategy A · G10 FX carry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2316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2316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G10 carry earn a premium after costs, and match the academic carry factor?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815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081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CFTC crowding predict weaker carry, and does cutting exposure help out of sample?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39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39896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Is carry exposed to volatility shocks and the dollar factor?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44398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Hypotheses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78231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positive carry premium (H0: zero)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weaker, more negatively skewed carry after crowded months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negative beta to volatility innovations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83080"/>
            <a:ext cx="5394960" cy="4526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7700C"/>
                </a:solidFill>
                <a:latin typeface="Calibri"/>
              </a:rPr>
              <a:t>Strategy C · crypto funding carry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42316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42316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short-high / long-low funding earn a premium after costs, from funding or price?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0815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081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What drives its losses, and does a pre-specified risk control help?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3739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739896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Are FX and crypto carry correlated; does combining them diversify?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444398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Hypotheses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478231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positive premium, mainly from funding (H0: zero)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little BTC beta; crashes when crowded positions unwind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All downloaded 2026-10-02; cleaned snapshot committed in data/clean/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8346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FX spot (7 currencies)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FRED, Fed H.10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1971–2026 (EUR from 1999)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returns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3-month interbank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JPY from 2002, CHF from 1999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carry signal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Speculative positioning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1986–2026 (NZD from 1999)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crowding (alt. data)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Prices, volume, funding (12 coins + USDC)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2020-01 to 2026-08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C: signal and returns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Carry factor portfolios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 (course file)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Validation, risk factors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3659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13248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history after matching the pre-2000 'International Monetary Market' contracts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473659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413248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the large coins (BTC 11.8%, ETH 13.9%, XRP 14.7%)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57200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736592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0.985–1.002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4132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USDC price range: sanity check that the crypto data are read correctly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Research design chosen to keep the tests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Pre-specified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All legs, windows, thresholds, lookbacks and costs fixed before the first backtest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In- vs out-of-sample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A: 1999–2010 / 2011–2026.  C: 2020–2023 / 2024–2026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Transaction costs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 bp per unit traded in FX, 5 bp in crypto; gross and net reported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look-ahead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Weights at t earn t+1; CFTC used after its Friday release; funding up to t−1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Survivorship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LUNA and FTT kept; a coin trades only with a price and positive volume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Robustness and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Grids reported, not used for tuning; A checked against the LRV carry factor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JPY, EUR, GBP, CHF, CAD, AUD, NZD vs USD, monthly, 1999–2026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month-end: long the 2 highest-rate currencies, short the 2 lowest. Equal weights, dollar-neutral, 3 bp costs.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 (alternative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CFTC net speculative position / open interest, 36-month z-score, used only after the Friday release.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Average z of the long leg minus average z of the short leg.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Crowding &gt; 1: cut positions to half. All parameters fixed before testing; out-of-sample from 2011.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positioning history (after fixing the pre-2000 CME exchange name)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247 with a crowding signal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pic>
        <p:nvPicPr>
          <p:cNvPr id="4" name="Picture 3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 either way: the 2008 crash began from a non-crowded reading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Our carry matches the academic carry factor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Strategy A vs Lustig–Roussanov–Verdelhan developed HML, net,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pic>
        <p:nvPicPr>
          <p:cNvPr id="5" name="Picture 4" descr="a_lr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76656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7830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947672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24328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correlation with LRV developed HML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3520440"/>
          <a:ext cx="3840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Net, 1999–2021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LRV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mean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vol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12 Binance USDT perpetuals, 2020–2026; USDC as a sanity check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Trailing 7-day average funding rate, data up to the day before.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Sunday: short the top third, long the bottom third by funding. Equal weights, dollar-neutral, 5 bp costs.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Side × price return − side × funding paid. A short receives positive funding.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survivorship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LUNA and FTT included; a coin trades only on days with a price and volume &gt; 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BTC, ETH, XRP, LTC, LINK: the crypto 'interest rate'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2022-11-14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FTT's last traded day; the archive shows a frozen price afterwards, which we exclude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Crypto carry: weak, then strong since 2024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4" name="Picture 3" descr="c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Full-sample net Sharpe (4.1% a year, 30% vol)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net Sharpe, 2024–2026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 (LUNA, May 2022): the strategy was long LUNA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Return decomposition and robustness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5" name="Picture 4" descr="c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77840" cy="366045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783080"/>
          <a:ext cx="53035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42900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Lookback × rebalance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OOS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weekly (base)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regressed on risk factors, Newey-West t-stats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9" name="Picture 18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A pre-specified risk control did not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Cap each coin at 1/6 of a leg; no longs with funding below −50% a year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5" name="Picture 4" descr="c_con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120640" cy="392582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783080"/>
          <a:ext cx="57607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554480"/>
                <a:gridCol w="155448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-0.16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out-of-sample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-67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-43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LUNA week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-27.3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-18.9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3703320"/>
            <a:ext cx="5760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cap mostly halves exposure (3–4 coins per leg).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LUNA's funding crossed −50% mid-week, after the Sunday rebalance.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filter blocked the biggest winners, BNB and SOL.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4213D"/>
                </a:solidFill>
                <a:latin typeface="Calibri"/>
              </a:rPr>
              <a:t>•  Lesson: deeply negative funding means crowded shorts, not distress.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5" name="Picture 4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2320" cy="39227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78308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94767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2432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3429000"/>
          <a:ext cx="36576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"/>
                <a:gridCol w="7315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 and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Short crypto history (2020–2026) and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Few crowded FX months (33);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results depend on lookback and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estimates; no funding-rate caps, borrow limits or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